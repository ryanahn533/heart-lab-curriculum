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94"/>
    <a:srgbClr val="F4D862"/>
    <a:srgbClr val="F9E79D"/>
    <a:srgbClr val="D2C8EE"/>
    <a:srgbClr val="BBD4EF"/>
    <a:srgbClr val="F0A2A8"/>
    <a:srgbClr val="90B8E4"/>
    <a:srgbClr val="A0C2E8"/>
    <a:srgbClr val="AE9CE0"/>
    <a:srgbClr val="FDF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2026-1학기 딥러닝실습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딥러닝 실습, 왜 하는 걸까?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5FF"/>
                </a:solidFill>
                <a:latin typeface="Noto Sans KR"/>
              </a:defRPr>
            </a:pPr>
            <a:r>
              <a:t>대학, 취업, 그리고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안준영  |  세종대학교 HEART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고등학교 vs 대학교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66666"/>
                </a:solidFill>
                <a:latin typeface="Noto Sans KR"/>
              </a:defRPr>
            </a:pPr>
            <a:r>
              <a:t>고등학교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  <a:r>
              <a:t>교복을 입는다</a:t>
            </a:r>
          </a:p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  <a:r>
              <a:t>선생님이 다 챙겨준다</a:t>
            </a:r>
          </a:p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  <a:r>
              <a:t>보호받는 공간</a:t>
            </a:r>
          </a:p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666666"/>
                </a:solidFill>
                <a:latin typeface="Noto Sans KR"/>
              </a:defRPr>
            </a:pPr>
            <a:r>
              <a:t>→ 미성년자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43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3B94"/>
                </a:solidFill>
                <a:latin typeface="Noto Sans K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5029200" cy="34747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13B94"/>
                </a:solidFill>
                <a:latin typeface="Noto Sans KR"/>
              </a:defRPr>
            </a:pPr>
            <a:r>
              <a:t>대학교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교복이 없다</a:t>
            </a:r>
          </a:p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스스로 해야 한다</a:t>
            </a:r>
          </a:p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보호가 없다</a:t>
            </a:r>
          </a:p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→ 성인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303520"/>
            <a:ext cx="7589520" cy="7315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394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대학교는 결국 취업을 준비하는 공간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그래서 이 수업을 왜 듣는가?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Noto Sans KR"/>
              </a:defRPr>
            </a:pPr>
            <a:r>
              <a:t>딥러닝 실습 — 코드를 돌리고, 프로젝트를 하고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66666"/>
                </a:solidFill>
                <a:latin typeface="Noto Sans KR"/>
              </a:defRPr>
            </a:pPr>
            <a:r>
              <a:t>학점?  재미?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128016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KR"/>
              </a:defRPr>
            </a:pPr>
            <a:r>
              <a:t>"나는 이걸 할 수 있습니다"를 증명하는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5FF"/>
                </a:solidFill>
                <a:latin typeface="Noto Sans KR"/>
              </a:defRPr>
            </a:pPr>
            <a:r>
              <a:t>이 수업의 프로젝트 = 취업 준비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인공지능 취업, 크게 두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32004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13B94"/>
                </a:solidFill>
                <a:latin typeface="Noto Sans KR"/>
              </a:defRPr>
            </a:pPr>
            <a:r>
              <a:t>기업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각 회사의 도메인이 다름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(반도체, 자동차, 의학, 금융, 로봇...)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도메인에 맞는 서비스(제품)를 만드는 사람</a:t>
            </a:r>
          </a:p>
        </p:txBody>
      </p:sp>
      <p:pic>
        <p:nvPicPr>
          <p:cNvPr id="10" name="Picture 9" descr="samsu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31920"/>
            <a:ext cx="812800" cy="457200"/>
          </a:xfrm>
          <a:prstGeom prst="rect">
            <a:avLst/>
          </a:prstGeom>
        </p:spPr>
      </p:pic>
      <p:pic>
        <p:nvPicPr>
          <p:cNvPr id="11" name="Picture 10" descr="kaka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840480"/>
            <a:ext cx="976264" cy="548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Noto Sans KR"/>
              </a:defRPr>
            </a:pPr>
            <a:r>
              <a:t>연구소 (연구원)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기업 연구소, 국책 연구소, 대학원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트렌드에 맞춰 기술 발전을 리드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논문, 특허, 기술 이전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  <a:latin typeface="Noto Sans KR"/>
              </a:defRPr>
            </a:pPr>
            <a:r>
              <a:t>연구소는 국책과제(정부 과제)로 운영</a:t>
            </a:r>
          </a:p>
        </p:txBody>
      </p:sp>
      <p:pic>
        <p:nvPicPr>
          <p:cNvPr id="15" name="Picture 14" descr="nvidi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840480"/>
            <a:ext cx="976393" cy="5486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371600" y="4846320"/>
            <a:ext cx="94183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공통:  AI로 문제를 풀 수 있는 사람이 필요하다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우리에게 중요한 능력은?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9144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서비스 = Question (문제)  →  "이 문제를 어떻게 풀 수 있는가?"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Noto Sans KR"/>
              </a:defRPr>
            </a:pPr>
            <a:r>
              <a:t>어떤 데이터로,  어떤 모델로,  어떤 기술로?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65176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ChatGPT, Claude</a:t>
            </a:r>
            <a:br/>
            <a:r>
              <a:t>대화형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108960"/>
            <a:ext cx="265176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자율적으로 일하는 AI</a:t>
            </a:r>
            <a:br/>
            <a:r>
              <a:t>도구 사용, 의사결정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108960"/>
            <a:ext cx="2651760" cy="2286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멀티모달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영상 + 음성 + 텍스트</a:t>
            </a:r>
            <a:br/>
            <a:r>
              <a:t>여러 데이터를 결합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3108960"/>
            <a:ext cx="2651760" cy="22860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Physical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로봇, 자율주행</a:t>
            </a:r>
            <a:br/>
            <a:r>
              <a:t>물리 세계의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이걸 조합해서 실제 서비스를 구현할 수 있는 능력 = 핵심 경쟁력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그런데 요즘 취업시장 현실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66160" cy="21945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53.5%→37.4%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SW 신입 채용 비중</a:t>
            </a:r>
            <a:br/>
            <a:r>
              <a:t>2년 만에 16.1%p 급감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566160" cy="21945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12.4%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2026년 전체 채용 중</a:t>
            </a:r>
            <a:br/>
            <a:r>
              <a:t>신입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566160" cy="21945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21만 1천 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ChatGPT 이후 3년간</a:t>
            </a:r>
            <a:br/>
            <a:r>
              <a:t>청년 일자리 증발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Noto Sans KR"/>
              </a:defRPr>
            </a:pPr>
            <a:r>
              <a:t>출처: 서울신문 2026.01 / ZDNet 2025.12 / 한국은행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206240"/>
            <a:ext cx="9418320" cy="146304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기업이 원하는 건:  바로 투입 가능한 사람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Noto Sans KR"/>
              </a:defRPr>
            </a:pPr>
            <a:r>
              <a:t>스펙이 아니라,  실제로 문제를 풀어본 경험이 있는 사람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바로 투입 가능한 사람 = Top-down 사고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3657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lon_mus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2743200" cy="15440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661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First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— Elon Musk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문제를 분자 단위로 분해한다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기존 방식을 의심, 근본부터 다시 생각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로켓 $65M → 원자재 = 2% → 10배 절감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212080" cy="36576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AI에서도 똑같다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103120"/>
            <a:ext cx="4389120" cy="347472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103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문제가 뭐지?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514600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5146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→ 데이터는?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926079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92607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→ 전처리는?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337560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337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  → 모델은?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749039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7490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    → 평가는?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이 사고가 바로 나오는 사람</a:t>
            </a:r>
            <a:br/>
            <a:r>
              <a:t>= 바로 투입 가능한 사람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303520"/>
            <a:ext cx="94183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349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Noto Sans KR"/>
              </a:defRPr>
            </a:pPr>
            <a:r>
              <a:t>연구를 위한 연구가 아니라, 문제를 정의하고 풀어내는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나는 취업하려고 이걸 만들었다 — K-MER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6858000" cy="292608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K-MER  |  차량 내 운전자 감정인식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Noto Sans KR"/>
              </a:defRPr>
            </a:pPr>
            <a:r>
              <a:t>산업부 수십억 규모 국책과제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카메라 + 음성 + 생체신호  →  운전자 감정 실시간 판단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연구를 위한 연구 X  →  실제 차량에 실증하는 기술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졸업할 때 "이거 만들었습니다" 포트폴리오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280160"/>
            <a:ext cx="3931920" cy="2926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idi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0"/>
            <a:ext cx="2194560" cy="12331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2011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6B7FE"/>
                </a:solidFill>
                <a:latin typeface="Noto Sans KR"/>
              </a:defRPr>
            </a:pPr>
            <a:r>
              <a:t>On-Device AI  |  Jetson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603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KR"/>
              </a:defRPr>
            </a:pPr>
            <a:r>
              <a:t>DL 모델을 엣지 디바이스에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KR"/>
              </a:defRPr>
            </a:pPr>
            <a:r>
              <a:t>최적화하여 배포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KR"/>
              </a:defRPr>
            </a:pPr>
            <a:r>
              <a:t>Cloud 없이 실시간 추론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KR"/>
              </a:defRPr>
            </a:pPr>
            <a:r>
              <a:t>(저지연 + 개인정보 보호)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KR"/>
              </a:defRPr>
            </a:pPr>
            <a:r>
              <a:t>멀티모달 경량화 → 임베디드 동작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11064240" cy="1645920"/>
          </a:xfrm>
          <a:prstGeom prst="round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110642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Noto Sans KR"/>
              </a:defRPr>
            </a:pPr>
            <a:r>
              <a:t>[ K-MER 시연 영상 삽입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→ 여기에 영상 또는 스크린샷을 넣으세요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이걸 어디서 만들었냐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46304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HEART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Noto Sans KR"/>
              </a:defRPr>
            </a:pPr>
            <a:r>
              <a:t>Human Emotion  and  Intelligent Agent  Research  for  Future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사람의 감정  +  지능형 에이전트  +  미래 기술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이 분야가 취업이 되는 이유 — 우리 말을 NVIDIA가 반증한다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3566160" cy="219456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NVIDIA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감정 인식 연구를 직접 수행</a:t>
            </a:r>
            <a:br/>
            <a:r>
              <a:t>GTC에서 Emotion AI 다룸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566160"/>
            <a:ext cx="3566160" cy="21945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657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Affectiva (Smart Eye)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976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감정 AI 글로벌 1위</a:t>
            </a:r>
            <a:br/>
            <a:r>
              <a:t>차량 감정인식 이미 상용화</a:t>
            </a:r>
            <a:br/>
            <a:r>
              <a:t>$73.5M 인수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566160"/>
            <a:ext cx="3566160" cy="219456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657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Top Conference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감정 인식 논문이</a:t>
            </a:r>
            <a:br/>
            <a:r>
              <a:t>CVPR, AAAI 등에서</a:t>
            </a:r>
            <a:br/>
            <a:r>
              <a:t>가장 활발한 주제</a:t>
            </a:r>
          </a:p>
        </p:txBody>
      </p:sp>
      <p:pic>
        <p:nvPicPr>
          <p:cNvPr id="21" name="Picture 20" descr="nvidi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5212080"/>
            <a:ext cx="813661" cy="457200"/>
          </a:xfrm>
          <a:prstGeom prst="rect">
            <a:avLst/>
          </a:prstGeom>
        </p:spPr>
      </p:pic>
      <p:pic>
        <p:nvPicPr>
          <p:cNvPr id="22" name="Picture 21" descr="affectiv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029200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이 트렌드 위에 있는 사람이 취업이 되는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이 능력을 어떻게 키우냐?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카카오 AI 부트캠프, 비트캠프 경험 → 취업 목적 교육은 구조가 다르다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그 경험을 바탕으로 교수님과 함께 HEART Lab 교육 커리큘럼을 개선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566160" cy="2926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문제 해결 사고 훈련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"이 문제 어떻게 풀래?"</a:t>
            </a:r>
            <a:br/>
            <a:r>
              <a:t>가 바로 떠오를 때까지</a:t>
            </a:r>
            <a:br/>
            <a:r>
              <a:t>반복 훈련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3566160" cy="2926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2단계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모델을 도구로 쓰는 능력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"YOLO 써봤습니다" X</a:t>
            </a:r>
            <a:br/>
            <a:r>
              <a:t>"이 문제에 왜 YOLO인지"</a:t>
            </a:r>
            <a:br/>
            <a:r>
              <a:t>설명할 수 있는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560320"/>
            <a:ext cx="3566160" cy="292608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서비스를 만드는 능력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챗봇 웹사이트</a:t>
            </a:r>
            <a:br/>
            <a:r>
              <a:t>실시간 객체 탐지</a:t>
            </a:r>
            <a:br/>
            <a:r>
              <a:t>12주면 혼자 구현 가능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760720"/>
            <a:ext cx="850392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760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목표:  문제를 던지면 해결할 수 있는 AI 개발자  |  부트캠프 6개월 → 12주 압축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HEART Lab + 학석사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11887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1년을 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학부 4년 + 석사 2년 = 6년   →   학석사 = 5년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5303520" cy="16459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돈 받으면서 다닌다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학석사:  월 130만원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석사 과정:  월 230만원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지원금 최대 지급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5303520" cy="11887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바로 취업 = 신입  →  학석사 = 주니어급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시간 낭비가 아니라 가장 효율적인 투자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13B94"/>
                </a:solidFill>
                <a:latin typeface="Noto Sans KR"/>
              </a:defRPr>
            </a:pPr>
            <a:r>
              <a:t>궁금하면?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860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13B94"/>
                </a:solidFill>
                <a:latin typeface="Noto Sans KR"/>
              </a:defRPr>
            </a:pPr>
            <a:r>
              <a:t>연구실 견학 한번 와보세요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  <a:r>
              <a:t>실제로 뭘 하는지 보면 감이 옵니다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013B94"/>
                </a:solidFill>
                <a:latin typeface="Noto Sans KR"/>
              </a:defRPr>
            </a:pPr>
            <a:r>
              <a:t>학부연구생으로 한 학기 해보고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  <a:r>
              <a:t>결정해도 됩니다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  <a:r>
              <a:t>(연락처 / QR코드)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KR"/>
              </a:defRPr>
            </a:pPr>
            <a:r>
              <a:t>문제를 던지면 해결할 수 있는 사람이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살아남는다.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31920" cy="27432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6B7FE"/>
                </a:solidFill>
                <a:latin typeface="Noto Sans KR"/>
              </a:defRPr>
            </a:pPr>
            <a:r>
              <a:t>HEART Lab  |  세종대학교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77AA"/>
                </a:solidFill>
                <a:latin typeface="Noto Sans KR"/>
              </a:defRPr>
            </a:pPr>
            <a:r>
              <a:t>Human Emotion and Intelligent Agent Research for Future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6699"/>
                </a:solidFill>
                <a:latin typeface="Noto Sans KR"/>
              </a:defRPr>
            </a:pPr>
            <a:r>
              <a:t>github.com/RyanAhn533/HEART-Lab-Curriculum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3290</Words>
  <Application>Microsoft Office PowerPoint</Application>
  <PresentationFormat>와이드스크린</PresentationFormat>
  <Paragraphs>675</Paragraphs>
  <Slides>32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Arial</vt:lpstr>
      <vt:lpstr>Calibri</vt:lpstr>
      <vt:lpstr>Noto Sans KR</vt:lpstr>
      <vt:lpstr>Wingdings</vt:lpstr>
      <vt:lpstr>맑은 고딕</vt:lpstr>
      <vt:lpstr>Office 테마</vt:lpstr>
      <vt:lpstr>PowerPoint 프레젠테이션</vt:lpstr>
      <vt:lpstr>PowerPoint 프레젠테이션</vt:lpstr>
      <vt:lpstr>1. 오디오 딥러닝 구현</vt:lpstr>
      <vt:lpstr>1. 오디오 딥러닝 구현</vt:lpstr>
      <vt:lpstr>1. 오디오 딥러닝 구현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– 데이터 전처리</vt:lpstr>
      <vt:lpstr>2. 코드 기반 실습 및 응용 – 데이터 전처리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학습 및 평가 </vt:lpstr>
      <vt:lpstr>2. 코드 기반 실습 및 응용 - 학습 및 평가 </vt:lpstr>
      <vt:lpstr>2. 코드 기반 실습 및 응용 - 학습 및 평가 </vt:lpstr>
      <vt:lpstr>3. Homework</vt:lpstr>
      <vt:lpstr>3. Homework</vt:lpstr>
      <vt:lpstr>3. Homework</vt:lpstr>
      <vt:lpstr>VSCode에서 작업 폴더 열기와 파일 생성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고봉균</cp:lastModifiedBy>
  <cp:revision>1305</cp:revision>
  <dcterms:created xsi:type="dcterms:W3CDTF">2025-07-29T08:28:03Z</dcterms:created>
  <dcterms:modified xsi:type="dcterms:W3CDTF">2026-03-18T04:10:04Z</dcterms:modified>
</cp:coreProperties>
</file>