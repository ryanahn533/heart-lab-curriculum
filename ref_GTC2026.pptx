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5174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6B900"/>
                </a:solidFill>
              </a:rPr>
              <a:t>NVIDIA GTC 2026 </a:t>
            </a:r>
            <a:r>
              <a:rPr lang="en-US" sz="2000" b="1" dirty="0">
                <a:solidFill>
                  <a:srgbClr val="FFFFFF"/>
                </a:solidFill>
              </a:rPr>
              <a:t>×  Affective Care Drive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Frustration 기반 운전자 감정 인식 및 안전 운전 지원 시스템 — NVIDIA Edge AI 플랫폼 매핑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B4D8"/>
                </a:solidFill>
              </a:rPr>
              <a:t>MULTIMODAL SENSING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143000" cy="658368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5240">
            <a:solidFill>
              <a:srgbClr val="00B4D8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875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Face / Gaze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</a:rPr>
              <a:t>표정·시선 분석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645920" y="914400"/>
            <a:ext cx="1143000" cy="658368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5240">
            <a:solidFill>
              <a:srgbClr val="00B4D8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0" y="9875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Voice / Audio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12344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</a:rPr>
              <a:t>음성 감정 분석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926080" y="914400"/>
            <a:ext cx="1143000" cy="658368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5240">
            <a:solidFill>
              <a:srgbClr val="00B4D8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26080" y="9875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Bio Signals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0" y="12344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</a:rPr>
              <a:t>ECG·EDA·BVP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206240" y="914400"/>
            <a:ext cx="1143000" cy="658368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5240">
            <a:solidFill>
              <a:srgbClr val="00B4D8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06240" y="9875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CAN / Driving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06240" y="12344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</a:rPr>
              <a:t>운전 행동 데이터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440680" y="914400"/>
            <a:ext cx="3337560" cy="658368"/>
          </a:xfrm>
          <a:prstGeom prst="roundRect">
            <a:avLst>
              <a:gd name="adj" fmla="val 8333"/>
            </a:avLst>
          </a:prstGeom>
          <a:solidFill>
            <a:srgbClr val="1A2332"/>
          </a:solidFill>
          <a:ln w="15240">
            <a:solidFill>
              <a:srgbClr val="76B90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550408" y="9692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6B900"/>
                </a:solidFill>
              </a:rPr>
              <a:t>NVIDIA Holoscan</a:t>
            </a:r>
            <a:r>
              <a:rPr lang="en-US" sz="900" dirty="0">
                <a:solidFill>
                  <a:srgbClr val="C9D1D9"/>
                </a:solidFill>
              </a:rPr>
              <a:t> Sensor Bridge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50408" y="1188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실시간 멀티센서 스트리밍 → GPU 직접 전송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RDMA 기반 초저지연 센서 데이터 파이프라인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928116" y="1627632"/>
            <a:ext cx="0" cy="22860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964" y="17647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0363D"/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208276" y="1627632"/>
            <a:ext cx="0" cy="22860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35124" y="17647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0363D"/>
                </a:solidFill>
              </a:rPr>
              <a:t>▼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488436" y="1627632"/>
            <a:ext cx="0" cy="22860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5284" y="17647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0363D"/>
                </a:solidFill>
              </a:rPr>
              <a:t>▼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768596" y="1627632"/>
            <a:ext cx="0" cy="22860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5444" y="17647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0363D"/>
                </a:solidFill>
              </a:rPr>
              <a:t>▼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65760" y="196596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9050">
            <a:solidFill>
              <a:srgbClr val="8B5CF6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20208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</a:rPr>
              <a:t>AI PROCESSING PIPELINE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2920" y="2286000"/>
            <a:ext cx="1188720" cy="658368"/>
          </a:xfrm>
          <a:prstGeom prst="roundRect">
            <a:avLst>
              <a:gd name="adj" fmla="val 6944"/>
            </a:avLst>
          </a:prstGeom>
          <a:solidFill>
            <a:srgbClr val="1E1535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3134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Frustration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Detection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26791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B949E"/>
                </a:solidFill>
              </a:rPr>
              <a:t>좌절 수준 추정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1828800" y="2286000"/>
            <a:ext cx="1188720" cy="658368"/>
          </a:xfrm>
          <a:prstGeom prst="roundRect">
            <a:avLst>
              <a:gd name="adj" fmla="val 6944"/>
            </a:avLst>
          </a:prstGeom>
          <a:solidFill>
            <a:srgbClr val="1E1535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0" y="23134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Emotion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Transition Model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828800" y="26791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B949E"/>
                </a:solidFill>
              </a:rPr>
              <a:t>감정 전이 모델링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154680" y="2286000"/>
            <a:ext cx="1188720" cy="658368"/>
          </a:xfrm>
          <a:prstGeom prst="roundRect">
            <a:avLst>
              <a:gd name="adj" fmla="val 6944"/>
            </a:avLst>
          </a:prstGeom>
          <a:solidFill>
            <a:srgbClr val="1E1535"/>
          </a:solidFill>
          <a:ln w="10160">
            <a:solidFill>
              <a:srgbClr val="E639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54680" y="23134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Driver Risk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Index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154680" y="26791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B949E"/>
                </a:solidFill>
              </a:rPr>
              <a:t>위험도 정량 산출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691640" y="2441448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0363D"/>
                </a:solidFill>
              </a:rPr>
              <a:t>→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017520" y="2441448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0363D"/>
                </a:solidFill>
              </a:rPr>
              <a:t>→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" y="29718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B949E"/>
                </a:solidFill>
              </a:rPr>
              <a:t>Transformer / TCN + Cross-Attention + Multi-task Learning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5440680" y="196596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1A2332"/>
          </a:solidFill>
          <a:ln w="15240">
            <a:solidFill>
              <a:srgbClr val="76B900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5550408" y="202082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6B900"/>
                </a:solidFill>
              </a:rPr>
              <a:t>NVIDIA IGX Thor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50408" y="220370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D1D9"/>
                </a:solidFill>
              </a:rPr>
              <a:t>Edge AI Inference Platform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550408" y="2386584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B949E"/>
                </a:solidFill>
              </a:rPr>
              <a:t>▸ Blackwell GPU  ·  5,581 FP4 TFLOPS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5550408" y="2514600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B949E"/>
                </a:solidFill>
              </a:rPr>
              <a:t>▸ ISO 26262 ASIL-D Functional Safety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5550408" y="2642616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B949E"/>
                </a:solidFill>
              </a:rPr>
              <a:t>▸ Functional Safety Island (FSI)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5550408" y="2770632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B949E"/>
                </a:solidFill>
              </a:rPr>
              <a:t>▸ 10-year lifecycle enterprise support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5550408" y="2926080"/>
            <a:ext cx="3108960" cy="201168"/>
          </a:xfrm>
          <a:prstGeom prst="roundRect">
            <a:avLst>
              <a:gd name="adj" fmla="val 18182"/>
            </a:avLst>
          </a:prstGeom>
          <a:solidFill>
            <a:srgbClr val="243B25"/>
          </a:solidFill>
          <a:ln/>
        </p:spPr>
      </p:sp>
      <p:sp>
        <p:nvSpPr>
          <p:cNvPr id="50" name="Text 48"/>
          <p:cNvSpPr/>
          <p:nvPr/>
        </p:nvSpPr>
        <p:spPr>
          <a:xfrm>
            <a:off x="5550408" y="29260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3D139"/>
                </a:solidFill>
              </a:rPr>
              <a:t>NIM · Metropolis · Holoscan · AI Enterprise · Halos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2779776" y="3255264"/>
            <a:ext cx="0" cy="22860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06624" y="33649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0363D"/>
                </a:solidFill>
              </a:rPr>
              <a:t>▼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65760" y="33192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B703"/>
                </a:solidFill>
              </a:rPr>
              <a:t>HMI INTERVENTION (3-Stage Nudge Ladder)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5760" y="352044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 w="1524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365760" y="35753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Level 1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Gentle Nudge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65760" y="39227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9D1D9"/>
                </a:solidFill>
              </a:rPr>
              <a:t>음성 안내 · 환경 조명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2057400" y="352044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6B4226"/>
          </a:solidFill>
          <a:ln w="15240">
            <a:solidFill>
              <a:srgbClr val="FFB703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2057400" y="35753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Level 2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Active Care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057400" y="39227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9D1D9"/>
                </a:solidFill>
              </a:rPr>
              <a:t>음악 추천 · 공조 제어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3749040" y="352044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6B1A1A"/>
          </a:solidFill>
          <a:ln w="15240">
            <a:solidFill>
              <a:srgbClr val="E63946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3749040" y="35753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Level 3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Safety Alert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749040" y="39227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9D1D9"/>
                </a:solidFill>
              </a:rPr>
              <a:t>경고 · 휴식 권고 · 제어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1901952" y="3703320"/>
            <a:ext cx="173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0363D"/>
                </a:solidFill>
              </a:rPr>
              <a:t>→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593592" y="3703320"/>
            <a:ext cx="173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0363D"/>
                </a:solidFill>
              </a:rPr>
              <a:t>→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440680" y="3520440"/>
            <a:ext cx="3337560" cy="6858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5240">
            <a:solidFill>
              <a:srgbClr val="76B900"/>
            </a:solidFill>
            <a:prstDash val="dash"/>
          </a:ln>
        </p:spPr>
      </p:sp>
      <p:sp>
        <p:nvSpPr>
          <p:cNvPr id="66" name="Text 64"/>
          <p:cNvSpPr/>
          <p:nvPr/>
        </p:nvSpPr>
        <p:spPr>
          <a:xfrm>
            <a:off x="5550408" y="357530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6B900"/>
                </a:solidFill>
              </a:rPr>
              <a:t>NVIDIA Halos</a:t>
            </a:r>
            <a:r>
              <a:rPr lang="en-US" sz="900" dirty="0">
                <a:solidFill>
                  <a:srgbClr val="C9D1D9"/>
                </a:solidFill>
              </a:rPr>
              <a:t> Safety System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550408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차량 기능 안전 통합 프레임워크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Inside-out / Outside-in Safety Agents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365760" y="45262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0363D"/>
                </a:solidFill>
              </a:rPr>
              <a:t>HEART Lab  ·  Sejong University  ·  Affective Care Drive  ·  현대자동차 미래기술공모과제  ·  GTC 2026 (March 16–19, San Jose)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5394080" y="937260"/>
            <a:ext cx="0" cy="3268980"/>
          </a:xfrm>
          <a:prstGeom prst="line">
            <a:avLst/>
          </a:prstGeom>
          <a:noFill/>
          <a:ln w="12700">
            <a:solidFill>
              <a:srgbClr val="76B900"/>
            </a:solidFill>
            <a:prstDash val="lgDash"/>
          </a:ln>
        </p:spPr>
      </p:sp>
      <p:sp>
        <p:nvSpPr>
          <p:cNvPr id="70" name="Text 68"/>
          <p:cNvSpPr/>
          <p:nvPr/>
        </p:nvSpPr>
        <p:spPr>
          <a:xfrm>
            <a:off x="478231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76B900"/>
                </a:solidFill>
              </a:rPr>
              <a:t>N V I D I A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76B900"/>
                </a:solidFill>
              </a:rPr>
              <a:t>Platform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Microsoft Office PowerPoint</Application>
  <PresentationFormat>화면 슬라이드 쇼(16:9)</PresentationFormat>
  <Paragraphs>58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GTC 2026 × Affective Care Drive System Architecture</dc:title>
  <dc:subject>PptxGenJS Presentation</dc:subject>
  <dc:creator>HEART Lab - Sejong University</dc:creator>
  <cp:lastModifiedBy>user</cp:lastModifiedBy>
  <cp:revision>2</cp:revision>
  <dcterms:created xsi:type="dcterms:W3CDTF">2026-03-19T00:54:35Z</dcterms:created>
  <dcterms:modified xsi:type="dcterms:W3CDTF">2026-03-19T00:59:01Z</dcterms:modified>
</cp:coreProperties>
</file>