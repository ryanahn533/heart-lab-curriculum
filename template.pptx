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34"/>
  </p:notesMasterIdLst>
  <p:sldIdLst>
    <p:sldId id="256" r:id="rId2"/>
    <p:sldId id="1247" r:id="rId3"/>
    <p:sldId id="1310" r:id="rId4"/>
    <p:sldId id="1407" r:id="rId5"/>
    <p:sldId id="1430" r:id="rId6"/>
    <p:sldId id="1360" r:id="rId7"/>
    <p:sldId id="1433" r:id="rId8"/>
    <p:sldId id="1432" r:id="rId9"/>
    <p:sldId id="1362" r:id="rId10"/>
    <p:sldId id="1364" r:id="rId11"/>
    <p:sldId id="1414" r:id="rId12"/>
    <p:sldId id="1428" r:id="rId13"/>
    <p:sldId id="1438" r:id="rId14"/>
    <p:sldId id="1418" r:id="rId15"/>
    <p:sldId id="1367" r:id="rId16"/>
    <p:sldId id="1416" r:id="rId17"/>
    <p:sldId id="1379" r:id="rId18"/>
    <p:sldId id="1435" r:id="rId19"/>
    <p:sldId id="1366" r:id="rId20"/>
    <p:sldId id="1434" r:id="rId21"/>
    <p:sldId id="1368" r:id="rId22"/>
    <p:sldId id="1436" r:id="rId23"/>
    <p:sldId id="1426" r:id="rId24"/>
    <p:sldId id="1437" r:id="rId25"/>
    <p:sldId id="1420" r:id="rId26"/>
    <p:sldId id="1369" r:id="rId27"/>
    <p:sldId id="1427" r:id="rId28"/>
    <p:sldId id="1424" r:id="rId29"/>
    <p:sldId id="1425" r:id="rId30"/>
    <p:sldId id="1419" r:id="rId31"/>
    <p:sldId id="1422" r:id="rId32"/>
    <p:sldId id="262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B94"/>
    <a:srgbClr val="F4D862"/>
    <a:srgbClr val="F9E79D"/>
    <a:srgbClr val="D2C8EE"/>
    <a:srgbClr val="BBD4EF"/>
    <a:srgbClr val="F0A2A8"/>
    <a:srgbClr val="90B8E4"/>
    <a:srgbClr val="A0C2E8"/>
    <a:srgbClr val="AE9CE0"/>
    <a:srgbClr val="FDF7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5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C6C57-A6D6-4DE1-9466-2D69169593DE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21BE2-FB9D-45E9-8320-BE51746B0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73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3F52A4-4167-BE6C-0C34-FBFE1AF2522D}"/>
              </a:ext>
            </a:extLst>
          </p:cNvPr>
          <p:cNvSpPr/>
          <p:nvPr userDrawn="1"/>
        </p:nvSpPr>
        <p:spPr>
          <a:xfrm>
            <a:off x="0" y="0"/>
            <a:ext cx="12192000" cy="818804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948175-77A1-04C6-D1FD-F48619C880D6}"/>
              </a:ext>
            </a:extLst>
          </p:cNvPr>
          <p:cNvSpPr/>
          <p:nvPr userDrawn="1"/>
        </p:nvSpPr>
        <p:spPr>
          <a:xfrm>
            <a:off x="0" y="773085"/>
            <a:ext cx="12192000" cy="45719"/>
          </a:xfrm>
          <a:prstGeom prst="rect">
            <a:avLst/>
          </a:prstGeom>
          <a:solidFill>
            <a:srgbClr val="0042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103F0D4-40E7-1246-3E3D-783D4633D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136342"/>
            <a:ext cx="11353800" cy="5305586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0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defRPr sz="1600"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>
              <a:defRPr sz="1400"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 sz="1800" b="1"/>
            </a:lvl1pPr>
          </a:lstStyle>
          <a:p>
            <a:fld id="{2D073BAB-F947-4405-BF35-5CE8AFC7B1D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2609C4A-6649-54C7-258F-2DC633C7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>
            <a:lvl1pPr>
              <a:defRPr sz="2800" b="1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A7C4AD4-F5ED-0AAC-1A1E-C9AF1C0A33F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9E69938-5676-E435-A658-4C406829F560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21" name="Picture 6">
              <a:extLst>
                <a:ext uri="{FF2B5EF4-FFF2-40B4-BE49-F238E27FC236}">
                  <a16:creationId xmlns:a16="http://schemas.microsoft.com/office/drawing/2014/main" id="{680A0C3F-4CFE-71AC-AF77-E7C60C440D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8097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2AD7C-D5CC-DEDC-1E74-880CABFD3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8C3CAA-0AAB-4106-A42E-66B41FEFD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F3899-C826-B199-4093-C2E82AFA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7B4072-FD41-EBC2-EF25-C9A86B86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C72C32-A0E2-28CF-D3EF-28F4E5A89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27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AD1F0-8939-BA3A-34A9-34955487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E9E97-6B6D-36A1-B8E5-87F5CB46C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85327-6A8B-7398-1545-78C96F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2767B7-4D3E-6CBB-8833-D589BFAF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05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A2876-06A8-43D3-9AB3-1FA1E1362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A10778-0F73-94D7-A6FC-2526EE39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F6B77C-C40E-6BBF-A188-8859E8A9B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249E6-A4B6-56AE-2F87-210C997F7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A41139-FAD5-C8E2-590F-2C34428C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879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5C0CF-570B-FAD4-6DDC-161414AB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7B021-E3A7-88AD-F2C4-E8F9A7743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9FB538-5B2E-915D-F292-9C3A7D6E5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85514-70A8-EE8D-D38A-25A090F9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A39419-7469-B93B-A530-6423CC2F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F88CF6-26A3-8ABE-B37E-3DD66202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9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F985A-752C-5533-78F0-2966D339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813A11-8624-9483-86CA-BDDB35145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7E0471-E237-8490-D749-D52F62A45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9FCB37-A237-2625-5013-D40ACB911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16E00D-4019-12FB-DCC5-30B9C95B0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DE5F86-046A-E54B-62FF-7784A6D6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237855-DF4D-2403-6322-04F38F0F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7A5A9-FEA3-B117-6153-4C30C079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57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7B565-AEEB-3A72-3CCF-31F7507A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D5FB16-844E-59CC-9D90-4B6D0EA7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1B32D9-EDA5-9A90-ED4B-C4541648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E1CB97-DADF-76D0-ED98-76F232B8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4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8EA502-A711-62E3-ECD2-AE9BA378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9969E2-F331-BBBF-92B5-73468F1C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AFE645-14D3-DF75-EE27-1DC53701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901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8AC59-1580-F3AF-D5C4-24575B24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496DA0-621E-7368-C54A-C08F4757B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2553C9-98FE-B6B9-A86F-A359B92D4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51FA90-5889-FC3B-587E-892E9B7A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8D7A89-78DE-EF34-D013-91D88C41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53FAEA-788E-13FD-BBF4-AE84A8B4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597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74901-D00D-E8C4-FD77-FA7896FA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DBA276-C3B8-54D3-5607-7069F9D9B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2D4F79-D0C9-AEEF-7604-8C828B1E9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F3861-148A-3BEE-6A70-EECEC1A3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87C410-A446-6F41-7902-2084E4FC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8B4C10-61CA-E84F-FB62-64795544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204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07BB7-AA90-7550-2DEC-25CB5278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E4F7F4-6378-1F8C-3DFE-D36DABCEF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49C5C2-4072-ED4D-D21C-5E74D6B5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FF3088-5582-1690-94AF-BA59ED39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BB330-ADA6-5F3C-1EE9-C86F9516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305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745AD7-0275-1507-264B-EB4EA470B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F84FA7-C90C-1974-88BA-253DB43D0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8AC28D-616D-1CBB-D765-3C203E4E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78735-343F-19AA-29B4-5D670C0E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BBB36F-0F42-5531-EB11-095C3E5D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80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0A365E-AC0E-4D2E-8CDF-506843DA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9E58F7-B9A7-195D-E63B-F2956E401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BCCAD-67CA-F2C4-93B2-09344CC8F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FB35E7-2609-0BF1-3A65-F13305A57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1FF3D9-5BBD-E7B8-2B94-93F5667FC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DE6838D-7298-0263-413F-B9986AA0E29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06ED09-7217-57E5-5A7C-320B4359B648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2" name="Picture 6">
              <a:extLst>
                <a:ext uri="{FF2B5EF4-FFF2-40B4-BE49-F238E27FC236}">
                  <a16:creationId xmlns:a16="http://schemas.microsoft.com/office/drawing/2014/main" id="{40FC96E2-F531-A2ED-3BD5-F90CA88113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0461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C8B4BD2-319E-33FF-FB96-E68311CF8B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86B7F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82D914-FE61-0E6C-D4D7-28E22FEB55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624699"/>
            <a:ext cx="12192000" cy="233302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27041A-EBC8-428C-307D-C79330D85C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12" y="235856"/>
            <a:ext cx="1422006" cy="490592"/>
          </a:xfrm>
          <a:prstGeom prst="rect">
            <a:avLst/>
          </a:prstGeom>
        </p:spPr>
      </p:pic>
      <p:pic>
        <p:nvPicPr>
          <p:cNvPr id="11" name="그림 10" descr="사람, 예술이(가) 표시된 사진&#10;&#10;자동 생성된 설명">
            <a:extLst>
              <a:ext uri="{FF2B5EF4-FFF2-40B4-BE49-F238E27FC236}">
                <a16:creationId xmlns:a16="http://schemas.microsoft.com/office/drawing/2014/main" id="{E5236A04-D43A-89D6-F605-2D95852F28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526" y="1569901"/>
            <a:ext cx="6889474" cy="4340369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F9123AB-80D3-0182-AB4D-773BB4638EF0}"/>
              </a:ext>
            </a:extLst>
          </p:cNvPr>
          <p:cNvCxnSpPr>
            <a:cxnSpLocks/>
          </p:cNvCxnSpPr>
          <p:nvPr/>
        </p:nvCxnSpPr>
        <p:spPr>
          <a:xfrm>
            <a:off x="298336" y="5195841"/>
            <a:ext cx="11609152" cy="0"/>
          </a:xfrm>
          <a:prstGeom prst="line">
            <a:avLst/>
          </a:prstGeom>
          <a:ln w="12700" cap="rnd">
            <a:solidFill>
              <a:srgbClr val="013B94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5B50132-E71E-F313-EBEE-3610119FF86B}"/>
              </a:ext>
            </a:extLst>
          </p:cNvPr>
          <p:cNvSpPr txBox="1"/>
          <p:nvPr/>
        </p:nvSpPr>
        <p:spPr>
          <a:xfrm>
            <a:off x="284512" y="1936321"/>
            <a:ext cx="9455327" cy="28007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400" b="1" spc="-1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2026-1</a:t>
            </a:r>
            <a:r>
              <a:rPr lang="ko-KR" altLang="en-US" sz="4400" b="1" spc="-1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학기</a:t>
            </a:r>
            <a:endParaRPr lang="en-US" altLang="ko-KR" sz="4400" b="1" spc="-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딥러닝실습</a:t>
            </a:r>
            <a:endParaRPr lang="en-US" altLang="ko-KR" sz="4400" b="1" spc="-15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3-1</a:t>
            </a:r>
            <a:r>
              <a:rPr lang="ko-KR" altLang="en-US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차시</a:t>
            </a:r>
            <a:endParaRPr lang="en-US" altLang="ko-KR" sz="4400" b="1" spc="-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4400" b="1" spc="-1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AUDIO </a:t>
            </a:r>
            <a:r>
              <a:rPr lang="en-US" altLang="ko-KR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– 2</a:t>
            </a:r>
            <a:r>
              <a:rPr lang="ko-KR" altLang="en-US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차시</a:t>
            </a:r>
            <a:endParaRPr lang="en-US" altLang="ko-KR" sz="4400" b="1" spc="-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8163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30576A7-81F2-7E56-5991-23771CC8C6C0}"/>
              </a:ext>
            </a:extLst>
          </p:cNvPr>
          <p:cNvSpPr>
            <a:spLocks/>
          </p:cNvSpPr>
          <p:nvPr/>
        </p:nvSpPr>
        <p:spPr>
          <a:xfrm>
            <a:off x="2" y="1"/>
            <a:ext cx="12191998" cy="6857999"/>
          </a:xfrm>
          <a:prstGeom prst="rect">
            <a:avLst/>
          </a:prstGeom>
          <a:solidFill>
            <a:srgbClr val="86B7F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C01242-0049-D4BB-FCEC-6F6513A732D4}"/>
              </a:ext>
            </a:extLst>
          </p:cNvPr>
          <p:cNvSpPr txBox="1"/>
          <p:nvPr/>
        </p:nvSpPr>
        <p:spPr>
          <a:xfrm>
            <a:off x="1357529" y="505123"/>
            <a:ext cx="2242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975" algn="l"/>
              </a:tabLst>
            </a:pPr>
            <a:r>
              <a:rPr lang="en-US" altLang="ko-KR" sz="3600" b="1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ontents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B878CB-62AB-8F23-411A-4D0522C8F521}"/>
              </a:ext>
            </a:extLst>
          </p:cNvPr>
          <p:cNvSpPr txBox="1"/>
          <p:nvPr/>
        </p:nvSpPr>
        <p:spPr>
          <a:xfrm>
            <a:off x="6395165" y="2030378"/>
            <a:ext cx="5088093" cy="27972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01. 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오디오 딥러닝 구현</a:t>
            </a:r>
            <a:endParaRPr lang="en-US" altLang="ko-KR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02. 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코드 기반 실습 및 응용</a:t>
            </a:r>
            <a:endParaRPr lang="en-US" altLang="ko-KR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Homework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49934E-632A-9258-CE0C-AE77566B07EE}"/>
              </a:ext>
            </a:extLst>
          </p:cNvPr>
          <p:cNvSpPr/>
          <p:nvPr/>
        </p:nvSpPr>
        <p:spPr>
          <a:xfrm>
            <a:off x="0" y="0"/>
            <a:ext cx="1057275" cy="6858001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06A41A9-22A0-70BA-26D2-20C594482164}"/>
              </a:ext>
            </a:extLst>
          </p:cNvPr>
          <p:cNvCxnSpPr>
            <a:cxnSpLocks/>
          </p:cNvCxnSpPr>
          <p:nvPr/>
        </p:nvCxnSpPr>
        <p:spPr>
          <a:xfrm>
            <a:off x="4848225" y="352425"/>
            <a:ext cx="0" cy="6162675"/>
          </a:xfrm>
          <a:prstGeom prst="line">
            <a:avLst/>
          </a:prstGeom>
          <a:ln w="12700" cap="rnd">
            <a:solidFill>
              <a:srgbClr val="013B94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그림 1" descr="사람, 예술이(가) 표시된 사진&#10;&#10;자동 생성된 설명">
            <a:extLst>
              <a:ext uri="{FF2B5EF4-FFF2-40B4-BE49-F238E27FC236}">
                <a16:creationId xmlns:a16="http://schemas.microsoft.com/office/drawing/2014/main" id="{314B1B04-FD88-4959-3418-63BC4BD68485}"/>
              </a:ext>
            </a:extLst>
          </p:cNvPr>
          <p:cNvPicPr/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44" y="1360745"/>
            <a:ext cx="5560879" cy="413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ACDA1-B264-D928-6A74-F257FC284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8777B65-99DF-D0FF-8F36-011238642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8088E92-852D-69F0-505F-820CE389B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오디오 딥러닝 구현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CA58B-6C2E-29F2-583F-78FD613FC178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오디오 감정 분류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400A3-3945-AD20-8337-D83B3C57C580}"/>
              </a:ext>
            </a:extLst>
          </p:cNvPr>
          <p:cNvSpPr txBox="1"/>
          <p:nvPr/>
        </p:nvSpPr>
        <p:spPr>
          <a:xfrm>
            <a:off x="785818" y="4836068"/>
            <a:ext cx="11235853" cy="1443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지난 시간에 오디오 데이터 → 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MFCC / log-mel spectrum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특징 추출 방법 학습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이번 실습은 추출한 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MFCC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특징을 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MLP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모델에 학습시키고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감정 분류 성능을 확인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실습 데이터셋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CMU-MOSI (Audio subject)</a:t>
            </a:r>
          </a:p>
        </p:txBody>
      </p:sp>
      <p:pic>
        <p:nvPicPr>
          <p:cNvPr id="15" name="그림 14" descr="텍스트, 스크린샷, 폰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D91BCA-594F-30C2-A31A-9FD1ABF12E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16" b="1"/>
          <a:stretch>
            <a:fillRect/>
          </a:stretch>
        </p:blipFill>
        <p:spPr>
          <a:xfrm>
            <a:off x="3410312" y="2280324"/>
            <a:ext cx="2242929" cy="894495"/>
          </a:xfrm>
          <a:prstGeom prst="rect">
            <a:avLst/>
          </a:prstGeom>
        </p:spPr>
      </p:pic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BE1624FA-BC4A-601E-2C25-EB473FBB7582}"/>
              </a:ext>
            </a:extLst>
          </p:cNvPr>
          <p:cNvSpPr/>
          <p:nvPr/>
        </p:nvSpPr>
        <p:spPr>
          <a:xfrm>
            <a:off x="2820220" y="2527274"/>
            <a:ext cx="427677" cy="3761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퍼셉트론(perceptron)과 Multilayer Perceptron(MLP)">
            <a:extLst>
              <a:ext uri="{FF2B5EF4-FFF2-40B4-BE49-F238E27FC236}">
                <a16:creationId xmlns:a16="http://schemas.microsoft.com/office/drawing/2014/main" id="{028974B5-58BC-C8C3-8B41-5E93C3CF96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5" r="5615" b="3502"/>
          <a:stretch>
            <a:fillRect/>
          </a:stretch>
        </p:blipFill>
        <p:spPr bwMode="auto">
          <a:xfrm>
            <a:off x="6843811" y="1352286"/>
            <a:ext cx="4453625" cy="251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13">
            <a:extLst>
              <a:ext uri="{FF2B5EF4-FFF2-40B4-BE49-F238E27FC236}">
                <a16:creationId xmlns:a16="http://schemas.microsoft.com/office/drawing/2014/main" id="{1806113E-6CDF-D1E8-EF7D-02155C5A1C30}"/>
              </a:ext>
            </a:extLst>
          </p:cNvPr>
          <p:cNvSpPr/>
          <p:nvPr/>
        </p:nvSpPr>
        <p:spPr>
          <a:xfrm>
            <a:off x="8648272" y="3977767"/>
            <a:ext cx="1304964" cy="336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딥러닝 모델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51A791E0-51E0-E098-48E9-5463431B06F2}"/>
              </a:ext>
            </a:extLst>
          </p:cNvPr>
          <p:cNvSpPr/>
          <p:nvPr/>
        </p:nvSpPr>
        <p:spPr>
          <a:xfrm>
            <a:off x="499121" y="3217202"/>
            <a:ext cx="2242929" cy="336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원본 데이터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(Raw Data)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6EAF61D0-3A01-D2B5-7E19-A8C643AFE1BF}"/>
              </a:ext>
            </a:extLst>
          </p:cNvPr>
          <p:cNvSpPr/>
          <p:nvPr/>
        </p:nvSpPr>
        <p:spPr>
          <a:xfrm>
            <a:off x="3410312" y="3217202"/>
            <a:ext cx="2242929" cy="336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 </a:t>
            </a:r>
            <a:r>
              <a:rPr lang="en-US" altLang="ko-KR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mfcc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 추출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9D52F9D-869E-AB3F-B254-8B67BCA8DD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2" t="45271" r="6621" b="598"/>
          <a:stretch>
            <a:fillRect/>
          </a:stretch>
        </p:blipFill>
        <p:spPr>
          <a:xfrm>
            <a:off x="420950" y="2174386"/>
            <a:ext cx="2242930" cy="108011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CACE19F-B45F-4CA4-C090-C467C4038E74}"/>
              </a:ext>
            </a:extLst>
          </p:cNvPr>
          <p:cNvSpPr/>
          <p:nvPr/>
        </p:nvSpPr>
        <p:spPr>
          <a:xfrm>
            <a:off x="6705600" y="1166949"/>
            <a:ext cx="5016138" cy="27654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8835063-C0E7-DAD9-BE60-6867DDC02AD9}"/>
              </a:ext>
            </a:extLst>
          </p:cNvPr>
          <p:cNvCxnSpPr/>
          <p:nvPr/>
        </p:nvCxnSpPr>
        <p:spPr>
          <a:xfrm>
            <a:off x="661852" y="3897544"/>
            <a:ext cx="53644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13">
            <a:extLst>
              <a:ext uri="{FF2B5EF4-FFF2-40B4-BE49-F238E27FC236}">
                <a16:creationId xmlns:a16="http://schemas.microsoft.com/office/drawing/2014/main" id="{F4868D74-8B75-1CCA-33B1-27CB3E1D5914}"/>
              </a:ext>
            </a:extLst>
          </p:cNvPr>
          <p:cNvSpPr/>
          <p:nvPr/>
        </p:nvSpPr>
        <p:spPr>
          <a:xfrm>
            <a:off x="2477443" y="3948706"/>
            <a:ext cx="1436571" cy="336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</a:t>
            </a:r>
            <a:r>
              <a:rPr lang="ko-KR" alt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전처리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CA1F5A47-C6A9-714F-FC5E-545A79A36510}"/>
              </a:ext>
            </a:extLst>
          </p:cNvPr>
          <p:cNvSpPr/>
          <p:nvPr/>
        </p:nvSpPr>
        <p:spPr>
          <a:xfrm>
            <a:off x="5882161" y="2526348"/>
            <a:ext cx="427677" cy="3761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063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2017E-16A5-8B77-1404-75FE9E6F9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딥러닝] 심층학습 시작 : 인공 신경망과 MLP (+ 신경망 모델 ...">
            <a:extLst>
              <a:ext uri="{FF2B5EF4-FFF2-40B4-BE49-F238E27FC236}">
                <a16:creationId xmlns:a16="http://schemas.microsoft.com/office/drawing/2014/main" id="{87969E9B-64BE-0E9F-9CC4-2F4DB8036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577" y="931218"/>
            <a:ext cx="6391373" cy="366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74DEEB5-27F5-A243-3709-02F22EDB1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E7BE4-1A8A-FA94-17C0-009A9420EBE3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딥러닝</a:t>
            </a: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 구현 실습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E14961EB-3A8F-DBD0-F826-504D48071FFA}"/>
              </a:ext>
            </a:extLst>
          </p:cNvPr>
          <p:cNvSpPr/>
          <p:nvPr/>
        </p:nvSpPr>
        <p:spPr>
          <a:xfrm>
            <a:off x="1812775" y="5881573"/>
            <a:ext cx="182880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D41D2A38-9442-5EBE-7992-0E637D383342}"/>
              </a:ext>
            </a:extLst>
          </p:cNvPr>
          <p:cNvSpPr/>
          <p:nvPr/>
        </p:nvSpPr>
        <p:spPr>
          <a:xfrm>
            <a:off x="3138655" y="5881573"/>
            <a:ext cx="232241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CDA1AD73-43AE-D8A8-433A-725C1D1AF002}"/>
              </a:ext>
            </a:extLst>
          </p:cNvPr>
          <p:cNvSpPr/>
          <p:nvPr/>
        </p:nvSpPr>
        <p:spPr>
          <a:xfrm>
            <a:off x="4552334" y="5881573"/>
            <a:ext cx="212888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C73E66CB-1DC4-7F44-6638-636E74C7DE43}"/>
              </a:ext>
            </a:extLst>
          </p:cNvPr>
          <p:cNvSpPr/>
          <p:nvPr/>
        </p:nvSpPr>
        <p:spPr>
          <a:xfrm>
            <a:off x="7422039" y="5844997"/>
            <a:ext cx="212888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20C5DC8C-A8B9-7DFD-3EB1-9D3ABC9B3191}"/>
              </a:ext>
            </a:extLst>
          </p:cNvPr>
          <p:cNvSpPr/>
          <p:nvPr/>
        </p:nvSpPr>
        <p:spPr>
          <a:xfrm>
            <a:off x="10200117" y="5891609"/>
            <a:ext cx="212888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060A07FA-5229-61CB-E83C-B3EA1A433360}"/>
              </a:ext>
            </a:extLst>
          </p:cNvPr>
          <p:cNvSpPr/>
          <p:nvPr/>
        </p:nvSpPr>
        <p:spPr>
          <a:xfrm>
            <a:off x="715495" y="5534101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BFDBFE">
              <a:alpha val="92000"/>
            </a:srgbClr>
          </a:solidFill>
          <a:ln w="15240">
            <a:solidFill>
              <a:srgbClr val="BFDBFE">
                <a:alpha val="8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29BE1F43-5378-95CE-7D30-049C8F9E51AE}"/>
              </a:ext>
            </a:extLst>
          </p:cNvPr>
          <p:cNvSpPr/>
          <p:nvPr/>
        </p:nvSpPr>
        <p:spPr>
          <a:xfrm>
            <a:off x="761215" y="5698693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입력층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1740D45B-21CB-06C5-FC73-2EADD566F9DF}"/>
              </a:ext>
            </a:extLst>
          </p:cNvPr>
          <p:cNvSpPr/>
          <p:nvPr/>
        </p:nvSpPr>
        <p:spPr>
          <a:xfrm>
            <a:off x="761215" y="6009589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in_dim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DC2EBEAC-6C55-35F4-18A2-6554C705B806}"/>
              </a:ext>
            </a:extLst>
          </p:cNvPr>
          <p:cNvSpPr/>
          <p:nvPr/>
        </p:nvSpPr>
        <p:spPr>
          <a:xfrm>
            <a:off x="2087095" y="5534101"/>
            <a:ext cx="960120" cy="914400"/>
          </a:xfrm>
          <a:prstGeom prst="roundRect">
            <a:avLst>
              <a:gd name="adj" fmla="val 8000"/>
            </a:avLst>
          </a:prstGeom>
          <a:solidFill>
            <a:srgbClr val="C7D2FE">
              <a:alpha val="92000"/>
            </a:srgbClr>
          </a:solidFill>
          <a:ln w="15240">
            <a:solidFill>
              <a:srgbClr val="C7D2FE">
                <a:alpha val="8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607AAD61-D84C-5A09-7337-9628CCD761C9}"/>
              </a:ext>
            </a:extLst>
          </p:cNvPr>
          <p:cNvSpPr/>
          <p:nvPr/>
        </p:nvSpPr>
        <p:spPr>
          <a:xfrm>
            <a:off x="2132815" y="5698693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Linear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E292F0E7-69F4-EAC2-F64F-4ED975FAFB67}"/>
              </a:ext>
            </a:extLst>
          </p:cNvPr>
          <p:cNvSpPr/>
          <p:nvPr/>
        </p:nvSpPr>
        <p:spPr>
          <a:xfrm>
            <a:off x="2109768" y="6013738"/>
            <a:ext cx="921735" cy="1289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 err="1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in_dim</a:t>
            </a:r>
            <a:r>
              <a:rPr lang="en-US" altLang="ko-KR" sz="90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→ </a:t>
            </a:r>
            <a:r>
              <a:rPr lang="en-US" sz="90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128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Shape 26">
            <a:extLst>
              <a:ext uri="{FF2B5EF4-FFF2-40B4-BE49-F238E27FC236}">
                <a16:creationId xmlns:a16="http://schemas.microsoft.com/office/drawing/2014/main" id="{842C0735-48B0-A352-C04E-EB1255AB8D5A}"/>
              </a:ext>
            </a:extLst>
          </p:cNvPr>
          <p:cNvSpPr/>
          <p:nvPr/>
        </p:nvSpPr>
        <p:spPr>
          <a:xfrm>
            <a:off x="10504445" y="5552389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BBF7D0">
              <a:alpha val="92000"/>
            </a:srgbClr>
          </a:solidFill>
          <a:ln w="15240">
            <a:solidFill>
              <a:srgbClr val="BBF7D0">
                <a:alpha val="8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 27">
            <a:extLst>
              <a:ext uri="{FF2B5EF4-FFF2-40B4-BE49-F238E27FC236}">
                <a16:creationId xmlns:a16="http://schemas.microsoft.com/office/drawing/2014/main" id="{EA460382-F708-9F29-F92B-5E84439DF2E0}"/>
              </a:ext>
            </a:extLst>
          </p:cNvPr>
          <p:cNvSpPr/>
          <p:nvPr/>
        </p:nvSpPr>
        <p:spPr>
          <a:xfrm>
            <a:off x="10550165" y="5716981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출력층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D1AE4AB7-EB24-5BD8-20AB-7DB93346EE56}"/>
              </a:ext>
            </a:extLst>
          </p:cNvPr>
          <p:cNvSpPr/>
          <p:nvPr/>
        </p:nvSpPr>
        <p:spPr>
          <a:xfrm>
            <a:off x="10506802" y="6027877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64 → 2 classes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 29">
            <a:extLst>
              <a:ext uri="{FF2B5EF4-FFF2-40B4-BE49-F238E27FC236}">
                <a16:creationId xmlns:a16="http://schemas.microsoft.com/office/drawing/2014/main" id="{5516A801-99E1-F592-B780-8B0FCEA67D50}"/>
              </a:ext>
            </a:extLst>
          </p:cNvPr>
          <p:cNvSpPr/>
          <p:nvPr/>
        </p:nvSpPr>
        <p:spPr>
          <a:xfrm>
            <a:off x="624055" y="6539941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</a:t>
            </a:r>
            <a:r>
              <a:rPr lang="en-US" sz="9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68E1145D-DF5C-6895-7077-D8E61BE3C02E}"/>
              </a:ext>
            </a:extLst>
          </p:cNvPr>
          <p:cNvSpPr/>
          <p:nvPr/>
        </p:nvSpPr>
        <p:spPr>
          <a:xfrm>
            <a:off x="1995655" y="6539941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9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layer</a:t>
            </a:r>
            <a:r>
              <a:rPr lang="ko-KR" altLang="en-US" sz="9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구성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563DC6AF-E38D-B3C9-07C6-3E558FFD1667}"/>
              </a:ext>
            </a:extLst>
          </p:cNvPr>
          <p:cNvGrpSpPr/>
          <p:nvPr/>
        </p:nvGrpSpPr>
        <p:grpSpPr>
          <a:xfrm>
            <a:off x="3412975" y="5534101"/>
            <a:ext cx="1097280" cy="1170432"/>
            <a:chOff x="3772136" y="5038966"/>
            <a:chExt cx="1097280" cy="1170432"/>
          </a:xfrm>
        </p:grpSpPr>
        <p:sp>
          <p:nvSpPr>
            <p:cNvPr id="27" name="Shape 14">
              <a:extLst>
                <a:ext uri="{FF2B5EF4-FFF2-40B4-BE49-F238E27FC236}">
                  <a16:creationId xmlns:a16="http://schemas.microsoft.com/office/drawing/2014/main" id="{8E37B58E-B041-0095-5B74-4CB38F426FBB}"/>
                </a:ext>
              </a:extLst>
            </p:cNvPr>
            <p:cNvSpPr/>
            <p:nvPr/>
          </p:nvSpPr>
          <p:spPr>
            <a:xfrm>
              <a:off x="3863576" y="5038966"/>
              <a:ext cx="914400" cy="914400"/>
            </a:xfrm>
            <a:prstGeom prst="roundRect">
              <a:avLst>
                <a:gd name="adj" fmla="val 8000"/>
              </a:avLst>
            </a:prstGeom>
            <a:solidFill>
              <a:srgbClr val="DDD6FE">
                <a:alpha val="92000"/>
              </a:srgbClr>
            </a:solidFill>
            <a:ln w="15240">
              <a:solidFill>
                <a:srgbClr val="DDD6FE">
                  <a:alpha val="85000"/>
                </a:srgbClr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9" name="Text 15">
              <a:extLst>
                <a:ext uri="{FF2B5EF4-FFF2-40B4-BE49-F238E27FC236}">
                  <a16:creationId xmlns:a16="http://schemas.microsoft.com/office/drawing/2014/main" id="{5A694A27-E216-77E8-C9FB-CEE66416630F}"/>
                </a:ext>
              </a:extLst>
            </p:cNvPr>
            <p:cNvSpPr/>
            <p:nvPr/>
          </p:nvSpPr>
          <p:spPr>
            <a:xfrm>
              <a:off x="3909296" y="5203558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ReLU</a:t>
              </a:r>
              <a:endParaRPr lang="en-US" sz="15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0" name="Text 16">
              <a:extLst>
                <a:ext uri="{FF2B5EF4-FFF2-40B4-BE49-F238E27FC236}">
                  <a16:creationId xmlns:a16="http://schemas.microsoft.com/office/drawing/2014/main" id="{A6C48697-7E14-EE96-46D5-742E5756F23F}"/>
                </a:ext>
              </a:extLst>
            </p:cNvPr>
            <p:cNvSpPr/>
            <p:nvPr/>
          </p:nvSpPr>
          <p:spPr>
            <a:xfrm>
              <a:off x="3909296" y="5514454"/>
              <a:ext cx="82296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 err="1">
                  <a:solidFill>
                    <a:srgbClr val="37415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활성화</a:t>
              </a:r>
              <a:r>
                <a:rPr lang="en-US" sz="950" dirty="0">
                  <a:solidFill>
                    <a:srgbClr val="37415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 </a:t>
              </a:r>
              <a:r>
                <a:rPr lang="ko-KR" altLang="en-US" sz="950" dirty="0">
                  <a:solidFill>
                    <a:srgbClr val="37415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함수</a:t>
              </a:r>
              <a:endParaRPr lang="en-US" sz="9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8" name="Text 31">
              <a:extLst>
                <a:ext uri="{FF2B5EF4-FFF2-40B4-BE49-F238E27FC236}">
                  <a16:creationId xmlns:a16="http://schemas.microsoft.com/office/drawing/2014/main" id="{290BED15-E2C1-6FDD-A093-873B5C05C354}"/>
                </a:ext>
              </a:extLst>
            </p:cNvPr>
            <p:cNvSpPr/>
            <p:nvPr/>
          </p:nvSpPr>
          <p:spPr>
            <a:xfrm>
              <a:off x="3772136" y="6044806"/>
              <a:ext cx="109728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B728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비선형성 추가</a:t>
              </a:r>
              <a:endParaRPr lang="en-US" sz="9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41B01DB0-08D0-5645-6881-95C309724A19}"/>
              </a:ext>
            </a:extLst>
          </p:cNvPr>
          <p:cNvGrpSpPr/>
          <p:nvPr/>
        </p:nvGrpSpPr>
        <p:grpSpPr>
          <a:xfrm>
            <a:off x="4853155" y="5534101"/>
            <a:ext cx="1143000" cy="1170432"/>
            <a:chOff x="5372336" y="5038966"/>
            <a:chExt cx="1143000" cy="1170432"/>
          </a:xfrm>
        </p:grpSpPr>
        <p:sp>
          <p:nvSpPr>
            <p:cNvPr id="31" name="Shape 17">
              <a:extLst>
                <a:ext uri="{FF2B5EF4-FFF2-40B4-BE49-F238E27FC236}">
                  <a16:creationId xmlns:a16="http://schemas.microsoft.com/office/drawing/2014/main" id="{639702D5-3F03-A115-3D58-2062CC5BA1B8}"/>
                </a:ext>
              </a:extLst>
            </p:cNvPr>
            <p:cNvSpPr/>
            <p:nvPr/>
          </p:nvSpPr>
          <p:spPr>
            <a:xfrm>
              <a:off x="5463776" y="5038966"/>
              <a:ext cx="960120" cy="914400"/>
            </a:xfrm>
            <a:prstGeom prst="roundRect">
              <a:avLst>
                <a:gd name="adj" fmla="val 8000"/>
              </a:avLst>
            </a:prstGeom>
            <a:solidFill>
              <a:srgbClr val="F5D0FE">
                <a:alpha val="92000"/>
              </a:srgbClr>
            </a:solidFill>
            <a:ln w="15240">
              <a:solidFill>
                <a:srgbClr val="F5D0FE">
                  <a:alpha val="85000"/>
                </a:srgbClr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2" name="Text 18">
              <a:extLst>
                <a:ext uri="{FF2B5EF4-FFF2-40B4-BE49-F238E27FC236}">
                  <a16:creationId xmlns:a16="http://schemas.microsoft.com/office/drawing/2014/main" id="{4D7200FB-6B13-FE06-3813-ED053469E062}"/>
                </a:ext>
              </a:extLst>
            </p:cNvPr>
            <p:cNvSpPr/>
            <p:nvPr/>
          </p:nvSpPr>
          <p:spPr>
            <a:xfrm>
              <a:off x="5444423" y="516698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Dropout</a:t>
              </a:r>
              <a:endParaRPr lang="en-US" sz="15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4" name="Text 19">
              <a:extLst>
                <a:ext uri="{FF2B5EF4-FFF2-40B4-BE49-F238E27FC236}">
                  <a16:creationId xmlns:a16="http://schemas.microsoft.com/office/drawing/2014/main" id="{F40C5468-3992-5250-F0EA-C0B71B881DA3}"/>
                </a:ext>
              </a:extLst>
            </p:cNvPr>
            <p:cNvSpPr/>
            <p:nvPr/>
          </p:nvSpPr>
          <p:spPr>
            <a:xfrm>
              <a:off x="5509496" y="5514454"/>
              <a:ext cx="86868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37415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p = 0.5</a:t>
              </a:r>
              <a:endParaRPr lang="en-US" sz="9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9" name="Text 32">
              <a:extLst>
                <a:ext uri="{FF2B5EF4-FFF2-40B4-BE49-F238E27FC236}">
                  <a16:creationId xmlns:a16="http://schemas.microsoft.com/office/drawing/2014/main" id="{46F213E2-DF11-370A-63F0-30501E81B4F0}"/>
                </a:ext>
              </a:extLst>
            </p:cNvPr>
            <p:cNvSpPr/>
            <p:nvPr/>
          </p:nvSpPr>
          <p:spPr>
            <a:xfrm>
              <a:off x="5372336" y="6044806"/>
              <a:ext cx="114300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B728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과적합 완화</a:t>
              </a:r>
              <a:endParaRPr lang="en-US" sz="9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4" name="Shape 5">
            <a:extLst>
              <a:ext uri="{FF2B5EF4-FFF2-40B4-BE49-F238E27FC236}">
                <a16:creationId xmlns:a16="http://schemas.microsoft.com/office/drawing/2014/main" id="{F05B685A-87C6-7451-D646-F34E6941E60A}"/>
              </a:ext>
            </a:extLst>
          </p:cNvPr>
          <p:cNvSpPr/>
          <p:nvPr/>
        </p:nvSpPr>
        <p:spPr>
          <a:xfrm>
            <a:off x="6032064" y="5844997"/>
            <a:ext cx="232241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9F1C514-A9E3-77A9-6153-5F22090DCEC5}"/>
              </a:ext>
            </a:extLst>
          </p:cNvPr>
          <p:cNvGrpSpPr/>
          <p:nvPr/>
        </p:nvGrpSpPr>
        <p:grpSpPr>
          <a:xfrm>
            <a:off x="6286187" y="5534101"/>
            <a:ext cx="1097280" cy="1170432"/>
            <a:chOff x="6724583" y="5059479"/>
            <a:chExt cx="1097280" cy="1170432"/>
          </a:xfrm>
        </p:grpSpPr>
        <p:sp>
          <p:nvSpPr>
            <p:cNvPr id="35" name="Shape 20">
              <a:extLst>
                <a:ext uri="{FF2B5EF4-FFF2-40B4-BE49-F238E27FC236}">
                  <a16:creationId xmlns:a16="http://schemas.microsoft.com/office/drawing/2014/main" id="{143DD526-EE29-6093-89C3-7207DCAD2494}"/>
                </a:ext>
              </a:extLst>
            </p:cNvPr>
            <p:cNvSpPr/>
            <p:nvPr/>
          </p:nvSpPr>
          <p:spPr>
            <a:xfrm>
              <a:off x="6816023" y="5059479"/>
              <a:ext cx="914400" cy="914400"/>
            </a:xfrm>
            <a:prstGeom prst="roundRect">
              <a:avLst>
                <a:gd name="adj" fmla="val 8000"/>
              </a:avLst>
            </a:prstGeom>
            <a:solidFill>
              <a:srgbClr val="FBCFE8">
                <a:alpha val="92000"/>
              </a:srgbClr>
            </a:solidFill>
            <a:ln w="15240">
              <a:solidFill>
                <a:srgbClr val="FBCFE8">
                  <a:alpha val="85000"/>
                </a:srgbClr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7" name="Text 21">
              <a:extLst>
                <a:ext uri="{FF2B5EF4-FFF2-40B4-BE49-F238E27FC236}">
                  <a16:creationId xmlns:a16="http://schemas.microsoft.com/office/drawing/2014/main" id="{0789C877-2FCE-9504-2353-4E870338A4D6}"/>
                </a:ext>
              </a:extLst>
            </p:cNvPr>
            <p:cNvSpPr/>
            <p:nvPr/>
          </p:nvSpPr>
          <p:spPr>
            <a:xfrm>
              <a:off x="6861743" y="5224071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Linear</a:t>
              </a:r>
              <a:endParaRPr lang="en-US" sz="15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8" name="Text 22">
              <a:extLst>
                <a:ext uri="{FF2B5EF4-FFF2-40B4-BE49-F238E27FC236}">
                  <a16:creationId xmlns:a16="http://schemas.microsoft.com/office/drawing/2014/main" id="{5A223A1F-5E98-1855-00E1-438F6671424D}"/>
                </a:ext>
              </a:extLst>
            </p:cNvPr>
            <p:cNvSpPr/>
            <p:nvPr/>
          </p:nvSpPr>
          <p:spPr>
            <a:xfrm>
              <a:off x="6861743" y="5534967"/>
              <a:ext cx="82296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37415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128 → 64</a:t>
              </a:r>
              <a:endParaRPr lang="en-US" sz="9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0" name="Text 33">
              <a:extLst>
                <a:ext uri="{FF2B5EF4-FFF2-40B4-BE49-F238E27FC236}">
                  <a16:creationId xmlns:a16="http://schemas.microsoft.com/office/drawing/2014/main" id="{411B0119-6DB0-E75B-7048-DA2F86D240D8}"/>
                </a:ext>
              </a:extLst>
            </p:cNvPr>
            <p:cNvSpPr/>
            <p:nvPr/>
          </p:nvSpPr>
          <p:spPr>
            <a:xfrm>
              <a:off x="6724583" y="6065319"/>
              <a:ext cx="109728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 err="1">
                  <a:solidFill>
                    <a:srgbClr val="6B728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은닉</a:t>
              </a:r>
              <a:r>
                <a:rPr lang="ko-KR" altLang="en-US" sz="950" dirty="0">
                  <a:solidFill>
                    <a:srgbClr val="6B728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 </a:t>
              </a:r>
              <a:r>
                <a:rPr lang="en-US" altLang="ko-KR" sz="950" dirty="0">
                  <a:solidFill>
                    <a:srgbClr val="6B728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layer</a:t>
              </a:r>
              <a:r>
                <a:rPr lang="en-US" sz="950" dirty="0">
                  <a:solidFill>
                    <a:srgbClr val="6B728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 </a:t>
              </a:r>
              <a:r>
                <a:rPr lang="ko-KR" altLang="en-US" sz="950" dirty="0">
                  <a:solidFill>
                    <a:srgbClr val="6B728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구성</a:t>
              </a:r>
              <a:endParaRPr lang="en-US" sz="9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2" name="Text 35">
            <a:extLst>
              <a:ext uri="{FF2B5EF4-FFF2-40B4-BE49-F238E27FC236}">
                <a16:creationId xmlns:a16="http://schemas.microsoft.com/office/drawing/2014/main" id="{43756ED2-831E-0E4E-04D1-B79DD56C3347}"/>
              </a:ext>
            </a:extLst>
          </p:cNvPr>
          <p:cNvSpPr/>
          <p:nvPr/>
        </p:nvSpPr>
        <p:spPr>
          <a:xfrm>
            <a:off x="10413005" y="6558229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9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출력 레이어 구성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FEFA11-C067-332E-C4FB-4DB15A1393D2}"/>
              </a:ext>
            </a:extLst>
          </p:cNvPr>
          <p:cNvSpPr txBox="1"/>
          <p:nvPr/>
        </p:nvSpPr>
        <p:spPr>
          <a:xfrm>
            <a:off x="458008" y="4872044"/>
            <a:ext cx="118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 err="1">
                <a:solidFill>
                  <a:srgbClr val="11182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코드</a:t>
            </a:r>
            <a:r>
              <a:rPr lang="en-US" altLang="ko-KR" sz="1800" b="1" dirty="0">
                <a:solidFill>
                  <a:srgbClr val="11182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800" b="1" dirty="0">
                <a:solidFill>
                  <a:srgbClr val="11182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구현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27D51CE9-1C4D-ABC7-B768-4849CF9041C6}"/>
              </a:ext>
            </a:extLst>
          </p:cNvPr>
          <p:cNvSpPr/>
          <p:nvPr/>
        </p:nvSpPr>
        <p:spPr>
          <a:xfrm>
            <a:off x="8812858" y="5881573"/>
            <a:ext cx="212888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C604C53-4157-DC05-F764-1AFAF757C32F}"/>
              </a:ext>
            </a:extLst>
          </p:cNvPr>
          <p:cNvGrpSpPr/>
          <p:nvPr/>
        </p:nvGrpSpPr>
        <p:grpSpPr>
          <a:xfrm>
            <a:off x="7673499" y="5534101"/>
            <a:ext cx="1097280" cy="1170432"/>
            <a:chOff x="3772136" y="5038966"/>
            <a:chExt cx="1097280" cy="1170432"/>
          </a:xfrm>
        </p:grpSpPr>
        <p:sp>
          <p:nvSpPr>
            <p:cNvPr id="62" name="Shape 14">
              <a:extLst>
                <a:ext uri="{FF2B5EF4-FFF2-40B4-BE49-F238E27FC236}">
                  <a16:creationId xmlns:a16="http://schemas.microsoft.com/office/drawing/2014/main" id="{52F5EAD0-F629-21E1-2017-1BE38C2A3A92}"/>
                </a:ext>
              </a:extLst>
            </p:cNvPr>
            <p:cNvSpPr/>
            <p:nvPr/>
          </p:nvSpPr>
          <p:spPr>
            <a:xfrm>
              <a:off x="3863576" y="5038966"/>
              <a:ext cx="914400" cy="914400"/>
            </a:xfrm>
            <a:prstGeom prst="roundRect">
              <a:avLst>
                <a:gd name="adj" fmla="val 8000"/>
              </a:avLst>
            </a:prstGeom>
            <a:solidFill>
              <a:srgbClr val="DDD6FE">
                <a:alpha val="92000"/>
              </a:srgbClr>
            </a:solidFill>
            <a:ln w="15240">
              <a:solidFill>
                <a:srgbClr val="DDD6FE">
                  <a:alpha val="85000"/>
                </a:srgbClr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3" name="Text 15">
              <a:extLst>
                <a:ext uri="{FF2B5EF4-FFF2-40B4-BE49-F238E27FC236}">
                  <a16:creationId xmlns:a16="http://schemas.microsoft.com/office/drawing/2014/main" id="{75239BFA-785A-F9D5-4322-C4C6286A23E2}"/>
                </a:ext>
              </a:extLst>
            </p:cNvPr>
            <p:cNvSpPr/>
            <p:nvPr/>
          </p:nvSpPr>
          <p:spPr>
            <a:xfrm>
              <a:off x="3909296" y="5203558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ReLU</a:t>
              </a:r>
              <a:endParaRPr lang="en-US" sz="15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144" name="Text 16">
              <a:extLst>
                <a:ext uri="{FF2B5EF4-FFF2-40B4-BE49-F238E27FC236}">
                  <a16:creationId xmlns:a16="http://schemas.microsoft.com/office/drawing/2014/main" id="{6FBE42F6-6D64-3D31-DD94-A77CB2AADDDA}"/>
                </a:ext>
              </a:extLst>
            </p:cNvPr>
            <p:cNvSpPr/>
            <p:nvPr/>
          </p:nvSpPr>
          <p:spPr>
            <a:xfrm>
              <a:off x="3909296" y="5514454"/>
              <a:ext cx="82296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 err="1">
                  <a:solidFill>
                    <a:srgbClr val="37415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활성화</a:t>
              </a:r>
              <a:r>
                <a:rPr lang="en-US" sz="950" dirty="0">
                  <a:solidFill>
                    <a:srgbClr val="37415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 </a:t>
              </a:r>
              <a:r>
                <a:rPr lang="ko-KR" altLang="en-US" sz="950" dirty="0">
                  <a:solidFill>
                    <a:srgbClr val="37415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함수</a:t>
              </a:r>
              <a:endParaRPr lang="en-US" sz="9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145" name="Text 31">
              <a:extLst>
                <a:ext uri="{FF2B5EF4-FFF2-40B4-BE49-F238E27FC236}">
                  <a16:creationId xmlns:a16="http://schemas.microsoft.com/office/drawing/2014/main" id="{D252E01E-F4D2-ECA7-6C2D-224899F19B2E}"/>
                </a:ext>
              </a:extLst>
            </p:cNvPr>
            <p:cNvSpPr/>
            <p:nvPr/>
          </p:nvSpPr>
          <p:spPr>
            <a:xfrm>
              <a:off x="3772136" y="6044806"/>
              <a:ext cx="109728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B728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비선형성 추가</a:t>
              </a:r>
              <a:endParaRPr lang="en-US" sz="9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6147" name="그룹 6146">
            <a:extLst>
              <a:ext uri="{FF2B5EF4-FFF2-40B4-BE49-F238E27FC236}">
                <a16:creationId xmlns:a16="http://schemas.microsoft.com/office/drawing/2014/main" id="{F74AC394-1282-B9E2-6B2E-EA9A7D5FF268}"/>
              </a:ext>
            </a:extLst>
          </p:cNvPr>
          <p:cNvGrpSpPr/>
          <p:nvPr/>
        </p:nvGrpSpPr>
        <p:grpSpPr>
          <a:xfrm>
            <a:off x="9057117" y="5534101"/>
            <a:ext cx="1143000" cy="1170432"/>
            <a:chOff x="5372336" y="5038966"/>
            <a:chExt cx="1143000" cy="1170432"/>
          </a:xfrm>
        </p:grpSpPr>
        <p:sp>
          <p:nvSpPr>
            <p:cNvPr id="6148" name="Shape 17">
              <a:extLst>
                <a:ext uri="{FF2B5EF4-FFF2-40B4-BE49-F238E27FC236}">
                  <a16:creationId xmlns:a16="http://schemas.microsoft.com/office/drawing/2014/main" id="{C5F042C8-D3A6-B40F-46BB-FBF98771CFA2}"/>
                </a:ext>
              </a:extLst>
            </p:cNvPr>
            <p:cNvSpPr/>
            <p:nvPr/>
          </p:nvSpPr>
          <p:spPr>
            <a:xfrm>
              <a:off x="5463776" y="5038966"/>
              <a:ext cx="960120" cy="914400"/>
            </a:xfrm>
            <a:prstGeom prst="roundRect">
              <a:avLst>
                <a:gd name="adj" fmla="val 8000"/>
              </a:avLst>
            </a:prstGeom>
            <a:solidFill>
              <a:srgbClr val="F5D0FE">
                <a:alpha val="92000"/>
              </a:srgbClr>
            </a:solidFill>
            <a:ln w="15240">
              <a:solidFill>
                <a:srgbClr val="F5D0FE">
                  <a:alpha val="85000"/>
                </a:srgbClr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149" name="Text 18">
              <a:extLst>
                <a:ext uri="{FF2B5EF4-FFF2-40B4-BE49-F238E27FC236}">
                  <a16:creationId xmlns:a16="http://schemas.microsoft.com/office/drawing/2014/main" id="{646D43D5-65B6-D511-2396-25E1A59788BB}"/>
                </a:ext>
              </a:extLst>
            </p:cNvPr>
            <p:cNvSpPr/>
            <p:nvPr/>
          </p:nvSpPr>
          <p:spPr>
            <a:xfrm>
              <a:off x="5444423" y="516698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Dropout</a:t>
              </a:r>
              <a:endParaRPr lang="en-US" sz="15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151" name="Text 19">
              <a:extLst>
                <a:ext uri="{FF2B5EF4-FFF2-40B4-BE49-F238E27FC236}">
                  <a16:creationId xmlns:a16="http://schemas.microsoft.com/office/drawing/2014/main" id="{8275F43C-1FB0-7722-719F-27A5DD6CAD4C}"/>
                </a:ext>
              </a:extLst>
            </p:cNvPr>
            <p:cNvSpPr/>
            <p:nvPr/>
          </p:nvSpPr>
          <p:spPr>
            <a:xfrm>
              <a:off x="5509496" y="5514454"/>
              <a:ext cx="86868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37415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p = 0.5</a:t>
              </a:r>
              <a:endParaRPr lang="en-US" sz="9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152" name="Text 32">
              <a:extLst>
                <a:ext uri="{FF2B5EF4-FFF2-40B4-BE49-F238E27FC236}">
                  <a16:creationId xmlns:a16="http://schemas.microsoft.com/office/drawing/2014/main" id="{F33022B6-369C-733B-52C8-C3C8FD4C38FE}"/>
                </a:ext>
              </a:extLst>
            </p:cNvPr>
            <p:cNvSpPr/>
            <p:nvPr/>
          </p:nvSpPr>
          <p:spPr>
            <a:xfrm>
              <a:off x="5372336" y="6044806"/>
              <a:ext cx="114300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B728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과적합 완화</a:t>
              </a:r>
              <a:endParaRPr lang="en-US" sz="95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C7AE5A86-F31F-D406-E2D0-A743EFC2523E}"/>
              </a:ext>
            </a:extLst>
          </p:cNvPr>
          <p:cNvGrpSpPr/>
          <p:nvPr/>
        </p:nvGrpSpPr>
        <p:grpSpPr>
          <a:xfrm>
            <a:off x="5944218" y="4303973"/>
            <a:ext cx="1587218" cy="444914"/>
            <a:chOff x="5950859" y="4199440"/>
            <a:chExt cx="1587218" cy="444914"/>
          </a:xfrm>
        </p:grpSpPr>
        <p:sp>
          <p:nvSpPr>
            <p:cNvPr id="6154" name="Text 13">
              <a:extLst>
                <a:ext uri="{FF2B5EF4-FFF2-40B4-BE49-F238E27FC236}">
                  <a16:creationId xmlns:a16="http://schemas.microsoft.com/office/drawing/2014/main" id="{14EE00AF-B655-F7BF-7DD0-4A5F1B823F0E}"/>
                </a:ext>
              </a:extLst>
            </p:cNvPr>
            <p:cNvSpPr/>
            <p:nvPr/>
          </p:nvSpPr>
          <p:spPr>
            <a:xfrm>
              <a:off x="6117075" y="4199440"/>
              <a:ext cx="1304964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Hidden 2 (64)</a:t>
              </a:r>
              <a:endPara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" name="Text 13">
              <a:extLst>
                <a:ext uri="{FF2B5EF4-FFF2-40B4-BE49-F238E27FC236}">
                  <a16:creationId xmlns:a16="http://schemas.microsoft.com/office/drawing/2014/main" id="{6D953AB6-8E36-889D-3918-30CAEF14D369}"/>
                </a:ext>
              </a:extLst>
            </p:cNvPr>
            <p:cNvSpPr/>
            <p:nvPr/>
          </p:nvSpPr>
          <p:spPr>
            <a:xfrm>
              <a:off x="5950859" y="4507875"/>
              <a:ext cx="1587218" cy="1364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Relu</a:t>
              </a: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+ Dropout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4EACDCD-D253-DCAB-08CA-C961AB2C05FF}"/>
              </a:ext>
            </a:extLst>
          </p:cNvPr>
          <p:cNvGrpSpPr/>
          <p:nvPr/>
        </p:nvGrpSpPr>
        <p:grpSpPr>
          <a:xfrm>
            <a:off x="4523216" y="4347902"/>
            <a:ext cx="1587218" cy="402712"/>
            <a:chOff x="4510255" y="4238947"/>
            <a:chExt cx="1587218" cy="402712"/>
          </a:xfrm>
        </p:grpSpPr>
        <p:sp>
          <p:nvSpPr>
            <p:cNvPr id="6153" name="Text 13">
              <a:extLst>
                <a:ext uri="{FF2B5EF4-FFF2-40B4-BE49-F238E27FC236}">
                  <a16:creationId xmlns:a16="http://schemas.microsoft.com/office/drawing/2014/main" id="{0D465051-7A72-0E95-6260-2625CCF10401}"/>
                </a:ext>
              </a:extLst>
            </p:cNvPr>
            <p:cNvSpPr/>
            <p:nvPr/>
          </p:nvSpPr>
          <p:spPr>
            <a:xfrm>
              <a:off x="4630097" y="4238947"/>
              <a:ext cx="1397167" cy="11587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Hidden 1(128)</a:t>
              </a:r>
              <a:endPara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" name="Text 13">
              <a:extLst>
                <a:ext uri="{FF2B5EF4-FFF2-40B4-BE49-F238E27FC236}">
                  <a16:creationId xmlns:a16="http://schemas.microsoft.com/office/drawing/2014/main" id="{8953EE60-FD7C-095E-66E9-C06708F62862}"/>
                </a:ext>
              </a:extLst>
            </p:cNvPr>
            <p:cNvSpPr/>
            <p:nvPr/>
          </p:nvSpPr>
          <p:spPr>
            <a:xfrm>
              <a:off x="4510255" y="4505180"/>
              <a:ext cx="1587218" cy="1364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Relu</a:t>
              </a: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+ Dropout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4EDA71-B048-588F-D1A5-581C14CDE205}"/>
              </a:ext>
            </a:extLst>
          </p:cNvPr>
          <p:cNvSpPr/>
          <p:nvPr/>
        </p:nvSpPr>
        <p:spPr>
          <a:xfrm>
            <a:off x="2025663" y="5347056"/>
            <a:ext cx="3956196" cy="1454332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9F3295-75A8-76B5-18C0-1D1F47D1A4EC}"/>
              </a:ext>
            </a:extLst>
          </p:cNvPr>
          <p:cNvSpPr/>
          <p:nvPr/>
        </p:nvSpPr>
        <p:spPr>
          <a:xfrm>
            <a:off x="6309958" y="5347056"/>
            <a:ext cx="3856380" cy="1454332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EE6E5DC9-0AD7-CA7C-9AB8-CBB657FE0BB7}"/>
              </a:ext>
            </a:extLst>
          </p:cNvPr>
          <p:cNvSpPr/>
          <p:nvPr/>
        </p:nvSpPr>
        <p:spPr>
          <a:xfrm>
            <a:off x="1967644" y="5034545"/>
            <a:ext cx="2342022" cy="2402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Hidden 1-layer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61E5A40-82CB-1DB3-5287-3EDD874BD186}"/>
              </a:ext>
            </a:extLst>
          </p:cNvPr>
          <p:cNvSpPr/>
          <p:nvPr/>
        </p:nvSpPr>
        <p:spPr>
          <a:xfrm>
            <a:off x="6268082" y="5071873"/>
            <a:ext cx="2342022" cy="2402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Hidden 2-layer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제목 3">
            <a:extLst>
              <a:ext uri="{FF2B5EF4-FFF2-40B4-BE49-F238E27FC236}">
                <a16:creationId xmlns:a16="http://schemas.microsoft.com/office/drawing/2014/main" id="{6BCD6B12-0BDD-78E2-36ED-4AC2CF2BD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오디오 딥러닝 구현</a:t>
            </a:r>
          </a:p>
        </p:txBody>
      </p:sp>
    </p:spTree>
    <p:extLst>
      <p:ext uri="{BB962C8B-B14F-4D97-AF65-F5344CB8AC3E}">
        <p14:creationId xmlns:p14="http://schemas.microsoft.com/office/powerpoint/2010/main" val="4130394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8F1FC-4164-7FDB-0CF7-0857BCAF4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2F3B43E-04ED-9EBC-94AE-3FF9F4794627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6486907" y="4038978"/>
            <a:ext cx="519771" cy="1350507"/>
          </a:xfrm>
          <a:prstGeom prst="straightConnector1">
            <a:avLst/>
          </a:prstGeom>
          <a:ln w="28575">
            <a:solidFill>
              <a:srgbClr val="C8DA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61938CA-9C0B-D5C4-B1CE-9418898D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D1B04-A3A5-7303-CAAA-374D5D26A67F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Homework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제목 3">
            <a:extLst>
              <a:ext uri="{FF2B5EF4-FFF2-40B4-BE49-F238E27FC236}">
                <a16:creationId xmlns:a16="http://schemas.microsoft.com/office/drawing/2014/main" id="{72015353-4523-5AD9-9196-7283F23B9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오디오 딥러닝 구현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2E118EC-FBA2-5E17-8FBC-D85415A2A64D}"/>
              </a:ext>
            </a:extLst>
          </p:cNvPr>
          <p:cNvGrpSpPr/>
          <p:nvPr/>
        </p:nvGrpSpPr>
        <p:grpSpPr>
          <a:xfrm>
            <a:off x="4730539" y="2278574"/>
            <a:ext cx="2743201" cy="1893834"/>
            <a:chOff x="2540552" y="1689182"/>
            <a:chExt cx="5008859" cy="3457984"/>
          </a:xfrm>
        </p:grpSpPr>
        <p:pic>
          <p:nvPicPr>
            <p:cNvPr id="26" name="Picture 2" descr="Hidden Layers in Neural Networks | i2tutorials">
              <a:extLst>
                <a:ext uri="{FF2B5EF4-FFF2-40B4-BE49-F238E27FC236}">
                  <a16:creationId xmlns:a16="http://schemas.microsoft.com/office/drawing/2014/main" id="{B95BEB0B-9983-A7FD-E36D-8D79BEF727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7" t="2556" r="69304" b="3334"/>
            <a:stretch/>
          </p:blipFill>
          <p:spPr bwMode="auto">
            <a:xfrm>
              <a:off x="2540552" y="1689183"/>
              <a:ext cx="2128589" cy="34510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Hidden Layers in Neural Networks | i2tutorials">
              <a:extLst>
                <a:ext uri="{FF2B5EF4-FFF2-40B4-BE49-F238E27FC236}">
                  <a16:creationId xmlns:a16="http://schemas.microsoft.com/office/drawing/2014/main" id="{6F03A719-C740-9E73-2E35-5FC1AD2857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975" t="2556" r="2057" b="3334"/>
            <a:stretch/>
          </p:blipFill>
          <p:spPr bwMode="auto">
            <a:xfrm>
              <a:off x="4669143" y="1689182"/>
              <a:ext cx="2880268" cy="3451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2AA1AA56-917E-C91C-8147-1811DDF2E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62155" y="4794692"/>
              <a:ext cx="1933845" cy="352474"/>
            </a:xfrm>
            <a:prstGeom prst="rect">
              <a:avLst/>
            </a:prstGeom>
          </p:spPr>
        </p:pic>
      </p:grp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6CFB046-C397-8586-3822-4CE3B18E0727}"/>
              </a:ext>
            </a:extLst>
          </p:cNvPr>
          <p:cNvCxnSpPr>
            <a:cxnSpLocks/>
          </p:cNvCxnSpPr>
          <p:nvPr/>
        </p:nvCxnSpPr>
        <p:spPr>
          <a:xfrm flipH="1">
            <a:off x="1660667" y="3998960"/>
            <a:ext cx="3069872" cy="1329118"/>
          </a:xfrm>
          <a:prstGeom prst="straightConnector1">
            <a:avLst/>
          </a:prstGeom>
          <a:ln w="28575">
            <a:solidFill>
              <a:srgbClr val="C8DA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DF41723-8B7D-30A0-2776-6A04F2976E09}"/>
              </a:ext>
            </a:extLst>
          </p:cNvPr>
          <p:cNvCxnSpPr>
            <a:cxnSpLocks/>
          </p:cNvCxnSpPr>
          <p:nvPr/>
        </p:nvCxnSpPr>
        <p:spPr>
          <a:xfrm flipH="1">
            <a:off x="3889894" y="3998960"/>
            <a:ext cx="1427273" cy="1332890"/>
          </a:xfrm>
          <a:prstGeom prst="straightConnector1">
            <a:avLst/>
          </a:prstGeom>
          <a:ln w="28575">
            <a:solidFill>
              <a:srgbClr val="C8DA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CDF71FCB-C50C-E500-6256-49FD051E036E}"/>
              </a:ext>
            </a:extLst>
          </p:cNvPr>
          <p:cNvCxnSpPr>
            <a:cxnSpLocks/>
          </p:cNvCxnSpPr>
          <p:nvPr/>
        </p:nvCxnSpPr>
        <p:spPr>
          <a:xfrm>
            <a:off x="7477486" y="3998960"/>
            <a:ext cx="2371724" cy="1346733"/>
          </a:xfrm>
          <a:prstGeom prst="straightConnector1">
            <a:avLst/>
          </a:prstGeom>
          <a:ln w="28575">
            <a:solidFill>
              <a:srgbClr val="C8DA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F390B16-625F-88FD-25F4-334D6C6BF154}"/>
              </a:ext>
            </a:extLst>
          </p:cNvPr>
          <p:cNvSpPr txBox="1"/>
          <p:nvPr/>
        </p:nvSpPr>
        <p:spPr>
          <a:xfrm>
            <a:off x="2497946" y="4507192"/>
            <a:ext cx="1425373" cy="31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Hidden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layer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=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endParaRPr lang="en-US" altLang="ko-KR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1" name="Picture 2" descr="Hidden Layers in Neural Networks | i2tutorials">
            <a:extLst>
              <a:ext uri="{FF2B5EF4-FFF2-40B4-BE49-F238E27FC236}">
                <a16:creationId xmlns:a16="http://schemas.microsoft.com/office/drawing/2014/main" id="{35864609-8703-C133-EE40-DF01311E02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5" t="4559" r="2142" b="4108"/>
          <a:stretch/>
        </p:blipFill>
        <p:spPr bwMode="auto">
          <a:xfrm>
            <a:off x="2700074" y="5389485"/>
            <a:ext cx="2379639" cy="112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E6EC1840-4EE7-6EB1-A1DB-2C890ED1F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528" y="5389485"/>
            <a:ext cx="2960299" cy="1092534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18D9A12-D258-7CCF-E644-AA06FF1531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8035" y="5452149"/>
            <a:ext cx="2960299" cy="895736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76ACBE4B-3689-4116-24CB-86771AC1B39A}"/>
              </a:ext>
            </a:extLst>
          </p:cNvPr>
          <p:cNvSpPr txBox="1"/>
          <p:nvPr/>
        </p:nvSpPr>
        <p:spPr>
          <a:xfrm>
            <a:off x="4159681" y="4507192"/>
            <a:ext cx="1425373" cy="31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Hidden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layer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=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en-US" altLang="ko-KR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46" name="TextBox 6145">
            <a:extLst>
              <a:ext uri="{FF2B5EF4-FFF2-40B4-BE49-F238E27FC236}">
                <a16:creationId xmlns:a16="http://schemas.microsoft.com/office/drawing/2014/main" id="{D9CD34FE-1469-F157-972F-62188A8B8A3E}"/>
              </a:ext>
            </a:extLst>
          </p:cNvPr>
          <p:cNvSpPr txBox="1"/>
          <p:nvPr/>
        </p:nvSpPr>
        <p:spPr>
          <a:xfrm>
            <a:off x="6137164" y="4507192"/>
            <a:ext cx="1425373" cy="31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Hidden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layer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=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en-US" altLang="ko-KR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50" name="TextBox 6149">
            <a:extLst>
              <a:ext uri="{FF2B5EF4-FFF2-40B4-BE49-F238E27FC236}">
                <a16:creationId xmlns:a16="http://schemas.microsoft.com/office/drawing/2014/main" id="{8AF75D58-FBDD-DA80-4D4F-B07EB4F7958F}"/>
              </a:ext>
            </a:extLst>
          </p:cNvPr>
          <p:cNvSpPr txBox="1"/>
          <p:nvPr/>
        </p:nvSpPr>
        <p:spPr>
          <a:xfrm>
            <a:off x="8159378" y="4507192"/>
            <a:ext cx="1425373" cy="31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Hidden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layer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=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en-US" altLang="ko-KR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155" name="그림 6154">
            <a:extLst>
              <a:ext uri="{FF2B5EF4-FFF2-40B4-BE49-F238E27FC236}">
                <a16:creationId xmlns:a16="http://schemas.microsoft.com/office/drawing/2014/main" id="{A199491F-DDAA-F8F7-F4D4-BDF30A5DD2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970" y="5349467"/>
            <a:ext cx="1536093" cy="1207799"/>
          </a:xfrm>
          <a:prstGeom prst="rect">
            <a:avLst/>
          </a:prstGeom>
        </p:spPr>
      </p:pic>
      <p:sp>
        <p:nvSpPr>
          <p:cNvPr id="6159" name="TextBox 6158">
            <a:extLst>
              <a:ext uri="{FF2B5EF4-FFF2-40B4-BE49-F238E27FC236}">
                <a16:creationId xmlns:a16="http://schemas.microsoft.com/office/drawing/2014/main" id="{5183D294-911B-854A-80BA-A8C4FCBA15EE}"/>
              </a:ext>
            </a:extLst>
          </p:cNvPr>
          <p:cNvSpPr txBox="1"/>
          <p:nvPr/>
        </p:nvSpPr>
        <p:spPr>
          <a:xfrm>
            <a:off x="545677" y="1312594"/>
            <a:ext cx="3172854" cy="397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모델 학습 파이프라인 구현</a:t>
            </a:r>
            <a:endParaRPr lang="en-US" altLang="ko-KR" sz="15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60" name="TextBox 6159">
            <a:extLst>
              <a:ext uri="{FF2B5EF4-FFF2-40B4-BE49-F238E27FC236}">
                <a16:creationId xmlns:a16="http://schemas.microsoft.com/office/drawing/2014/main" id="{271C2D9B-216B-BA24-0B26-87DB9477A48E}"/>
              </a:ext>
            </a:extLst>
          </p:cNvPr>
          <p:cNvSpPr txBox="1"/>
          <p:nvPr/>
        </p:nvSpPr>
        <p:spPr>
          <a:xfrm>
            <a:off x="545677" y="1728737"/>
            <a:ext cx="6049982" cy="397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모델의 </a:t>
            </a:r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hidden layer 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층의 개수가</a:t>
            </a:r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0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부터 </a:t>
            </a:r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 경우 모두 구현</a:t>
            </a:r>
            <a:endParaRPr lang="en-US" altLang="ko-KR" sz="15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6744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7C6DA-00F7-D910-9223-7A1EBB1F1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30504FF-5600-1AB7-EB9A-58AB12CCB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95" y="3258541"/>
            <a:ext cx="4232342" cy="2548269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0584601-92C1-97C7-2381-521824EA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FDBE647-BF38-F064-B7D4-488570FB4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데이터 준비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0A404F-BFF1-2A49-1F98-026637E12A2A}"/>
              </a:ext>
            </a:extLst>
          </p:cNvPr>
          <p:cNvSpPr txBox="1"/>
          <p:nvPr/>
        </p:nvSpPr>
        <p:spPr>
          <a:xfrm>
            <a:off x="470262" y="812777"/>
            <a:ext cx="11551409" cy="504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1-1.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라이브러리 불러오기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7BF997-DA36-688E-954E-4F90D394CE37}"/>
              </a:ext>
            </a:extLst>
          </p:cNvPr>
          <p:cNvSpPr txBox="1"/>
          <p:nvPr/>
        </p:nvSpPr>
        <p:spPr>
          <a:xfrm>
            <a:off x="5916020" y="4166080"/>
            <a:ext cx="6794007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2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라이브러리 불러오기</a:t>
            </a:r>
            <a:r>
              <a:rPr lang="en-US" altLang="ko-KR" sz="12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 – </a:t>
            </a:r>
            <a:r>
              <a:rPr lang="ko-KR" altLang="en-US" sz="12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자세한 설명은 다음 페이지들</a:t>
            </a:r>
            <a:r>
              <a:rPr lang="en-US" altLang="ko-KR" sz="12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(p.6 ~ p.9)</a:t>
            </a:r>
            <a:r>
              <a:rPr lang="ko-KR" altLang="en-US" sz="12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참조</a:t>
            </a:r>
            <a:endParaRPr lang="en-US" altLang="ko-KR" sz="130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torch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딥러닝 모델 구현 및 학습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(GPU </a:t>
            </a:r>
            <a:r>
              <a:rPr lang="ko-KR" altLang="en-US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가속 포함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사용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torch.nn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신경망 레이어 및 손실 함수 정의에 사용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torch.utils.data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lang="en-US" altLang="ko-KR" sz="13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DataLoader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: </a:t>
            </a:r>
            <a:r>
              <a:rPr lang="ko-KR" altLang="en-US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학습 데이터의 입력 등 사용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sklearn.model_selection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lang="en-US" altLang="ko-KR" sz="13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train_test_split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): </a:t>
            </a:r>
            <a:r>
              <a:rPr lang="ko-KR" altLang="en-US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학습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 분할에 사용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sklearn.preprocessing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lang="en-US" altLang="ko-KR" sz="13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StandardScaler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): </a:t>
            </a:r>
            <a:r>
              <a:rPr lang="ko-KR" altLang="en-US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특징 값 정규화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사용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3B1B4A5-020C-AA8F-6588-FB77259745BF}"/>
              </a:ext>
            </a:extLst>
          </p:cNvPr>
          <p:cNvGrpSpPr/>
          <p:nvPr/>
        </p:nvGrpSpPr>
        <p:grpSpPr>
          <a:xfrm>
            <a:off x="550379" y="1513892"/>
            <a:ext cx="10892754" cy="1193430"/>
            <a:chOff x="550379" y="1513892"/>
            <a:chExt cx="10892754" cy="1193430"/>
          </a:xfrm>
        </p:grpSpPr>
        <p:sp>
          <p:nvSpPr>
            <p:cNvPr id="8" name="Text 11">
              <a:extLst>
                <a:ext uri="{FF2B5EF4-FFF2-40B4-BE49-F238E27FC236}">
                  <a16:creationId xmlns:a16="http://schemas.microsoft.com/office/drawing/2014/main" id="{AA7C6962-0080-AD90-02A7-48A8DA85B177}"/>
                </a:ext>
              </a:extLst>
            </p:cNvPr>
            <p:cNvSpPr/>
            <p:nvPr/>
          </p:nvSpPr>
          <p:spPr>
            <a:xfrm>
              <a:off x="3124243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9" name="Text 14">
              <a:extLst>
                <a:ext uri="{FF2B5EF4-FFF2-40B4-BE49-F238E27FC236}">
                  <a16:creationId xmlns:a16="http://schemas.microsoft.com/office/drawing/2014/main" id="{DBC8D018-DD9F-2082-E405-622D0D8DBDE8}"/>
                </a:ext>
              </a:extLst>
            </p:cNvPr>
            <p:cNvSpPr/>
            <p:nvPr/>
          </p:nvSpPr>
          <p:spPr>
            <a:xfrm>
              <a:off x="3582123" y="1626218"/>
              <a:ext cx="453814" cy="260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614407F1-468C-33F1-25B9-60E4A4DE62FD}"/>
                </a:ext>
              </a:extLst>
            </p:cNvPr>
            <p:cNvSpPr/>
            <p:nvPr/>
          </p:nvSpPr>
          <p:spPr>
            <a:xfrm>
              <a:off x="550379" y="1519066"/>
              <a:ext cx="2577930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B82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099C3C76-47D2-537E-9F8C-D385524D19FE}"/>
                </a:ext>
              </a:extLst>
            </p:cNvPr>
            <p:cNvSpPr/>
            <p:nvPr/>
          </p:nvSpPr>
          <p:spPr>
            <a:xfrm>
              <a:off x="678395" y="1628794"/>
              <a:ext cx="310896" cy="237744"/>
            </a:xfrm>
            <a:prstGeom prst="rect">
              <a:avLst/>
            </a:prstGeom>
            <a:solidFill>
              <a:srgbClr val="3B82F6"/>
            </a:solidFill>
            <a:ln>
              <a:solidFill>
                <a:srgbClr val="3B82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1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AAA46CE7-1DCB-A349-5DB9-4AD1CB7A82E3}"/>
                </a:ext>
              </a:extLst>
            </p:cNvPr>
            <p:cNvSpPr/>
            <p:nvPr/>
          </p:nvSpPr>
          <p:spPr>
            <a:xfrm>
              <a:off x="1117307" y="1665370"/>
              <a:ext cx="191667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3B82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준비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B8D72BBD-FBFF-29C3-5C8A-680EEBDA7934}"/>
                </a:ext>
              </a:extLst>
            </p:cNvPr>
            <p:cNvSpPr/>
            <p:nvPr/>
          </p:nvSpPr>
          <p:spPr>
            <a:xfrm>
              <a:off x="3428852" y="1514566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8B5C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AE84B049-7FC0-1996-F3DE-BE292FDB29B6}"/>
                </a:ext>
              </a:extLst>
            </p:cNvPr>
            <p:cNvSpPr/>
            <p:nvPr/>
          </p:nvSpPr>
          <p:spPr>
            <a:xfrm>
              <a:off x="6172630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0B981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8144F449-3271-D14D-88A7-9616D55D0FFE}"/>
                </a:ext>
              </a:extLst>
            </p:cNvPr>
            <p:cNvSpPr/>
            <p:nvPr/>
          </p:nvSpPr>
          <p:spPr>
            <a:xfrm>
              <a:off x="8939491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F59E0B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731AB108-6776-B4EA-68CC-5FD797CF9BF6}"/>
                </a:ext>
              </a:extLst>
            </p:cNvPr>
            <p:cNvSpPr/>
            <p:nvPr/>
          </p:nvSpPr>
          <p:spPr>
            <a:xfrm>
              <a:off x="3530645" y="1611310"/>
              <a:ext cx="310896" cy="237744"/>
            </a:xfrm>
            <a:prstGeom prst="rect">
              <a:avLst/>
            </a:prstGeom>
            <a:solidFill>
              <a:srgbClr val="8B5CF6"/>
            </a:solidFill>
            <a:ln>
              <a:solidFill>
                <a:srgbClr val="8B5C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9" name="Text 11">
              <a:extLst>
                <a:ext uri="{FF2B5EF4-FFF2-40B4-BE49-F238E27FC236}">
                  <a16:creationId xmlns:a16="http://schemas.microsoft.com/office/drawing/2014/main" id="{A83F9804-3564-2BB3-7E13-73835C5B1779}"/>
                </a:ext>
              </a:extLst>
            </p:cNvPr>
            <p:cNvSpPr/>
            <p:nvPr/>
          </p:nvSpPr>
          <p:spPr>
            <a:xfrm>
              <a:off x="5867979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20" name="Text 13">
              <a:extLst>
                <a:ext uri="{FF2B5EF4-FFF2-40B4-BE49-F238E27FC236}">
                  <a16:creationId xmlns:a16="http://schemas.microsoft.com/office/drawing/2014/main" id="{DD7667FA-38D1-202E-7BD2-C71BF0C02F83}"/>
                </a:ext>
              </a:extLst>
            </p:cNvPr>
            <p:cNvSpPr/>
            <p:nvPr/>
          </p:nvSpPr>
          <p:spPr>
            <a:xfrm>
              <a:off x="6302247" y="1624164"/>
              <a:ext cx="310896" cy="237744"/>
            </a:xfrm>
            <a:prstGeom prst="rect">
              <a:avLst/>
            </a:prstGeom>
            <a:solidFill>
              <a:srgbClr val="10B981"/>
            </a:solidFill>
            <a:ln>
              <a:solidFill>
                <a:srgbClr val="10B98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3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1" name="Text 14">
              <a:extLst>
                <a:ext uri="{FF2B5EF4-FFF2-40B4-BE49-F238E27FC236}">
                  <a16:creationId xmlns:a16="http://schemas.microsoft.com/office/drawing/2014/main" id="{78CBD7FA-6AC0-A6B6-2E71-AC40527A9892}"/>
                </a:ext>
              </a:extLst>
            </p:cNvPr>
            <p:cNvSpPr/>
            <p:nvPr/>
          </p:nvSpPr>
          <p:spPr>
            <a:xfrm>
              <a:off x="6865012" y="1660740"/>
              <a:ext cx="128016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 err="1">
                  <a:solidFill>
                    <a:srgbClr val="10B98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모델</a:t>
              </a:r>
              <a:r>
                <a:rPr lang="en-US" sz="1700" b="1" dirty="0">
                  <a:solidFill>
                    <a:srgbClr val="10B98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 구</a:t>
              </a:r>
              <a:r>
                <a:rPr lang="ko-KR" altLang="en-US" sz="1700" b="1" dirty="0">
                  <a:solidFill>
                    <a:srgbClr val="10B98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2" name="Text 11">
              <a:extLst>
                <a:ext uri="{FF2B5EF4-FFF2-40B4-BE49-F238E27FC236}">
                  <a16:creationId xmlns:a16="http://schemas.microsoft.com/office/drawing/2014/main" id="{FDAE1B52-21CB-067B-F0D2-132DBC2AABDE}"/>
                </a:ext>
              </a:extLst>
            </p:cNvPr>
            <p:cNvSpPr/>
            <p:nvPr/>
          </p:nvSpPr>
          <p:spPr>
            <a:xfrm>
              <a:off x="8634212" y="2016684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13D9BB1B-3260-829F-E20B-884548929A46}"/>
                </a:ext>
              </a:extLst>
            </p:cNvPr>
            <p:cNvSpPr/>
            <p:nvPr/>
          </p:nvSpPr>
          <p:spPr>
            <a:xfrm>
              <a:off x="9052282" y="1631430"/>
              <a:ext cx="310896" cy="237744"/>
            </a:xfrm>
            <a:prstGeom prst="rect">
              <a:avLst/>
            </a:prstGeom>
            <a:solidFill>
              <a:srgbClr val="F59E0B"/>
            </a:solidFill>
            <a:ln>
              <a:solidFill>
                <a:srgbClr val="F59E0B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4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4EB71F34-F502-550A-DD74-4867FB97E906}"/>
                </a:ext>
              </a:extLst>
            </p:cNvPr>
            <p:cNvSpPr/>
            <p:nvPr/>
          </p:nvSpPr>
          <p:spPr>
            <a:xfrm>
              <a:off x="9583210" y="1640597"/>
              <a:ext cx="1859923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59E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학습 및 평가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9FCC86-6CA3-8B3D-0086-88B8BEDB369D}"/>
              </a:ext>
            </a:extLst>
          </p:cNvPr>
          <p:cNvSpPr/>
          <p:nvPr/>
        </p:nvSpPr>
        <p:spPr>
          <a:xfrm>
            <a:off x="507971" y="1479545"/>
            <a:ext cx="2641188" cy="12616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D479F566-627B-9D2F-B200-B55E56EB7F71}"/>
              </a:ext>
            </a:extLst>
          </p:cNvPr>
          <p:cNvSpPr/>
          <p:nvPr/>
        </p:nvSpPr>
        <p:spPr>
          <a:xfrm>
            <a:off x="4044938" y="1665370"/>
            <a:ext cx="1542720" cy="203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</a:t>
            </a:r>
            <a:r>
              <a:rPr lang="ko-KR" altLang="en-US" sz="1700" b="1" dirty="0" err="1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전처리</a:t>
            </a:r>
            <a:r>
              <a:rPr lang="ko-KR" altLang="en-US" sz="1700" b="1" dirty="0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846048A-34AC-138A-7F2C-14E337DE4FAF}"/>
              </a:ext>
            </a:extLst>
          </p:cNvPr>
          <p:cNvCxnSpPr>
            <a:cxnSpLocks/>
          </p:cNvCxnSpPr>
          <p:nvPr/>
        </p:nvCxnSpPr>
        <p:spPr>
          <a:xfrm>
            <a:off x="1811383" y="4656211"/>
            <a:ext cx="405659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 19">
            <a:extLst>
              <a:ext uri="{FF2B5EF4-FFF2-40B4-BE49-F238E27FC236}">
                <a16:creationId xmlns:a16="http://schemas.microsoft.com/office/drawing/2014/main" id="{E8164C36-BA53-582A-EACA-8501B737C273}"/>
              </a:ext>
            </a:extLst>
          </p:cNvPr>
          <p:cNvSpPr/>
          <p:nvPr/>
        </p:nvSpPr>
        <p:spPr>
          <a:xfrm>
            <a:off x="9583210" y="1754467"/>
            <a:ext cx="14157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</a:t>
            </a:r>
            <a:r>
              <a:rPr lang="en-US" sz="107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</a:t>
            </a:r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구현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4-2. test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검증 평가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4D76F1E9-A947-5F0E-4EBB-BA16744C3574}"/>
              </a:ext>
            </a:extLst>
          </p:cNvPr>
          <p:cNvSpPr/>
          <p:nvPr/>
        </p:nvSpPr>
        <p:spPr>
          <a:xfrm>
            <a:off x="782801" y="1808524"/>
            <a:ext cx="20848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라이브러리 불러오기</a:t>
            </a:r>
            <a:endParaRPr lang="en-US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 데이터셋 불러오기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92D75E45-0CFB-792D-768E-6966192C98AE}"/>
              </a:ext>
            </a:extLst>
          </p:cNvPr>
          <p:cNvSpPr/>
          <p:nvPr/>
        </p:nvSpPr>
        <p:spPr>
          <a:xfrm>
            <a:off x="6688305" y="1768353"/>
            <a:ext cx="19131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3-1. MLP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구현</a:t>
            </a:r>
            <a:endParaRPr lang="en-US" altLang="ko-KR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학습 구성 요소 정의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DF0EBBD9-ED82-9473-157E-514D3681E107}"/>
              </a:ext>
            </a:extLst>
          </p:cNvPr>
          <p:cNvSpPr/>
          <p:nvPr/>
        </p:nvSpPr>
        <p:spPr>
          <a:xfrm>
            <a:off x="3797430" y="1814409"/>
            <a:ext cx="2084832" cy="950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2-1. MFCC </a:t>
            </a:r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추출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2-2.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구성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2-3.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2-4.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5839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EC576-7B18-92CA-CB71-BC2279021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B3A879E-17C9-4A35-7B6E-62C609E0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9785134-2B87-68BB-A4D9-E988DE147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데이터 준비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6939663-17AE-9401-1223-0A99E7F7B34D}"/>
              </a:ext>
            </a:extLst>
          </p:cNvPr>
          <p:cNvSpPr txBox="1"/>
          <p:nvPr/>
        </p:nvSpPr>
        <p:spPr>
          <a:xfrm>
            <a:off x="7996181" y="5331748"/>
            <a:ext cx="4025490" cy="700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loader = </a:t>
            </a: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DataLoader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(dataset, </a:t>
            </a: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batch_size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데이터를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batch_ size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나누어 불러옴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29ACC15-2136-7C2E-EE8B-E353511141C4}"/>
              </a:ext>
            </a:extLst>
          </p:cNvPr>
          <p:cNvGrpSpPr/>
          <p:nvPr/>
        </p:nvGrpSpPr>
        <p:grpSpPr>
          <a:xfrm>
            <a:off x="1487019" y="3835631"/>
            <a:ext cx="1385887" cy="1227302"/>
            <a:chOff x="9529763" y="2265001"/>
            <a:chExt cx="1171956" cy="1037851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8511F33B-7C0A-5692-C796-32102F4A1E4C}"/>
                </a:ext>
              </a:extLst>
            </p:cNvPr>
            <p:cNvGrpSpPr/>
            <p:nvPr/>
          </p:nvGrpSpPr>
          <p:grpSpPr>
            <a:xfrm>
              <a:off x="9529763" y="2265001"/>
              <a:ext cx="1171956" cy="350520"/>
              <a:chOff x="9529763" y="2265001"/>
              <a:chExt cx="1171956" cy="350520"/>
            </a:xfrm>
          </p:grpSpPr>
          <p:sp>
            <p:nvSpPr>
              <p:cNvPr id="2" name="사각형: 둥근 모서리 1">
                <a:extLst>
                  <a:ext uri="{FF2B5EF4-FFF2-40B4-BE49-F238E27FC236}">
                    <a16:creationId xmlns:a16="http://schemas.microsoft.com/office/drawing/2014/main" id="{74082DE0-8AB4-5DBE-1BBB-44AA3F3E9409}"/>
                  </a:ext>
                </a:extLst>
              </p:cNvPr>
              <p:cNvSpPr/>
              <p:nvPr/>
            </p:nvSpPr>
            <p:spPr>
              <a:xfrm>
                <a:off x="9529763" y="2265001"/>
                <a:ext cx="350520" cy="350520"/>
              </a:xfrm>
              <a:prstGeom prst="roundRect">
                <a:avLst/>
              </a:prstGeom>
              <a:solidFill>
                <a:srgbClr val="FAEEDA"/>
              </a:solidFill>
              <a:ln>
                <a:solidFill>
                  <a:srgbClr val="6A411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rgbClr val="6A411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</a:t>
                </a:r>
                <a:endParaRPr lang="ko-KR" altLang="en-US" dirty="0">
                  <a:solidFill>
                    <a:srgbClr val="6A411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14E80360-8037-B519-DAD5-80913E415C8F}"/>
                  </a:ext>
                </a:extLst>
              </p:cNvPr>
              <p:cNvSpPr/>
              <p:nvPr/>
            </p:nvSpPr>
            <p:spPr>
              <a:xfrm>
                <a:off x="9940481" y="2265001"/>
                <a:ext cx="350520" cy="350520"/>
              </a:xfrm>
              <a:prstGeom prst="roundRect">
                <a:avLst/>
              </a:prstGeom>
              <a:solidFill>
                <a:srgbClr val="FAEEDA"/>
              </a:solidFill>
              <a:ln>
                <a:solidFill>
                  <a:srgbClr val="6A411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rgbClr val="6A411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</a:t>
                </a:r>
                <a:endParaRPr lang="ko-KR" altLang="en-US" dirty="0">
                  <a:solidFill>
                    <a:srgbClr val="6A411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0" name="사각형: 둥근 모서리 9">
                <a:extLst>
                  <a:ext uri="{FF2B5EF4-FFF2-40B4-BE49-F238E27FC236}">
                    <a16:creationId xmlns:a16="http://schemas.microsoft.com/office/drawing/2014/main" id="{493DC271-EBCB-1353-5450-6D9CBC8D7B6B}"/>
                  </a:ext>
                </a:extLst>
              </p:cNvPr>
              <p:cNvSpPr/>
              <p:nvPr/>
            </p:nvSpPr>
            <p:spPr>
              <a:xfrm>
                <a:off x="10351199" y="2265001"/>
                <a:ext cx="350520" cy="350520"/>
              </a:xfrm>
              <a:prstGeom prst="roundRect">
                <a:avLst/>
              </a:prstGeom>
              <a:solidFill>
                <a:srgbClr val="FAEEDA"/>
              </a:solidFill>
              <a:ln>
                <a:solidFill>
                  <a:srgbClr val="6A411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rgbClr val="6A411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3</a:t>
                </a:r>
                <a:endParaRPr lang="ko-KR" altLang="en-US" dirty="0">
                  <a:solidFill>
                    <a:srgbClr val="6A411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B03CC67-DF44-9C33-5A8B-55C6CC475346}"/>
                </a:ext>
              </a:extLst>
            </p:cNvPr>
            <p:cNvGrpSpPr/>
            <p:nvPr/>
          </p:nvGrpSpPr>
          <p:grpSpPr>
            <a:xfrm>
              <a:off x="9529763" y="2952310"/>
              <a:ext cx="1171956" cy="350542"/>
              <a:chOff x="9529763" y="2748759"/>
              <a:chExt cx="1171956" cy="350542"/>
            </a:xfrm>
          </p:grpSpPr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8FAF08B6-A085-7F06-C603-5CA7090533BD}"/>
                  </a:ext>
                </a:extLst>
              </p:cNvPr>
              <p:cNvSpPr/>
              <p:nvPr/>
            </p:nvSpPr>
            <p:spPr>
              <a:xfrm>
                <a:off x="9529763" y="2748759"/>
                <a:ext cx="1171956" cy="350520"/>
              </a:xfrm>
              <a:prstGeom prst="roundRect">
                <a:avLst/>
              </a:prstGeom>
              <a:solidFill>
                <a:srgbClr val="FAEEDA"/>
              </a:solidFill>
              <a:ln>
                <a:solidFill>
                  <a:srgbClr val="6A411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6A411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17432E71-4448-4B31-4027-5689690F266F}"/>
                  </a:ext>
                </a:extLst>
              </p:cNvPr>
              <p:cNvSpPr/>
              <p:nvPr/>
            </p:nvSpPr>
            <p:spPr>
              <a:xfrm>
                <a:off x="9529763" y="2748781"/>
                <a:ext cx="350520" cy="3505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rgbClr val="6A411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</a:t>
                </a:r>
                <a:endParaRPr lang="ko-KR" altLang="en-US" dirty="0">
                  <a:solidFill>
                    <a:srgbClr val="6A411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164A329C-92BF-0912-B1E9-6EC0738202C1}"/>
                  </a:ext>
                </a:extLst>
              </p:cNvPr>
              <p:cNvSpPr/>
              <p:nvPr/>
            </p:nvSpPr>
            <p:spPr>
              <a:xfrm>
                <a:off x="9940481" y="2748781"/>
                <a:ext cx="350520" cy="3505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rgbClr val="6A411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</a:t>
                </a:r>
                <a:endParaRPr lang="ko-KR" altLang="en-US" dirty="0">
                  <a:solidFill>
                    <a:srgbClr val="6A411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70E863A2-0FF0-E755-3919-4EA94DC4DC0A}"/>
                  </a:ext>
                </a:extLst>
              </p:cNvPr>
              <p:cNvSpPr/>
              <p:nvPr/>
            </p:nvSpPr>
            <p:spPr>
              <a:xfrm>
                <a:off x="10351199" y="2748781"/>
                <a:ext cx="350520" cy="3505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rgbClr val="6A411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3</a:t>
                </a:r>
                <a:endParaRPr lang="ko-KR" altLang="en-US" dirty="0">
                  <a:solidFill>
                    <a:srgbClr val="6A411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F95180B0-3461-E108-93F5-173E5E6BABD3}"/>
                  </a:ext>
                </a:extLst>
              </p:cNvPr>
              <p:cNvCxnSpPr/>
              <p:nvPr/>
            </p:nvCxnSpPr>
            <p:spPr>
              <a:xfrm>
                <a:off x="9906000" y="2748759"/>
                <a:ext cx="0" cy="350520"/>
              </a:xfrm>
              <a:prstGeom prst="line">
                <a:avLst/>
              </a:prstGeom>
              <a:ln>
                <a:solidFill>
                  <a:srgbClr val="6A411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D5B29F3F-AF7A-16DD-125C-05AE96CBB3E5}"/>
                  </a:ext>
                </a:extLst>
              </p:cNvPr>
              <p:cNvCxnSpPr/>
              <p:nvPr/>
            </p:nvCxnSpPr>
            <p:spPr>
              <a:xfrm>
                <a:off x="10314813" y="2748759"/>
                <a:ext cx="0" cy="350520"/>
              </a:xfrm>
              <a:prstGeom prst="line">
                <a:avLst/>
              </a:prstGeom>
              <a:ln>
                <a:solidFill>
                  <a:srgbClr val="6A411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46C6E240-7E35-9B5B-7498-70D998F3AF20}"/>
                </a:ext>
              </a:extLst>
            </p:cNvPr>
            <p:cNvCxnSpPr>
              <a:cxnSpLocks/>
            </p:cNvCxnSpPr>
            <p:nvPr/>
          </p:nvCxnSpPr>
          <p:spPr>
            <a:xfrm>
              <a:off x="10115741" y="2686774"/>
              <a:ext cx="0" cy="1942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9F6B66C-C1BB-2252-2B87-83FD30F88168}"/>
              </a:ext>
            </a:extLst>
          </p:cNvPr>
          <p:cNvGrpSpPr/>
          <p:nvPr/>
        </p:nvGrpSpPr>
        <p:grpSpPr>
          <a:xfrm>
            <a:off x="8963450" y="3899602"/>
            <a:ext cx="2090952" cy="1099360"/>
            <a:chOff x="9340473" y="5710593"/>
            <a:chExt cx="2090952" cy="1099360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DB99ABC-4119-C36F-D680-7A0270BAEEA6}"/>
                </a:ext>
              </a:extLst>
            </p:cNvPr>
            <p:cNvGrpSpPr/>
            <p:nvPr/>
          </p:nvGrpSpPr>
          <p:grpSpPr>
            <a:xfrm>
              <a:off x="9340473" y="5710593"/>
              <a:ext cx="2090952" cy="1099360"/>
              <a:chOff x="9340473" y="5710593"/>
              <a:chExt cx="2090952" cy="1099360"/>
            </a:xfrm>
          </p:grpSpPr>
          <p:pic>
            <p:nvPicPr>
              <p:cNvPr id="38" name="그래픽 37">
                <a:extLst>
                  <a:ext uri="{FF2B5EF4-FFF2-40B4-BE49-F238E27FC236}">
                    <a16:creationId xmlns:a16="http://schemas.microsoft.com/office/drawing/2014/main" id="{E1936C03-B62B-D9D3-28A0-3645BD9DD5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b="70261"/>
              <a:stretch>
                <a:fillRect/>
              </a:stretch>
            </p:blipFill>
            <p:spPr>
              <a:xfrm>
                <a:off x="9340474" y="5710593"/>
                <a:ext cx="2090951" cy="466370"/>
              </a:xfrm>
              <a:prstGeom prst="rect">
                <a:avLst/>
              </a:prstGeom>
            </p:spPr>
          </p:pic>
          <p:pic>
            <p:nvPicPr>
              <p:cNvPr id="39" name="그래픽 38">
                <a:extLst>
                  <a:ext uri="{FF2B5EF4-FFF2-40B4-BE49-F238E27FC236}">
                    <a16:creationId xmlns:a16="http://schemas.microsoft.com/office/drawing/2014/main" id="{2CA566D6-C369-0C82-5232-774506DDCB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49884" b="22582"/>
              <a:stretch>
                <a:fillRect/>
              </a:stretch>
            </p:blipFill>
            <p:spPr>
              <a:xfrm>
                <a:off x="9340473" y="6378153"/>
                <a:ext cx="2090951" cy="431800"/>
              </a:xfrm>
              <a:prstGeom prst="rect">
                <a:avLst/>
              </a:prstGeom>
            </p:spPr>
          </p:pic>
        </p:grp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7047AB0E-2FDB-F492-0829-B637939FCD2C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448" y="6176963"/>
              <a:ext cx="0" cy="2297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5170315-7E9B-3B0A-234A-3D6351C49490}"/>
              </a:ext>
            </a:extLst>
          </p:cNvPr>
          <p:cNvGrpSpPr/>
          <p:nvPr/>
        </p:nvGrpSpPr>
        <p:grpSpPr>
          <a:xfrm>
            <a:off x="4961697" y="3693082"/>
            <a:ext cx="2268607" cy="1512401"/>
            <a:chOff x="9621821" y="3813580"/>
            <a:chExt cx="2268607" cy="1512401"/>
          </a:xfrm>
        </p:grpSpPr>
        <p:pic>
          <p:nvPicPr>
            <p:cNvPr id="42" name="그래픽 41">
              <a:extLst>
                <a:ext uri="{FF2B5EF4-FFF2-40B4-BE49-F238E27FC236}">
                  <a16:creationId xmlns:a16="http://schemas.microsoft.com/office/drawing/2014/main" id="{F3DBE865-748A-B3FD-E60E-75F84DA17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21821" y="3813580"/>
              <a:ext cx="2268607" cy="1512401"/>
            </a:xfrm>
            <a:prstGeom prst="rect">
              <a:avLst/>
            </a:prstGeom>
          </p:spPr>
        </p:pic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7BB6CEB9-DE73-C74C-7B13-4F31E05B1F7A}"/>
                </a:ext>
              </a:extLst>
            </p:cNvPr>
            <p:cNvCxnSpPr>
              <a:cxnSpLocks/>
            </p:cNvCxnSpPr>
            <p:nvPr/>
          </p:nvCxnSpPr>
          <p:spPr>
            <a:xfrm>
              <a:off x="11432280" y="4568625"/>
              <a:ext cx="340620" cy="0"/>
            </a:xfrm>
            <a:prstGeom prst="straightConnector1">
              <a:avLst/>
            </a:prstGeom>
            <a:ln>
              <a:solidFill>
                <a:srgbClr val="A0845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4FA1F60-4E2F-BDB7-8E39-591812E9E5F4}"/>
              </a:ext>
            </a:extLst>
          </p:cNvPr>
          <p:cNvSpPr txBox="1"/>
          <p:nvPr/>
        </p:nvSpPr>
        <p:spPr>
          <a:xfrm>
            <a:off x="470262" y="812777"/>
            <a:ext cx="11551409" cy="503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1-1.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라이브러리 불러오기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en-US" altLang="ko-KR" sz="20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PyTorch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6BAA84-8D1C-6D93-D6E8-A6BD82ED3545}"/>
              </a:ext>
            </a:extLst>
          </p:cNvPr>
          <p:cNvSpPr txBox="1"/>
          <p:nvPr/>
        </p:nvSpPr>
        <p:spPr>
          <a:xfrm>
            <a:off x="554867" y="5331748"/>
            <a:ext cx="3422467" cy="134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x = torch.tensor([1, 2, 3])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데이터를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만들고 연산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tensor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는 딥러닝 학습에 필요한</a:t>
            </a:r>
            <a:b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자동미분과 </a:t>
            </a:r>
            <a:r>
              <a:rPr lang="en-US" altLang="ko-KR" sz="14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GPU </a:t>
            </a:r>
            <a:r>
              <a:rPr lang="ko-KR" altLang="en-US" sz="14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연산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지원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EC8C0-3B84-88CE-1819-DC4E8CD97CEF}"/>
              </a:ext>
            </a:extLst>
          </p:cNvPr>
          <p:cNvSpPr txBox="1"/>
          <p:nvPr/>
        </p:nvSpPr>
        <p:spPr>
          <a:xfrm>
            <a:off x="4325686" y="5331748"/>
            <a:ext cx="3540627" cy="700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fc = </a:t>
            </a: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nn.Linear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(in, out)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입력 → 출력으로 변환하는 신경망 레이어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8E3F5B-B165-4B4B-1314-CD03E70FA348}"/>
              </a:ext>
            </a:extLst>
          </p:cNvPr>
          <p:cNvSpPr txBox="1"/>
          <p:nvPr/>
        </p:nvSpPr>
        <p:spPr>
          <a:xfrm>
            <a:off x="535295" y="1942970"/>
            <a:ext cx="7680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- </a:t>
            </a:r>
            <a:r>
              <a:rPr lang="en-US" altLang="ko-KR" b="1" dirty="0" err="1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PyTorch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(torch</a:t>
            </a:r>
            <a:r>
              <a:rPr lang="en-US" altLang="ko-KR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: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딥러닝 모델을 구현하고 학습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할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수 있는 라이브러리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CF25E8-365E-2ED3-408B-827373079E5C}"/>
              </a:ext>
            </a:extLst>
          </p:cNvPr>
          <p:cNvSpPr txBox="1"/>
          <p:nvPr/>
        </p:nvSpPr>
        <p:spPr>
          <a:xfrm>
            <a:off x="755369" y="2396561"/>
            <a:ext cx="7460887" cy="1023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torch: </a:t>
            </a:r>
            <a:r>
              <a:rPr lang="ko-KR" altLang="en-US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텐서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연산과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GPU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가속을 담당하는 기본 라이브러리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torch.nn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신경망 모델을 구성하는 레이어와 함수 제공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torch.utils.data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데이터를 효율적으로 불러오기 위한 도구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DDEEAC-FB4F-61AA-D2C1-09A203044814}"/>
              </a:ext>
            </a:extLst>
          </p:cNvPr>
          <p:cNvSpPr txBox="1"/>
          <p:nvPr/>
        </p:nvSpPr>
        <p:spPr>
          <a:xfrm>
            <a:off x="470262" y="1401270"/>
            <a:ext cx="88017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딥러닝 모델 학습에는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연산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신경망 구성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입력 처리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필요</a:t>
            </a:r>
          </a:p>
        </p:txBody>
      </p:sp>
    </p:spTree>
    <p:extLst>
      <p:ext uri="{BB962C8B-B14F-4D97-AF65-F5344CB8AC3E}">
        <p14:creationId xmlns:p14="http://schemas.microsoft.com/office/powerpoint/2010/main" val="970038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7C6DA-00F7-D910-9223-7A1EBB1F1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0584601-92C1-97C7-2381-521824EA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FDBE647-BF38-F064-B7D4-488570FB4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데이터 준비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0A404F-BFF1-2A49-1F98-026637E12A2A}"/>
              </a:ext>
            </a:extLst>
          </p:cNvPr>
          <p:cNvSpPr txBox="1"/>
          <p:nvPr/>
        </p:nvSpPr>
        <p:spPr>
          <a:xfrm>
            <a:off x="470262" y="812777"/>
            <a:ext cx="11551409" cy="503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1-1.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라이브러리 불러오기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en-US" altLang="ko-KR" sz="2000" b="1" dirty="0">
                <a:latin typeface="Calibri" pitchFamily="34" charset="0"/>
                <a:ea typeface="Noto Sans KR" panose="020B0200000000000000"/>
                <a:cs typeface="Calibri" pitchFamily="34" charset="-120"/>
              </a:rPr>
              <a:t>Scikit-learn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7BF997-DA36-688E-954E-4F90D394CE37}"/>
              </a:ext>
            </a:extLst>
          </p:cNvPr>
          <p:cNvSpPr txBox="1"/>
          <p:nvPr/>
        </p:nvSpPr>
        <p:spPr>
          <a:xfrm>
            <a:off x="526822" y="5937851"/>
            <a:ext cx="8775928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즉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, Scikit-learn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은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머신러닝의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주요 단계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분할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전처리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학습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하나의 라이브러리로 제공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예시 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: </a:t>
            </a:r>
            <a:r>
              <a:rPr lang="en-US" altLang="ko-KR" sz="16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sklearn.model_selection</a:t>
            </a:r>
            <a:r>
              <a:rPr lang="en-US" altLang="ko-KR" sz="16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lang="ko-KR" altLang="en-US" sz="16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학습</a:t>
            </a:r>
            <a:r>
              <a:rPr lang="en-US" altLang="ko-KR" sz="16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6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 분할에 사용</a:t>
            </a:r>
            <a:r>
              <a:rPr lang="en-US" altLang="ko-KR" sz="16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B9B101-699D-AC88-4C1B-6601D6820248}"/>
              </a:ext>
            </a:extLst>
          </p:cNvPr>
          <p:cNvSpPr txBox="1"/>
          <p:nvPr/>
        </p:nvSpPr>
        <p:spPr>
          <a:xfrm>
            <a:off x="470262" y="1412359"/>
            <a:ext cx="7460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Scikit-learn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(</a:t>
            </a:r>
            <a:r>
              <a:rPr lang="en-US" altLang="ko-KR" sz="20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sklearn</a:t>
            </a:r>
            <a:r>
              <a:rPr lang="en-US" altLang="ko-KR" sz="2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: </a:t>
            </a:r>
            <a:r>
              <a:rPr lang="en-US" altLang="ko-KR" sz="2000" dirty="0" err="1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머신러닝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altLang="ko-KR" sz="2000" b="1" dirty="0" err="1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파이프라인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altLang="ko-KR" sz="2000" dirty="0" err="1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도구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altLang="ko-KR" sz="2000" dirty="0" err="1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라이브러리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6FB41333-DF55-6809-CCB6-B5CDFECD7B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06" b="3613"/>
          <a:stretch>
            <a:fillRect/>
          </a:stretch>
        </p:blipFill>
        <p:spPr>
          <a:xfrm>
            <a:off x="3163557" y="2694529"/>
            <a:ext cx="5542518" cy="255692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445B1B3-BE79-AC12-05B1-A78DAD47867C}"/>
              </a:ext>
            </a:extLst>
          </p:cNvPr>
          <p:cNvSpPr txBox="1"/>
          <p:nvPr/>
        </p:nvSpPr>
        <p:spPr>
          <a:xfrm>
            <a:off x="470262" y="1886779"/>
            <a:ext cx="9651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 err="1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파이프라인</a:t>
            </a:r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이란</a:t>
            </a:r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?  </a:t>
            </a:r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데이터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분할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→ </a:t>
            </a:r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전처리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→ </a:t>
            </a:r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모델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학습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→ </a:t>
            </a:r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평가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와 같은 코드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흐름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D683AD-B13D-DD49-0AE3-FD5ABF08429F}"/>
              </a:ext>
            </a:extLst>
          </p:cNvPr>
          <p:cNvSpPr txBox="1"/>
          <p:nvPr/>
        </p:nvSpPr>
        <p:spPr>
          <a:xfrm>
            <a:off x="4914786" y="5251450"/>
            <a:ext cx="6118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Sklearn</a:t>
            </a:r>
            <a:r>
              <a:rPr lang="en-US" altLang="ko-KR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패키지 구조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3982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EDBEB-3C12-2409-DFE8-F69F5268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0EAA4BF-08DE-3F09-1298-F218C760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D25CE43-129D-61DF-2682-B028B1532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</a:t>
            </a:r>
            <a:r>
              <a:rPr lang="ko-KR" altLang="en-US"/>
              <a:t>및 응용 </a:t>
            </a:r>
            <a:r>
              <a:rPr lang="en-US" altLang="ko-KR"/>
              <a:t>- </a:t>
            </a:r>
            <a:r>
              <a:rPr lang="ko-KR" altLang="en-US"/>
              <a:t>데이터 준비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C30EF6-D668-953A-92B3-627C3560CECF}"/>
              </a:ext>
            </a:extLst>
          </p:cNvPr>
          <p:cNvSpPr txBox="1"/>
          <p:nvPr/>
        </p:nvSpPr>
        <p:spPr>
          <a:xfrm>
            <a:off x="470262" y="812777"/>
            <a:ext cx="11551409" cy="504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1-1.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라이브러리 불러오기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en-US" altLang="ko-KR" sz="2000" b="1" dirty="0">
                <a:latin typeface="Calibri" pitchFamily="34" charset="0"/>
                <a:ea typeface="Noto Sans KR" panose="020B0200000000000000"/>
                <a:cs typeface="Calibri" pitchFamily="34" charset="-120"/>
              </a:rPr>
              <a:t>Scikit-learn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1E60CC-601B-4172-B0B5-09FF3F786E11}"/>
              </a:ext>
            </a:extLst>
          </p:cNvPr>
          <p:cNvSpPr txBox="1"/>
          <p:nvPr/>
        </p:nvSpPr>
        <p:spPr>
          <a:xfrm>
            <a:off x="577622" y="5930436"/>
            <a:ext cx="10687278" cy="79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왜 데이터를 분할하는가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?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전체</a:t>
            </a:r>
            <a:r>
              <a:rPr lang="en-US" altLang="ko-KR" sz="16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데이터로</a:t>
            </a:r>
            <a:r>
              <a:rPr lang="en-US" altLang="ko-KR" sz="16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학습</a:t>
            </a:r>
            <a:r>
              <a:rPr lang="en-US" altLang="ko-KR" sz="16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, </a:t>
            </a:r>
            <a:r>
              <a:rPr lang="en-US" altLang="ko-KR" sz="1600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같은</a:t>
            </a:r>
            <a:r>
              <a:rPr lang="en-US" altLang="ko-KR" sz="16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데이터로</a:t>
            </a:r>
            <a:r>
              <a:rPr lang="en-US" altLang="ko-KR" sz="16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평가</a:t>
            </a:r>
            <a:r>
              <a:rPr lang="en-US" altLang="ko-KR" sz="16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→ </a:t>
            </a:r>
            <a:r>
              <a:rPr lang="ko-KR" altLang="en-US" sz="16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데이터를 </a:t>
            </a:r>
            <a:r>
              <a:rPr lang="en-US" altLang="ko-KR" sz="1600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외운</a:t>
            </a:r>
            <a:r>
              <a:rPr lang="en-US" altLang="ko-KR" sz="16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건지</a:t>
            </a:r>
            <a:r>
              <a:rPr lang="en-US" altLang="ko-KR" sz="16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실력인지</a:t>
            </a:r>
            <a:r>
              <a:rPr lang="en-US" altLang="ko-KR" sz="16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구분</a:t>
            </a:r>
            <a:r>
              <a:rPr lang="en-US" altLang="ko-KR" sz="16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불가</a:t>
            </a:r>
            <a:r>
              <a:rPr lang="en-US" altLang="ko-KR" sz="16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(</a:t>
            </a:r>
            <a:r>
              <a:rPr lang="ko-KR" altLang="en-US" sz="16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과적합인지 구분 불가함</a:t>
            </a:r>
            <a:r>
              <a:rPr lang="en-US" altLang="ko-KR" sz="16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)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D0B294-4B01-9CA1-1A13-11AFAA4E9B08}"/>
              </a:ext>
            </a:extLst>
          </p:cNvPr>
          <p:cNvSpPr txBox="1"/>
          <p:nvPr/>
        </p:nvSpPr>
        <p:spPr>
          <a:xfrm>
            <a:off x="470262" y="1412359"/>
            <a:ext cx="10934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sklearn.model_selection</a:t>
            </a:r>
            <a:r>
              <a:rPr lang="en-US" altLang="ko-KR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모델을 만들기 전에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데이터를 어떻게 나눠서 실험할지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"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설계하는 모듈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A5B3D7-9EF7-8338-C46B-07529EF3408A}"/>
              </a:ext>
            </a:extLst>
          </p:cNvPr>
          <p:cNvSpPr txBox="1"/>
          <p:nvPr/>
        </p:nvSpPr>
        <p:spPr>
          <a:xfrm>
            <a:off x="775062" y="2159464"/>
            <a:ext cx="9651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train_test_split : </a:t>
            </a:r>
            <a:r>
              <a:rPr lang="en-US" altLang="ko-KR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sklearn.model_selection </a:t>
            </a:r>
            <a:r>
              <a:rPr lang="ko-KR" altLang="en-US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모듈 중 데이터를 학습용과 평가용으로 분리</a:t>
            </a:r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820DBE2-BFFA-5F2F-EC37-C210816691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941"/>
          <a:stretch>
            <a:fillRect/>
          </a:stretch>
        </p:blipFill>
        <p:spPr>
          <a:xfrm>
            <a:off x="2876648" y="2892425"/>
            <a:ext cx="6032304" cy="166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23A176-9FA6-0E00-6226-B16844C17102}"/>
              </a:ext>
            </a:extLst>
          </p:cNvPr>
          <p:cNvSpPr txBox="1"/>
          <p:nvPr/>
        </p:nvSpPr>
        <p:spPr>
          <a:xfrm>
            <a:off x="4003676" y="4417224"/>
            <a:ext cx="6118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train_test_split </a:t>
            </a:r>
            <a:r>
              <a:rPr lang="en-US" altLang="ko-KR" sz="1400">
                <a:latin typeface="Noto Sans KR" panose="020B0200000000000000" pitchFamily="50" charset="-127"/>
                <a:ea typeface="Noto Sans KR" panose="020B0200000000000000" pitchFamily="50" charset="-127"/>
              </a:rPr>
              <a:t>(Train data : 80%, Test data : 20%) </a:t>
            </a:r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3549096E-826F-1CD0-89ED-7F21595EDC03}"/>
              </a:ext>
            </a:extLst>
          </p:cNvPr>
          <p:cNvSpPr/>
          <p:nvPr/>
        </p:nvSpPr>
        <p:spPr>
          <a:xfrm>
            <a:off x="1460500" y="1879600"/>
            <a:ext cx="304800" cy="263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795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9762-E7D8-572F-B785-1BBB55842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CD1FE22-8689-1781-1668-2400E121F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B14F13A-F20A-DADE-44E9-8732F74E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데이터 준비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14403C-48AF-0883-52E6-8AC2231EBD9F}"/>
              </a:ext>
            </a:extLst>
          </p:cNvPr>
          <p:cNvSpPr txBox="1"/>
          <p:nvPr/>
        </p:nvSpPr>
        <p:spPr>
          <a:xfrm>
            <a:off x="470262" y="812777"/>
            <a:ext cx="11551409" cy="504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1-1.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라이브러리 불러오기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en-US" altLang="ko-KR" sz="2000" b="1" dirty="0">
                <a:latin typeface="Calibri" pitchFamily="34" charset="0"/>
                <a:ea typeface="Noto Sans KR" panose="020B0200000000000000"/>
                <a:cs typeface="Calibri" pitchFamily="34" charset="-120"/>
              </a:rPr>
              <a:t>Scikit-learn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188ED0-772D-A724-557C-AC11613B78A6}"/>
              </a:ext>
            </a:extLst>
          </p:cNvPr>
          <p:cNvSpPr txBox="1"/>
          <p:nvPr/>
        </p:nvSpPr>
        <p:spPr>
          <a:xfrm>
            <a:off x="420950" y="5793027"/>
            <a:ext cx="10687278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갈톤보드처럼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랜덤 선택이 반복되면 가운데에 값이 몰리는 정규분포가 만들어짐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현실 데이터도 이런 구조지만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feature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마다 스케일이 달라 그대로 쓰면 왜곡 발생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StandardScaler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</a:t>
            </a: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분포는 유지하면서 스케일을 맞춰 모델이 안정적으로 학습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하게 만듦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3BEB95-83C7-AC6C-FF55-742271881DC7}"/>
              </a:ext>
            </a:extLst>
          </p:cNvPr>
          <p:cNvSpPr txBox="1"/>
          <p:nvPr/>
        </p:nvSpPr>
        <p:spPr>
          <a:xfrm>
            <a:off x="470262" y="1412359"/>
            <a:ext cx="12928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sklearn.preprocessing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데이터를 모델에 넣기 전에 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"feature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값들을 정리하고 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스케일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값의 범위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맞추는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" </a:t>
            </a:r>
            <a:r>
              <a:rPr lang="ko-KR" altLang="en-US" sz="16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전처리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모듈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CE0741-59F3-43D3-29DA-532319AE5E2F}"/>
              </a:ext>
            </a:extLst>
          </p:cNvPr>
          <p:cNvSpPr txBox="1"/>
          <p:nvPr/>
        </p:nvSpPr>
        <p:spPr>
          <a:xfrm>
            <a:off x="1270180" y="2154376"/>
            <a:ext cx="10013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>
                <a:latin typeface="Noto Sans KR" panose="020B0200000000000000" pitchFamily="50" charset="-127"/>
                <a:ea typeface="Noto Sans KR" panose="020B0200000000000000" pitchFamily="50" charset="-127"/>
              </a:rPr>
              <a:t>Scaler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 feature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간 크기 차이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값의 범위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를 맞춰서 모델이 특정 값에 편향되지 않게 해주는 도구</a:t>
            </a:r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442172AE-AC5B-3DEE-9871-9ACB36B43472}"/>
              </a:ext>
            </a:extLst>
          </p:cNvPr>
          <p:cNvSpPr/>
          <p:nvPr/>
        </p:nvSpPr>
        <p:spPr>
          <a:xfrm>
            <a:off x="1460500" y="1834147"/>
            <a:ext cx="304800" cy="263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20260317-0920-25.4270168">
            <a:hlinkClick r:id="" action="ppaction://media"/>
            <a:extLst>
              <a:ext uri="{FF2B5EF4-FFF2-40B4-BE49-F238E27FC236}">
                <a16:creationId xmlns:a16="http://schemas.microsoft.com/office/drawing/2014/main" id="{A012D4C2-C6D9-AC45-28FB-792CEE415F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1889" y="2523708"/>
            <a:ext cx="2152469" cy="27890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0E8D92-37A2-1B2F-7222-524D74D7B0E1}"/>
              </a:ext>
            </a:extLst>
          </p:cNvPr>
          <p:cNvSpPr txBox="1"/>
          <p:nvPr/>
        </p:nvSpPr>
        <p:spPr>
          <a:xfrm>
            <a:off x="1671497" y="5335189"/>
            <a:ext cx="7732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갈톤보드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CD6FA34-D5C5-EC2C-BC5A-332FB4C08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933" y="2585919"/>
            <a:ext cx="6977016" cy="29303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B97E8D-BC36-EB8A-0457-5958C865C451}"/>
              </a:ext>
            </a:extLst>
          </p:cNvPr>
          <p:cNvSpPr txBox="1"/>
          <p:nvPr/>
        </p:nvSpPr>
        <p:spPr>
          <a:xfrm>
            <a:off x="4884253" y="5488780"/>
            <a:ext cx="2785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표준화 전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(Original Data)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DB7B6B-0D05-DF70-46A2-E3EF969FEF20}"/>
              </a:ext>
            </a:extLst>
          </p:cNvPr>
          <p:cNvSpPr txBox="1"/>
          <p:nvPr/>
        </p:nvSpPr>
        <p:spPr>
          <a:xfrm>
            <a:off x="7908617" y="5493643"/>
            <a:ext cx="3305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표준화 후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(Standardized Data)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29E90C-3E06-D00B-7CD7-B558A90AD13B}"/>
              </a:ext>
            </a:extLst>
          </p:cNvPr>
          <p:cNvSpPr txBox="1"/>
          <p:nvPr/>
        </p:nvSpPr>
        <p:spPr>
          <a:xfrm>
            <a:off x="267061" y="5554968"/>
            <a:ext cx="359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https://www.youtube.com/watch?v=EvHiee7gs9Y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1032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3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C9676-58D2-70E1-FA53-8D9ACD423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6F3244C-2A70-85B8-3E54-B6D83CA33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E0FC695-9666-AC5F-F998-D677C6E7B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데이터 준비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76145-84AB-E585-5E2F-9F1C27C3CD07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1-2.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오디오 데이터셋 불러오기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4B5F8E5-CD9A-FA0F-0CFD-DF57543ACEC1}"/>
              </a:ext>
            </a:extLst>
          </p:cNvPr>
          <p:cNvGrpSpPr/>
          <p:nvPr/>
        </p:nvGrpSpPr>
        <p:grpSpPr>
          <a:xfrm>
            <a:off x="6515029" y="4958040"/>
            <a:ext cx="5411865" cy="1611335"/>
            <a:chOff x="7092057" y="4192209"/>
            <a:chExt cx="4306603" cy="256864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15C0CBF-6667-8E68-63F8-46B3BBE3F965}"/>
                </a:ext>
              </a:extLst>
            </p:cNvPr>
            <p:cNvSpPr txBox="1"/>
            <p:nvPr/>
          </p:nvSpPr>
          <p:spPr>
            <a:xfrm>
              <a:off x="7092058" y="4192209"/>
              <a:ext cx="3432540" cy="4906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[</a:t>
              </a:r>
              <a:r>
                <a:rPr lang="ko-KR" altLang="en-US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라벨 데이터 </a:t>
              </a:r>
              <a:r>
                <a:rPr lang="en-US" altLang="ko-KR" sz="14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csv </a:t>
              </a:r>
              <a:r>
                <a:rPr lang="ko-KR" altLang="en-US" sz="14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파일 불러</a:t>
              </a:r>
              <a:r>
                <a:rPr lang="ko-KR" altLang="en-US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오기 결과</a:t>
              </a:r>
              <a:r>
                <a:rPr lang="en-US" altLang="ko-KR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] 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2B5C9F0-9879-FE63-6F27-FDAA72DEA7B2}"/>
                </a:ext>
              </a:extLst>
            </p:cNvPr>
            <p:cNvSpPr/>
            <p:nvPr/>
          </p:nvSpPr>
          <p:spPr>
            <a:xfrm>
              <a:off x="7092057" y="4192210"/>
              <a:ext cx="4306603" cy="25686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CF4D50E-D508-B611-103E-A744E27A7FDA}"/>
              </a:ext>
            </a:extLst>
          </p:cNvPr>
          <p:cNvGrpSpPr/>
          <p:nvPr/>
        </p:nvGrpSpPr>
        <p:grpSpPr>
          <a:xfrm>
            <a:off x="461917" y="3146246"/>
            <a:ext cx="5497227" cy="1285480"/>
            <a:chOff x="428716" y="3093738"/>
            <a:chExt cx="5497227" cy="128548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577F38E-B27C-00A7-DFE7-A3BD7DD940EE}"/>
                </a:ext>
              </a:extLst>
            </p:cNvPr>
            <p:cNvSpPr txBox="1"/>
            <p:nvPr/>
          </p:nvSpPr>
          <p:spPr>
            <a:xfrm>
              <a:off x="428716" y="3093738"/>
              <a:ext cx="318364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[</a:t>
              </a:r>
              <a:r>
                <a:rPr lang="ko-KR" altLang="en-US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오디오 데이터셋 </a:t>
              </a:r>
              <a:r>
                <a:rPr lang="ko-KR" altLang="en-US" sz="14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불러</a:t>
              </a:r>
              <a:r>
                <a:rPr lang="ko-KR" altLang="en-US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오기</a:t>
              </a:r>
              <a:r>
                <a:rPr lang="en-US" altLang="ko-KR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D1DD3F9-AF70-31B4-35C7-5F24AD429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8304" y="3711047"/>
              <a:ext cx="5477639" cy="668171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54C6CAF-E64A-946D-6164-98AE6D410045}"/>
              </a:ext>
            </a:extLst>
          </p:cNvPr>
          <p:cNvGrpSpPr/>
          <p:nvPr/>
        </p:nvGrpSpPr>
        <p:grpSpPr>
          <a:xfrm>
            <a:off x="447848" y="4920801"/>
            <a:ext cx="5537762" cy="1194531"/>
            <a:chOff x="428716" y="4509291"/>
            <a:chExt cx="5537762" cy="119453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9D1A8D9-594A-48CD-638C-3D028A80E286}"/>
                </a:ext>
              </a:extLst>
            </p:cNvPr>
            <p:cNvSpPr txBox="1"/>
            <p:nvPr/>
          </p:nvSpPr>
          <p:spPr>
            <a:xfrm>
              <a:off x="428716" y="4509291"/>
              <a:ext cx="3432540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[</a:t>
              </a:r>
              <a:r>
                <a:rPr lang="ko-KR" altLang="en-US" sz="14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라벨 데이터 </a:t>
              </a:r>
              <a:r>
                <a:rPr lang="en-US" altLang="ko-KR" sz="14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CSV </a:t>
              </a:r>
              <a:r>
                <a:rPr lang="ko-KR" altLang="en-US" sz="14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파일 불러오기</a:t>
              </a:r>
              <a:r>
                <a:rPr lang="en-US" altLang="ko-KR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] 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0634501-45B3-BD59-1187-94BE5E375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8839" y="4957745"/>
              <a:ext cx="5477639" cy="746077"/>
            </a:xfrm>
            <a:prstGeom prst="rect">
              <a:avLst/>
            </a:prstGeom>
          </p:spPr>
        </p:pic>
      </p:grp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7BAC80E-9BD2-8419-B84D-78169D980CD4}"/>
              </a:ext>
            </a:extLst>
          </p:cNvPr>
          <p:cNvCxnSpPr>
            <a:cxnSpLocks/>
          </p:cNvCxnSpPr>
          <p:nvPr/>
        </p:nvCxnSpPr>
        <p:spPr>
          <a:xfrm>
            <a:off x="1745063" y="5959174"/>
            <a:ext cx="48838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09A770E3-0830-B095-6ED8-BC313855E062}"/>
              </a:ext>
            </a:extLst>
          </p:cNvPr>
          <p:cNvGrpSpPr/>
          <p:nvPr/>
        </p:nvGrpSpPr>
        <p:grpSpPr>
          <a:xfrm>
            <a:off x="550379" y="1513892"/>
            <a:ext cx="10892754" cy="1193430"/>
            <a:chOff x="550379" y="1513892"/>
            <a:chExt cx="10892754" cy="1193430"/>
          </a:xfrm>
        </p:grpSpPr>
        <p:sp>
          <p:nvSpPr>
            <p:cNvPr id="6" name="Text 11">
              <a:extLst>
                <a:ext uri="{FF2B5EF4-FFF2-40B4-BE49-F238E27FC236}">
                  <a16:creationId xmlns:a16="http://schemas.microsoft.com/office/drawing/2014/main" id="{616E0D9C-DAD1-4854-62B9-90883867E435}"/>
                </a:ext>
              </a:extLst>
            </p:cNvPr>
            <p:cNvSpPr/>
            <p:nvPr/>
          </p:nvSpPr>
          <p:spPr>
            <a:xfrm>
              <a:off x="3124243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7" name="Text 14">
              <a:extLst>
                <a:ext uri="{FF2B5EF4-FFF2-40B4-BE49-F238E27FC236}">
                  <a16:creationId xmlns:a16="http://schemas.microsoft.com/office/drawing/2014/main" id="{39FEDC5F-8951-325A-6F15-892CF39AB324}"/>
                </a:ext>
              </a:extLst>
            </p:cNvPr>
            <p:cNvSpPr/>
            <p:nvPr/>
          </p:nvSpPr>
          <p:spPr>
            <a:xfrm>
              <a:off x="3582123" y="1626218"/>
              <a:ext cx="453814" cy="260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32BEFD1B-D05F-1746-015F-EBEBCAE76294}"/>
                </a:ext>
              </a:extLst>
            </p:cNvPr>
            <p:cNvSpPr/>
            <p:nvPr/>
          </p:nvSpPr>
          <p:spPr>
            <a:xfrm>
              <a:off x="550379" y="1519066"/>
              <a:ext cx="2577930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B82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7214D26D-E6EB-00DD-C2E5-B88C1261212D}"/>
                </a:ext>
              </a:extLst>
            </p:cNvPr>
            <p:cNvSpPr/>
            <p:nvPr/>
          </p:nvSpPr>
          <p:spPr>
            <a:xfrm>
              <a:off x="678395" y="1628794"/>
              <a:ext cx="310896" cy="237744"/>
            </a:xfrm>
            <a:prstGeom prst="rect">
              <a:avLst/>
            </a:prstGeom>
            <a:solidFill>
              <a:srgbClr val="3B82F6"/>
            </a:solidFill>
            <a:ln>
              <a:solidFill>
                <a:srgbClr val="3B82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1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62A296A6-A74E-F55F-2591-72A15DAFD29F}"/>
                </a:ext>
              </a:extLst>
            </p:cNvPr>
            <p:cNvSpPr/>
            <p:nvPr/>
          </p:nvSpPr>
          <p:spPr>
            <a:xfrm>
              <a:off x="1117307" y="1665370"/>
              <a:ext cx="191667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3B82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준비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07796D09-982C-393A-408A-AD4330276A23}"/>
                </a:ext>
              </a:extLst>
            </p:cNvPr>
            <p:cNvSpPr/>
            <p:nvPr/>
          </p:nvSpPr>
          <p:spPr>
            <a:xfrm>
              <a:off x="3428852" y="1514566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8B5C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65C2FACC-C71F-FC2A-AB70-CF8BD8C68128}"/>
                </a:ext>
              </a:extLst>
            </p:cNvPr>
            <p:cNvSpPr/>
            <p:nvPr/>
          </p:nvSpPr>
          <p:spPr>
            <a:xfrm>
              <a:off x="6172630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0B981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621784A6-8D24-9260-40CB-90D30B6BB76B}"/>
                </a:ext>
              </a:extLst>
            </p:cNvPr>
            <p:cNvSpPr/>
            <p:nvPr/>
          </p:nvSpPr>
          <p:spPr>
            <a:xfrm>
              <a:off x="8939491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F59E0B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0D3C06F4-C288-BF61-25AA-8A43F89F4307}"/>
                </a:ext>
              </a:extLst>
            </p:cNvPr>
            <p:cNvSpPr/>
            <p:nvPr/>
          </p:nvSpPr>
          <p:spPr>
            <a:xfrm>
              <a:off x="3530645" y="1611310"/>
              <a:ext cx="310896" cy="237744"/>
            </a:xfrm>
            <a:prstGeom prst="rect">
              <a:avLst/>
            </a:prstGeom>
            <a:solidFill>
              <a:srgbClr val="8B5CF6"/>
            </a:solidFill>
            <a:ln>
              <a:solidFill>
                <a:srgbClr val="8B5C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5" name="Text 11">
              <a:extLst>
                <a:ext uri="{FF2B5EF4-FFF2-40B4-BE49-F238E27FC236}">
                  <a16:creationId xmlns:a16="http://schemas.microsoft.com/office/drawing/2014/main" id="{4105499E-91B7-9CCD-9433-028CD5787234}"/>
                </a:ext>
              </a:extLst>
            </p:cNvPr>
            <p:cNvSpPr/>
            <p:nvPr/>
          </p:nvSpPr>
          <p:spPr>
            <a:xfrm>
              <a:off x="5867979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26" name="Text 13">
              <a:extLst>
                <a:ext uri="{FF2B5EF4-FFF2-40B4-BE49-F238E27FC236}">
                  <a16:creationId xmlns:a16="http://schemas.microsoft.com/office/drawing/2014/main" id="{E5C295D9-EFD8-9065-6CB4-072F3852F6FF}"/>
                </a:ext>
              </a:extLst>
            </p:cNvPr>
            <p:cNvSpPr/>
            <p:nvPr/>
          </p:nvSpPr>
          <p:spPr>
            <a:xfrm>
              <a:off x="6302247" y="1624164"/>
              <a:ext cx="310896" cy="237744"/>
            </a:xfrm>
            <a:prstGeom prst="rect">
              <a:avLst/>
            </a:prstGeom>
            <a:solidFill>
              <a:srgbClr val="10B981"/>
            </a:solidFill>
            <a:ln>
              <a:solidFill>
                <a:srgbClr val="10B98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3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B6026641-180F-330E-1E13-07137FD82EFA}"/>
                </a:ext>
              </a:extLst>
            </p:cNvPr>
            <p:cNvSpPr/>
            <p:nvPr/>
          </p:nvSpPr>
          <p:spPr>
            <a:xfrm>
              <a:off x="8634212" y="2016684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30" name="Text 17">
              <a:extLst>
                <a:ext uri="{FF2B5EF4-FFF2-40B4-BE49-F238E27FC236}">
                  <a16:creationId xmlns:a16="http://schemas.microsoft.com/office/drawing/2014/main" id="{9749CEF6-5D7C-6FB6-E21A-313C1F6C55BB}"/>
                </a:ext>
              </a:extLst>
            </p:cNvPr>
            <p:cNvSpPr/>
            <p:nvPr/>
          </p:nvSpPr>
          <p:spPr>
            <a:xfrm>
              <a:off x="9052282" y="1631430"/>
              <a:ext cx="310896" cy="237744"/>
            </a:xfrm>
            <a:prstGeom prst="rect">
              <a:avLst/>
            </a:prstGeom>
            <a:solidFill>
              <a:srgbClr val="F59E0B"/>
            </a:solidFill>
            <a:ln>
              <a:solidFill>
                <a:srgbClr val="F59E0B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4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CDF7C67A-35A3-7A3C-337F-1732789B5422}"/>
                </a:ext>
              </a:extLst>
            </p:cNvPr>
            <p:cNvSpPr/>
            <p:nvPr/>
          </p:nvSpPr>
          <p:spPr>
            <a:xfrm>
              <a:off x="9583210" y="1640597"/>
              <a:ext cx="1859923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59E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학습 및 평가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61D98A2-E4F8-B829-3CA0-DC230BEBAA35}"/>
              </a:ext>
            </a:extLst>
          </p:cNvPr>
          <p:cNvSpPr/>
          <p:nvPr/>
        </p:nvSpPr>
        <p:spPr>
          <a:xfrm>
            <a:off x="507971" y="1479545"/>
            <a:ext cx="2641188" cy="12616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64665A9B-0EDB-B4CF-44B6-19BABE5C12C2}"/>
              </a:ext>
            </a:extLst>
          </p:cNvPr>
          <p:cNvSpPr/>
          <p:nvPr/>
        </p:nvSpPr>
        <p:spPr>
          <a:xfrm>
            <a:off x="4044938" y="1665370"/>
            <a:ext cx="1542720" cy="203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</a:t>
            </a:r>
            <a:r>
              <a:rPr lang="ko-KR" altLang="en-US" sz="1700" b="1" dirty="0" err="1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전처리</a:t>
            </a:r>
            <a:r>
              <a:rPr lang="ko-KR" altLang="en-US" sz="1700" b="1" dirty="0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4E86C7CB-7E4E-1833-C5C8-3F5BBF2404D3}"/>
              </a:ext>
            </a:extLst>
          </p:cNvPr>
          <p:cNvSpPr/>
          <p:nvPr/>
        </p:nvSpPr>
        <p:spPr>
          <a:xfrm>
            <a:off x="6865012" y="166074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</a:t>
            </a:r>
            <a:r>
              <a:rPr 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구</a:t>
            </a:r>
            <a:r>
              <a:rPr lang="ko-KR" alt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현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5FEF1CA-F686-5A32-71DE-1820F2D6D7CC}"/>
              </a:ext>
            </a:extLst>
          </p:cNvPr>
          <p:cNvGrpSpPr/>
          <p:nvPr/>
        </p:nvGrpSpPr>
        <p:grpSpPr>
          <a:xfrm>
            <a:off x="6519105" y="3948903"/>
            <a:ext cx="5411865" cy="727290"/>
            <a:chOff x="6515029" y="3554568"/>
            <a:chExt cx="5411865" cy="727290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8CEB76C9-F211-7CDD-5773-7BAADC370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" r="68337" b="85249"/>
            <a:stretch>
              <a:fillRect/>
            </a:stretch>
          </p:blipFill>
          <p:spPr>
            <a:xfrm>
              <a:off x="6575730" y="3866697"/>
              <a:ext cx="2515883" cy="302119"/>
            </a:xfrm>
            <a:prstGeom prst="rect">
              <a:avLst/>
            </a:prstGeom>
          </p:spPr>
        </p:pic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CDABB330-B305-FEFA-432D-582087C95466}"/>
                </a:ext>
              </a:extLst>
            </p:cNvPr>
            <p:cNvGrpSpPr/>
            <p:nvPr/>
          </p:nvGrpSpPr>
          <p:grpSpPr>
            <a:xfrm>
              <a:off x="6515029" y="3554568"/>
              <a:ext cx="5411865" cy="727290"/>
              <a:chOff x="7092057" y="4192209"/>
              <a:chExt cx="4306603" cy="2568649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7398F99-1E63-A423-3960-30EC2187D463}"/>
                  </a:ext>
                </a:extLst>
              </p:cNvPr>
              <p:cNvSpPr txBox="1"/>
              <p:nvPr/>
            </p:nvSpPr>
            <p:spPr>
              <a:xfrm>
                <a:off x="7092058" y="4192209"/>
                <a:ext cx="3432540" cy="1087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b="1" i="0" dirty="0">
                    <a:solidFill>
                      <a:srgbClr val="000000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[</a:t>
                </a:r>
                <a:r>
                  <a:rPr lang="ko-KR" altLang="en-US" sz="1400" b="1" i="0" dirty="0">
                    <a:solidFill>
                      <a:srgbClr val="000000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오디오 데이터셋 불러오기 결과</a:t>
                </a:r>
                <a:r>
                  <a:rPr lang="en-US" altLang="ko-KR" sz="1400" b="1" i="0" dirty="0">
                    <a:solidFill>
                      <a:srgbClr val="000000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] </a:t>
                </a: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B9F3BE3B-6DB7-0C21-6F05-0EF4D5C217F4}"/>
                  </a:ext>
                </a:extLst>
              </p:cNvPr>
              <p:cNvSpPr/>
              <p:nvPr/>
            </p:nvSpPr>
            <p:spPr>
              <a:xfrm>
                <a:off x="7092057" y="4192210"/>
                <a:ext cx="4306603" cy="25686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4762F7F1-093E-5B70-A01B-C31E0821AB41}"/>
              </a:ext>
            </a:extLst>
          </p:cNvPr>
          <p:cNvCxnSpPr>
            <a:cxnSpLocks/>
          </p:cNvCxnSpPr>
          <p:nvPr/>
        </p:nvCxnSpPr>
        <p:spPr>
          <a:xfrm>
            <a:off x="3444601" y="4304884"/>
            <a:ext cx="31652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244AFA4-326A-C9BA-1F85-ED9A586A545A}"/>
              </a:ext>
            </a:extLst>
          </p:cNvPr>
          <p:cNvSpPr txBox="1"/>
          <p:nvPr/>
        </p:nvSpPr>
        <p:spPr>
          <a:xfrm>
            <a:off x="418816" y="3460521"/>
            <a:ext cx="72256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CMU-MOSI </a:t>
            </a:r>
            <a:r>
              <a:rPr lang="ko-KR" altLang="en-US" sz="120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오디오 데이터셋과 라벨 데이터 </a:t>
            </a:r>
            <a:r>
              <a:rPr lang="en-US" altLang="ko-KR" sz="120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csv </a:t>
            </a:r>
            <a:r>
              <a:rPr lang="ko-KR" alt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파일은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바탕화면 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en-US" altLang="ko-KR" sz="1200" b="1" i="0" dirty="0" err="1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deeplearning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폴더에 준비</a:t>
            </a:r>
            <a:r>
              <a:rPr lang="ko-KR" altLang="en-US" sz="120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되어 있습니다</a:t>
            </a:r>
            <a:r>
              <a:rPr lang="en-US" altLang="ko-KR" sz="120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/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55B683C9-EEB2-58B8-6FCA-2E96E9E987F6}"/>
              </a:ext>
            </a:extLst>
          </p:cNvPr>
          <p:cNvSpPr/>
          <p:nvPr/>
        </p:nvSpPr>
        <p:spPr>
          <a:xfrm>
            <a:off x="782801" y="1808524"/>
            <a:ext cx="20848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라이브러리 불러오기</a:t>
            </a:r>
            <a:endParaRPr lang="en-US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 데이터셋 불러오기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7BCF1500-9AE1-8566-35CF-54CC63A93139}"/>
              </a:ext>
            </a:extLst>
          </p:cNvPr>
          <p:cNvSpPr/>
          <p:nvPr/>
        </p:nvSpPr>
        <p:spPr>
          <a:xfrm>
            <a:off x="9583210" y="1754467"/>
            <a:ext cx="14157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</a:t>
            </a:r>
            <a:r>
              <a:rPr lang="en-US" sz="107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</a:t>
            </a:r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구현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4-2. test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검증 평가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1CD12962-8371-09A0-76F8-80B628D3DB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938" y="5329349"/>
            <a:ext cx="5079534" cy="1069968"/>
          </a:xfrm>
          <a:prstGeom prst="rect">
            <a:avLst/>
          </a:prstGeom>
        </p:spPr>
      </p:pic>
      <p:sp>
        <p:nvSpPr>
          <p:cNvPr id="37" name="Text 15">
            <a:extLst>
              <a:ext uri="{FF2B5EF4-FFF2-40B4-BE49-F238E27FC236}">
                <a16:creationId xmlns:a16="http://schemas.microsoft.com/office/drawing/2014/main" id="{9CBCEA90-314C-35CF-BF4D-BE3DFCBC1145}"/>
              </a:ext>
            </a:extLst>
          </p:cNvPr>
          <p:cNvSpPr/>
          <p:nvPr/>
        </p:nvSpPr>
        <p:spPr>
          <a:xfrm>
            <a:off x="6688305" y="1768353"/>
            <a:ext cx="19131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3-1. MLP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구현</a:t>
            </a:r>
            <a:endParaRPr lang="en-US" altLang="ko-KR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학습 구성 요소 정의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B901EDA0-C6EB-8CB7-E10F-EAA461E05C8D}"/>
              </a:ext>
            </a:extLst>
          </p:cNvPr>
          <p:cNvSpPr/>
          <p:nvPr/>
        </p:nvSpPr>
        <p:spPr>
          <a:xfrm>
            <a:off x="3797430" y="1814409"/>
            <a:ext cx="2084832" cy="950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2-1. MFCC </a:t>
            </a:r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추출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2-2.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구성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2-3.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2-4.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968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1B4C2-0682-9189-CF40-B6ADAF72D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B5CC71F-0356-60FA-B74E-954ABA3CD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0B07DBE-7B1D-C42B-5EFE-08F2C1037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8693A-5792-2CC1-7239-E870138131EA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2-1. MFCC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특징 추출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8EFF613-E78D-C157-8301-6DB7C8B884EC}"/>
              </a:ext>
            </a:extLst>
          </p:cNvPr>
          <p:cNvGrpSpPr/>
          <p:nvPr/>
        </p:nvGrpSpPr>
        <p:grpSpPr>
          <a:xfrm>
            <a:off x="550379" y="1513892"/>
            <a:ext cx="10892754" cy="1193430"/>
            <a:chOff x="550379" y="1513892"/>
            <a:chExt cx="10892754" cy="1193430"/>
          </a:xfrm>
        </p:grpSpPr>
        <p:sp>
          <p:nvSpPr>
            <p:cNvPr id="6" name="Text 11">
              <a:extLst>
                <a:ext uri="{FF2B5EF4-FFF2-40B4-BE49-F238E27FC236}">
                  <a16:creationId xmlns:a16="http://schemas.microsoft.com/office/drawing/2014/main" id="{D3914DEF-CF7A-3CFC-9DFF-0735CE09C292}"/>
                </a:ext>
              </a:extLst>
            </p:cNvPr>
            <p:cNvSpPr/>
            <p:nvPr/>
          </p:nvSpPr>
          <p:spPr>
            <a:xfrm>
              <a:off x="3124243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10" name="Text 14">
              <a:extLst>
                <a:ext uri="{FF2B5EF4-FFF2-40B4-BE49-F238E27FC236}">
                  <a16:creationId xmlns:a16="http://schemas.microsoft.com/office/drawing/2014/main" id="{9D15DD49-818E-D0E9-97CA-641412168F83}"/>
                </a:ext>
              </a:extLst>
            </p:cNvPr>
            <p:cNvSpPr/>
            <p:nvPr/>
          </p:nvSpPr>
          <p:spPr>
            <a:xfrm>
              <a:off x="3582123" y="1626218"/>
              <a:ext cx="453814" cy="260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27CC9BEF-C392-411B-A969-6DE56947C2D4}"/>
                </a:ext>
              </a:extLst>
            </p:cNvPr>
            <p:cNvSpPr/>
            <p:nvPr/>
          </p:nvSpPr>
          <p:spPr>
            <a:xfrm>
              <a:off x="550379" y="1519066"/>
              <a:ext cx="2577930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B82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4BE379CE-5895-0BEE-70B1-448C702E7720}"/>
                </a:ext>
              </a:extLst>
            </p:cNvPr>
            <p:cNvSpPr/>
            <p:nvPr/>
          </p:nvSpPr>
          <p:spPr>
            <a:xfrm>
              <a:off x="678395" y="1628794"/>
              <a:ext cx="310896" cy="237744"/>
            </a:xfrm>
            <a:prstGeom prst="rect">
              <a:avLst/>
            </a:prstGeom>
            <a:solidFill>
              <a:srgbClr val="3B82F6"/>
            </a:solidFill>
            <a:ln>
              <a:solidFill>
                <a:srgbClr val="3B82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1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36EE0E3F-EA91-FCE3-3667-684A6FC556A0}"/>
                </a:ext>
              </a:extLst>
            </p:cNvPr>
            <p:cNvSpPr/>
            <p:nvPr/>
          </p:nvSpPr>
          <p:spPr>
            <a:xfrm>
              <a:off x="1117307" y="1665370"/>
              <a:ext cx="191667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3B82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준비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0" name="Text 8">
              <a:extLst>
                <a:ext uri="{FF2B5EF4-FFF2-40B4-BE49-F238E27FC236}">
                  <a16:creationId xmlns:a16="http://schemas.microsoft.com/office/drawing/2014/main" id="{91932AE9-8990-D112-5529-A183E5159266}"/>
                </a:ext>
              </a:extLst>
            </p:cNvPr>
            <p:cNvSpPr/>
            <p:nvPr/>
          </p:nvSpPr>
          <p:spPr>
            <a:xfrm>
              <a:off x="3428852" y="1514566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8B5C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D0439CE1-2A49-C56F-6A39-402C6107E6FF}"/>
                </a:ext>
              </a:extLst>
            </p:cNvPr>
            <p:cNvSpPr/>
            <p:nvPr/>
          </p:nvSpPr>
          <p:spPr>
            <a:xfrm>
              <a:off x="4044938" y="1665370"/>
              <a:ext cx="1542720" cy="2038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1700" b="1" dirty="0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</a:t>
              </a:r>
              <a:r>
                <a:rPr lang="ko-KR" altLang="en-US" sz="1700" b="1" dirty="0" err="1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전처리</a:t>
              </a:r>
              <a:r>
                <a:rPr lang="ko-KR" altLang="en-US" sz="1700" b="1" dirty="0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 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4" name="Text 12">
              <a:extLst>
                <a:ext uri="{FF2B5EF4-FFF2-40B4-BE49-F238E27FC236}">
                  <a16:creationId xmlns:a16="http://schemas.microsoft.com/office/drawing/2014/main" id="{ADAE116B-4619-E642-85F3-583B28C71336}"/>
                </a:ext>
              </a:extLst>
            </p:cNvPr>
            <p:cNvSpPr/>
            <p:nvPr/>
          </p:nvSpPr>
          <p:spPr>
            <a:xfrm>
              <a:off x="6172630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0B981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5" name="Text 16">
              <a:extLst>
                <a:ext uri="{FF2B5EF4-FFF2-40B4-BE49-F238E27FC236}">
                  <a16:creationId xmlns:a16="http://schemas.microsoft.com/office/drawing/2014/main" id="{7E55A289-1D94-411E-A589-526C2150FCF4}"/>
                </a:ext>
              </a:extLst>
            </p:cNvPr>
            <p:cNvSpPr/>
            <p:nvPr/>
          </p:nvSpPr>
          <p:spPr>
            <a:xfrm>
              <a:off x="8939491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F59E0B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6" name="Text 9">
              <a:extLst>
                <a:ext uri="{FF2B5EF4-FFF2-40B4-BE49-F238E27FC236}">
                  <a16:creationId xmlns:a16="http://schemas.microsoft.com/office/drawing/2014/main" id="{E94ED85F-551D-AE7C-14FF-AB9D6C05AACA}"/>
                </a:ext>
              </a:extLst>
            </p:cNvPr>
            <p:cNvSpPr/>
            <p:nvPr/>
          </p:nvSpPr>
          <p:spPr>
            <a:xfrm>
              <a:off x="3530645" y="1611310"/>
              <a:ext cx="310896" cy="237744"/>
            </a:xfrm>
            <a:prstGeom prst="rect">
              <a:avLst/>
            </a:prstGeom>
            <a:solidFill>
              <a:srgbClr val="8B5CF6"/>
            </a:solidFill>
            <a:ln>
              <a:solidFill>
                <a:srgbClr val="8B5C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4C4C0261-9A06-5185-A4FC-51014EA1342E}"/>
                </a:ext>
              </a:extLst>
            </p:cNvPr>
            <p:cNvSpPr/>
            <p:nvPr/>
          </p:nvSpPr>
          <p:spPr>
            <a:xfrm>
              <a:off x="5867979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30" name="Text 13">
              <a:extLst>
                <a:ext uri="{FF2B5EF4-FFF2-40B4-BE49-F238E27FC236}">
                  <a16:creationId xmlns:a16="http://schemas.microsoft.com/office/drawing/2014/main" id="{FAD55F06-2FD9-98AA-3D4B-3D872BC1B5DF}"/>
                </a:ext>
              </a:extLst>
            </p:cNvPr>
            <p:cNvSpPr/>
            <p:nvPr/>
          </p:nvSpPr>
          <p:spPr>
            <a:xfrm>
              <a:off x="6302247" y="1624164"/>
              <a:ext cx="310896" cy="237744"/>
            </a:xfrm>
            <a:prstGeom prst="rect">
              <a:avLst/>
            </a:prstGeom>
            <a:solidFill>
              <a:srgbClr val="10B981"/>
            </a:solidFill>
            <a:ln>
              <a:solidFill>
                <a:srgbClr val="10B98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3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8" name="Text 11">
              <a:extLst>
                <a:ext uri="{FF2B5EF4-FFF2-40B4-BE49-F238E27FC236}">
                  <a16:creationId xmlns:a16="http://schemas.microsoft.com/office/drawing/2014/main" id="{043CC53B-1315-3A56-E6BE-B63D66A167F5}"/>
                </a:ext>
              </a:extLst>
            </p:cNvPr>
            <p:cNvSpPr/>
            <p:nvPr/>
          </p:nvSpPr>
          <p:spPr>
            <a:xfrm>
              <a:off x="8634212" y="2016684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39" name="Text 17">
              <a:extLst>
                <a:ext uri="{FF2B5EF4-FFF2-40B4-BE49-F238E27FC236}">
                  <a16:creationId xmlns:a16="http://schemas.microsoft.com/office/drawing/2014/main" id="{FDAC6EE8-3BC9-807F-5CD1-E35D834ECE21}"/>
                </a:ext>
              </a:extLst>
            </p:cNvPr>
            <p:cNvSpPr/>
            <p:nvPr/>
          </p:nvSpPr>
          <p:spPr>
            <a:xfrm>
              <a:off x="9052282" y="1631430"/>
              <a:ext cx="310896" cy="237744"/>
            </a:xfrm>
            <a:prstGeom prst="rect">
              <a:avLst/>
            </a:prstGeom>
            <a:solidFill>
              <a:srgbClr val="F59E0B"/>
            </a:solidFill>
            <a:ln>
              <a:solidFill>
                <a:srgbClr val="F59E0B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4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0" name="Text 18">
              <a:extLst>
                <a:ext uri="{FF2B5EF4-FFF2-40B4-BE49-F238E27FC236}">
                  <a16:creationId xmlns:a16="http://schemas.microsoft.com/office/drawing/2014/main" id="{A23022DF-8635-95C6-1C2C-F842836EFADA}"/>
                </a:ext>
              </a:extLst>
            </p:cNvPr>
            <p:cNvSpPr/>
            <p:nvPr/>
          </p:nvSpPr>
          <p:spPr>
            <a:xfrm>
              <a:off x="9583210" y="1640597"/>
              <a:ext cx="1859923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59E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학습 및 평가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FA370AF-B83B-599E-17BC-5786210E613C}"/>
              </a:ext>
            </a:extLst>
          </p:cNvPr>
          <p:cNvSpPr/>
          <p:nvPr/>
        </p:nvSpPr>
        <p:spPr>
          <a:xfrm>
            <a:off x="3457492" y="1478779"/>
            <a:ext cx="2435445" cy="12616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ED58F80B-E1BB-12B4-E280-78E0688C987C}"/>
              </a:ext>
            </a:extLst>
          </p:cNvPr>
          <p:cNvSpPr/>
          <p:nvPr/>
        </p:nvSpPr>
        <p:spPr>
          <a:xfrm>
            <a:off x="6865012" y="166074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</a:t>
            </a:r>
            <a:r>
              <a:rPr 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구</a:t>
            </a:r>
            <a:r>
              <a:rPr lang="ko-KR" alt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현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AA2E9530-9705-DAEF-6278-0A5910179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630" y="4011809"/>
            <a:ext cx="2673471" cy="203341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18975C2E-3BA0-965F-90A7-5EEFD43FB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69956"/>
            <a:ext cx="6093709" cy="67845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6F386BA7-B643-56BA-D852-5547E98744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10" t="-910" b="90175"/>
          <a:stretch>
            <a:fillRect/>
          </a:stretch>
        </p:blipFill>
        <p:spPr>
          <a:xfrm>
            <a:off x="496038" y="3269956"/>
            <a:ext cx="5467083" cy="35694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FBE8621D-8739-99C9-D658-81F3BC4761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824" r="6210"/>
          <a:stretch>
            <a:fillRect/>
          </a:stretch>
        </p:blipFill>
        <p:spPr>
          <a:xfrm>
            <a:off x="470262" y="4411753"/>
            <a:ext cx="5281258" cy="1389996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790D06BE-958C-F356-E7EE-7C1A1134E95B}"/>
              </a:ext>
            </a:extLst>
          </p:cNvPr>
          <p:cNvSpPr/>
          <p:nvPr/>
        </p:nvSpPr>
        <p:spPr>
          <a:xfrm>
            <a:off x="9318172" y="3340012"/>
            <a:ext cx="2786743" cy="2247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47F29D30-D50B-BBF3-07DC-A395A325BDBC}"/>
              </a:ext>
            </a:extLst>
          </p:cNvPr>
          <p:cNvSpPr/>
          <p:nvPr/>
        </p:nvSpPr>
        <p:spPr>
          <a:xfrm>
            <a:off x="1825217" y="6233742"/>
            <a:ext cx="3063553" cy="336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원본 데이터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(Raw Data)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불러오기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B4CF2C8D-D48C-6E34-E7E2-5363344AC4F6}"/>
              </a:ext>
            </a:extLst>
          </p:cNvPr>
          <p:cNvSpPr/>
          <p:nvPr/>
        </p:nvSpPr>
        <p:spPr>
          <a:xfrm>
            <a:off x="7843409" y="6233742"/>
            <a:ext cx="2242929" cy="336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 </a:t>
            </a:r>
            <a:r>
              <a:rPr lang="en-US" altLang="ko-KR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mfcc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 추출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76926F-E1D3-4DD9-B94A-F0456CF1C2C0}"/>
              </a:ext>
            </a:extLst>
          </p:cNvPr>
          <p:cNvSpPr txBox="1"/>
          <p:nvPr/>
        </p:nvSpPr>
        <p:spPr>
          <a:xfrm>
            <a:off x="420950" y="2841786"/>
            <a:ext cx="61221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딥러닝실습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_260316_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강의자료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.pptx 11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페이지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 22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페이지 참고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ko-KR" altLang="en-US" sz="11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B0EAE7-D866-7CD0-F357-3A2293FC0E64}"/>
              </a:ext>
            </a:extLst>
          </p:cNvPr>
          <p:cNvSpPr txBox="1"/>
          <p:nvPr/>
        </p:nvSpPr>
        <p:spPr>
          <a:xfrm>
            <a:off x="180123" y="3742182"/>
            <a:ext cx="6122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75" lvl="1" indent="-179388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y: </a:t>
            </a:r>
            <a:r>
              <a:rPr lang="ko-KR" alt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오디오 신호 데이터</a:t>
            </a:r>
            <a:endParaRPr lang="en-US" altLang="ko-KR" sz="12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47675" lvl="1" indent="-179388">
              <a:buFont typeface="Arial" panose="020B0604020202020204" pitchFamily="34" charset="0"/>
              <a:buChar char="•"/>
            </a:pPr>
            <a:r>
              <a:rPr lang="en-US" altLang="ko-KR" sz="12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sr</a:t>
            </a:r>
            <a:r>
              <a:rPr lang="en-US" altLang="ko-KR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1</a:t>
            </a:r>
            <a:r>
              <a:rPr lang="ko-KR" alt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동안 몇 개의 샘플을 사용하는지 </a:t>
            </a:r>
            <a:r>
              <a:rPr lang="en-US" altLang="ko-KR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(Hz)</a:t>
            </a:r>
            <a:endParaRPr lang="en-US" altLang="ko-KR" sz="1200" i="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51" name="Table 0">
            <a:extLst>
              <a:ext uri="{FF2B5EF4-FFF2-40B4-BE49-F238E27FC236}">
                <a16:creationId xmlns:a16="http://schemas.microsoft.com/office/drawing/2014/main" id="{FD038250-1AAA-83ED-B69C-D38B24F76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539937"/>
              </p:ext>
            </p:extLst>
          </p:nvPr>
        </p:nvGraphicFramePr>
        <p:xfrm>
          <a:off x="9052282" y="4149337"/>
          <a:ext cx="286512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80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4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파라미터</a:t>
                      </a:r>
                      <a:endParaRPr lang="en-US" sz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설명</a:t>
                      </a:r>
                      <a:endParaRPr lang="en-US" sz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4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onsolas" charset="0"/>
                        </a:rPr>
                        <a:t>n_mfcc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onsolas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charset="0"/>
                        </a:rPr>
                        <a:t>생성할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charset="0"/>
                        </a:rPr>
                        <a:t>MFCC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charset="0"/>
                        </a:rPr>
                        <a:t>계수 개수</a:t>
                      </a:r>
                      <a:endParaRPr lang="en-US" sz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629737"/>
                  </a:ext>
                </a:extLst>
              </a:tr>
              <a:tr h="2614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n_fft</a:t>
                      </a:r>
                      <a:endParaRPr lang="en-US" sz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onsolas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Window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크기</a:t>
                      </a:r>
                      <a:endParaRPr lang="en-US" sz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4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hop_length</a:t>
                      </a:r>
                      <a:endParaRPr lang="en-US" sz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onsolas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간격</a:t>
                      </a:r>
                      <a:endParaRPr lang="en-US" sz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7" name="Text 19">
            <a:extLst>
              <a:ext uri="{FF2B5EF4-FFF2-40B4-BE49-F238E27FC236}">
                <a16:creationId xmlns:a16="http://schemas.microsoft.com/office/drawing/2014/main" id="{2B66A2E5-01B6-AACB-DABA-5E1DF019C64D}"/>
              </a:ext>
            </a:extLst>
          </p:cNvPr>
          <p:cNvSpPr/>
          <p:nvPr/>
        </p:nvSpPr>
        <p:spPr>
          <a:xfrm>
            <a:off x="9583210" y="1754467"/>
            <a:ext cx="14157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</a:t>
            </a:r>
            <a:r>
              <a:rPr lang="en-US" sz="107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</a:t>
            </a:r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구현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4-2. test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검증 평가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F6E37446-C48E-418B-68E9-C9E1DA341ECF}"/>
              </a:ext>
            </a:extLst>
          </p:cNvPr>
          <p:cNvSpPr/>
          <p:nvPr/>
        </p:nvSpPr>
        <p:spPr>
          <a:xfrm>
            <a:off x="782801" y="1808524"/>
            <a:ext cx="20848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라이브러리 불러오기</a:t>
            </a:r>
            <a:endParaRPr lang="en-US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 데이터셋 불러오기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98852535-F1D6-BC8D-E78A-29A59116865A}"/>
              </a:ext>
            </a:extLst>
          </p:cNvPr>
          <p:cNvSpPr/>
          <p:nvPr/>
        </p:nvSpPr>
        <p:spPr>
          <a:xfrm>
            <a:off x="6688305" y="1768353"/>
            <a:ext cx="19131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3-1. MLP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구현</a:t>
            </a:r>
            <a:endParaRPr lang="en-US" altLang="ko-KR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학습 구성 요소 정의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D6C55B40-DD38-47D7-F170-EA3EFDDBB12E}"/>
              </a:ext>
            </a:extLst>
          </p:cNvPr>
          <p:cNvSpPr/>
          <p:nvPr/>
        </p:nvSpPr>
        <p:spPr>
          <a:xfrm>
            <a:off x="3797430" y="1814409"/>
            <a:ext cx="2084832" cy="950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2-1. MFCC </a:t>
            </a:r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추출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2-2.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구성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2-3.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2-4.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418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6DDCE-2F34-07B7-8836-8F39D0B60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09068E-0B26-7659-63DA-ACF7AA878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3F1C1F4-7C2D-FCC9-D9D7-0F6173CE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2. </a:t>
            </a:r>
            <a:r>
              <a:rPr lang="ko-KR" altLang="en-US"/>
              <a:t>코드 기반 실습 및 응용 </a:t>
            </a:r>
            <a:r>
              <a:rPr lang="en-US" altLang="ko-KR"/>
              <a:t>- </a:t>
            </a:r>
            <a:r>
              <a:rPr lang="ko-KR" altLang="en-US"/>
              <a:t>데이터 </a:t>
            </a:r>
            <a:r>
              <a:rPr lang="ko-KR" altLang="en-US" err="1"/>
              <a:t>전처리</a:t>
            </a:r>
            <a:r>
              <a:rPr lang="ko-KR" altLang="en-US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2DFC0-33EB-0755-5862-D6FF7FAE3644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2-1. MFCC </a:t>
            </a:r>
            <a:r>
              <a:rPr lang="ko-KR" altLang="en-US" sz="20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특징 추출</a:t>
            </a:r>
            <a:endParaRPr lang="en-US" altLang="ko-KR" sz="2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714131FF-CFB0-C7E4-C4C5-5ED09EE5AD48}"/>
              </a:ext>
            </a:extLst>
          </p:cNvPr>
          <p:cNvSpPr/>
          <p:nvPr/>
        </p:nvSpPr>
        <p:spPr>
          <a:xfrm>
            <a:off x="200025" y="1356119"/>
            <a:ext cx="3284928" cy="526058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6DF6FA3-5A3C-5992-0172-3B4E11A55444}"/>
              </a:ext>
            </a:extLst>
          </p:cNvPr>
          <p:cNvGrpSpPr/>
          <p:nvPr/>
        </p:nvGrpSpPr>
        <p:grpSpPr>
          <a:xfrm>
            <a:off x="362457" y="2361262"/>
            <a:ext cx="3124530" cy="2900244"/>
            <a:chOff x="362457" y="2483703"/>
            <a:chExt cx="3124530" cy="2900244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F5FC5F09-49F9-2920-CB1F-38AE9CEE50AE}"/>
                </a:ext>
              </a:extLst>
            </p:cNvPr>
            <p:cNvSpPr/>
            <p:nvPr/>
          </p:nvSpPr>
          <p:spPr>
            <a:xfrm>
              <a:off x="362457" y="2483703"/>
              <a:ext cx="2090013" cy="41279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WAV </a:t>
              </a:r>
              <a:r>
                <a:rPr lang="ko-KR" altLang="en-US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파일 목록</a:t>
              </a: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51F6DDEC-C735-E1E4-B42A-C7971FF108C1}"/>
                </a:ext>
              </a:extLst>
            </p:cNvPr>
            <p:cNvSpPr/>
            <p:nvPr/>
          </p:nvSpPr>
          <p:spPr>
            <a:xfrm>
              <a:off x="362457" y="3105565"/>
              <a:ext cx="2090013" cy="41279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파일 리스트 반복</a:t>
              </a: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87CEB434-77B2-37E0-8382-5F56A0A10518}"/>
                </a:ext>
              </a:extLst>
            </p:cNvPr>
            <p:cNvSpPr/>
            <p:nvPr/>
          </p:nvSpPr>
          <p:spPr>
            <a:xfrm>
              <a:off x="362457" y="3727427"/>
              <a:ext cx="2090013" cy="412794"/>
            </a:xfrm>
            <a:prstGeom prst="roundRect">
              <a:avLst/>
            </a:prstGeom>
            <a:solidFill>
              <a:srgbClr val="E6F1FB"/>
            </a:solidFill>
            <a:ln>
              <a:solidFill>
                <a:srgbClr val="82B5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오디오 파일 가져오기</a:t>
              </a: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6A337E78-D22D-E33E-8468-032C1C4D2D86}"/>
                </a:ext>
              </a:extLst>
            </p:cNvPr>
            <p:cNvSpPr/>
            <p:nvPr/>
          </p:nvSpPr>
          <p:spPr>
            <a:xfrm>
              <a:off x="362457" y="4349289"/>
              <a:ext cx="2090013" cy="412794"/>
            </a:xfrm>
            <a:prstGeom prst="roundRect">
              <a:avLst/>
            </a:prstGeom>
            <a:solidFill>
              <a:srgbClr val="E1F5EE"/>
            </a:solidFill>
            <a:ln>
              <a:solidFill>
                <a:srgbClr val="68CE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MFCC </a:t>
              </a:r>
              <a:r>
                <a:rPr lang="ko-KR" altLang="en-US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추출</a:t>
              </a: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8581320F-704C-C96C-1ACA-42480F97EADC}"/>
                </a:ext>
              </a:extLst>
            </p:cNvPr>
            <p:cNvCxnSpPr>
              <a:stCxn id="14" idx="2"/>
              <a:endCxn id="16" idx="0"/>
            </p:cNvCxnSpPr>
            <p:nvPr/>
          </p:nvCxnSpPr>
          <p:spPr>
            <a:xfrm>
              <a:off x="1407464" y="2896497"/>
              <a:ext cx="0" cy="2090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359CE188-6784-4FF8-8A18-A19E98783D08}"/>
                </a:ext>
              </a:extLst>
            </p:cNvPr>
            <p:cNvCxnSpPr>
              <a:stCxn id="16" idx="2"/>
              <a:endCxn id="17" idx="0"/>
            </p:cNvCxnSpPr>
            <p:nvPr/>
          </p:nvCxnSpPr>
          <p:spPr>
            <a:xfrm>
              <a:off x="1407464" y="3518359"/>
              <a:ext cx="0" cy="2090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F8DB5D2A-39F4-B689-32F6-C471AC9ACCCE}"/>
                </a:ext>
              </a:extLst>
            </p:cNvPr>
            <p:cNvCxnSpPr>
              <a:stCxn id="17" idx="2"/>
              <a:endCxn id="18" idx="0"/>
            </p:cNvCxnSpPr>
            <p:nvPr/>
          </p:nvCxnSpPr>
          <p:spPr>
            <a:xfrm>
              <a:off x="1407464" y="4140221"/>
              <a:ext cx="0" cy="2090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연결선: 꺾임 45">
              <a:extLst>
                <a:ext uri="{FF2B5EF4-FFF2-40B4-BE49-F238E27FC236}">
                  <a16:creationId xmlns:a16="http://schemas.microsoft.com/office/drawing/2014/main" id="{D96E911F-DC1D-114F-B86E-3C19C79740D6}"/>
                </a:ext>
              </a:extLst>
            </p:cNvPr>
            <p:cNvCxnSpPr>
              <a:cxnSpLocks/>
              <a:stCxn id="55" idx="3"/>
              <a:endCxn id="16" idx="3"/>
            </p:cNvCxnSpPr>
            <p:nvPr/>
          </p:nvCxnSpPr>
          <p:spPr>
            <a:xfrm flipV="1">
              <a:off x="2452470" y="3311962"/>
              <a:ext cx="12700" cy="1865588"/>
            </a:xfrm>
            <a:prstGeom prst="bentConnector3">
              <a:avLst>
                <a:gd name="adj1" fmla="val 1800000"/>
              </a:avLst>
            </a:prstGeom>
            <a:ln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EF5641C-D55C-4819-63D9-EAF7B19ADD89}"/>
                </a:ext>
              </a:extLst>
            </p:cNvPr>
            <p:cNvSpPr txBox="1"/>
            <p:nvPr/>
          </p:nvSpPr>
          <p:spPr>
            <a:xfrm>
              <a:off x="2640455" y="3505664"/>
              <a:ext cx="846532" cy="293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다음 파일</a:t>
              </a:r>
              <a:endParaRPr lang="en-US" altLang="ko-KR" sz="105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305DB90C-B2C7-1E59-AF30-EC4E96EBC43B}"/>
                </a:ext>
              </a:extLst>
            </p:cNvPr>
            <p:cNvSpPr/>
            <p:nvPr/>
          </p:nvSpPr>
          <p:spPr>
            <a:xfrm>
              <a:off x="362457" y="4971153"/>
              <a:ext cx="2090013" cy="41279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MFCC </a:t>
              </a:r>
              <a:r>
                <a:rPr lang="ko-KR" altLang="en-US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시각화</a:t>
              </a:r>
            </a:p>
          </p:txBody>
        </p: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1537BADD-658E-E038-9B7A-9BB3DB62918F}"/>
                </a:ext>
              </a:extLst>
            </p:cNvPr>
            <p:cNvCxnSpPr>
              <a:cxnSpLocks/>
              <a:stCxn id="18" idx="2"/>
              <a:endCxn id="55" idx="0"/>
            </p:cNvCxnSpPr>
            <p:nvPr/>
          </p:nvCxnSpPr>
          <p:spPr>
            <a:xfrm>
              <a:off x="1407464" y="4762083"/>
              <a:ext cx="0" cy="2090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77BD6874-FED6-BBE6-6C90-F1443B4ECD4B}"/>
              </a:ext>
            </a:extLst>
          </p:cNvPr>
          <p:cNvGrpSpPr/>
          <p:nvPr/>
        </p:nvGrpSpPr>
        <p:grpSpPr>
          <a:xfrm>
            <a:off x="197991" y="1352286"/>
            <a:ext cx="3288996" cy="418256"/>
            <a:chOff x="197991" y="1892300"/>
            <a:chExt cx="3288996" cy="418256"/>
          </a:xfrm>
        </p:grpSpPr>
        <p:sp>
          <p:nvSpPr>
            <p:cNvPr id="56" name="Shape 5">
              <a:extLst>
                <a:ext uri="{FF2B5EF4-FFF2-40B4-BE49-F238E27FC236}">
                  <a16:creationId xmlns:a16="http://schemas.microsoft.com/office/drawing/2014/main" id="{6A266898-0591-1841-8D5C-172CFA9F517B}"/>
                </a:ext>
              </a:extLst>
            </p:cNvPr>
            <p:cNvSpPr/>
            <p:nvPr/>
          </p:nvSpPr>
          <p:spPr>
            <a:xfrm>
              <a:off x="200025" y="1894747"/>
              <a:ext cx="3284928" cy="81691"/>
            </a:xfrm>
            <a:prstGeom prst="rect">
              <a:avLst/>
            </a:prstGeom>
            <a:solidFill>
              <a:srgbClr val="94A3B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54BC6F8-B3B7-C00C-34F3-D6BD0D7310F9}"/>
                </a:ext>
              </a:extLst>
            </p:cNvPr>
            <p:cNvSpPr txBox="1"/>
            <p:nvPr/>
          </p:nvSpPr>
          <p:spPr>
            <a:xfrm>
              <a:off x="197991" y="1892300"/>
              <a:ext cx="3288996" cy="418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6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오디오 </a:t>
              </a:r>
              <a:r>
                <a:rPr lang="en-US" altLang="ko-KR" sz="16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ko-KR" altLang="en-US" sz="16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차시</a:t>
              </a:r>
              <a:endPara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3" name="Shape 4">
            <a:extLst>
              <a:ext uri="{FF2B5EF4-FFF2-40B4-BE49-F238E27FC236}">
                <a16:creationId xmlns:a16="http://schemas.microsoft.com/office/drawing/2014/main" id="{3328B485-B0F1-2245-A979-EEE15E4F156B}"/>
              </a:ext>
            </a:extLst>
          </p:cNvPr>
          <p:cNvSpPr/>
          <p:nvPr/>
        </p:nvSpPr>
        <p:spPr>
          <a:xfrm>
            <a:off x="4011113" y="1356119"/>
            <a:ext cx="7818429" cy="526058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18FDF4-F322-C7C4-B282-2CE6B3D2B204}"/>
              </a:ext>
            </a:extLst>
          </p:cNvPr>
          <p:cNvGrpSpPr/>
          <p:nvPr/>
        </p:nvGrpSpPr>
        <p:grpSpPr>
          <a:xfrm>
            <a:off x="4258095" y="2368619"/>
            <a:ext cx="2337328" cy="2322315"/>
            <a:chOff x="5460471" y="2350410"/>
            <a:chExt cx="2337328" cy="2322315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1F1319F8-B0AC-E4C9-71F4-A207B5BFCCDA}"/>
                </a:ext>
              </a:extLst>
            </p:cNvPr>
            <p:cNvSpPr/>
            <p:nvPr/>
          </p:nvSpPr>
          <p:spPr>
            <a:xfrm>
              <a:off x="5460471" y="2350410"/>
              <a:ext cx="2337328" cy="2322315"/>
            </a:xfrm>
            <a:prstGeom prst="roundRect">
              <a:avLst>
                <a:gd name="adj" fmla="val 1675"/>
              </a:avLst>
            </a:prstGeom>
            <a:solidFill>
              <a:srgbClr val="FFF3F3"/>
            </a:solidFill>
            <a:ln>
              <a:solidFill>
                <a:srgbClr val="FFB7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MFCC </a:t>
              </a:r>
              <a:r>
                <a:rPr lang="ko-KR" altLang="en-US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특징 추출 함수 </a:t>
              </a:r>
              <a:r>
                <a:rPr lang="en-US" altLang="ko-KR" sz="11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en-US" altLang="ko-KR" sz="110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wav_to_feat_vec</a:t>
              </a:r>
              <a:r>
                <a:rPr lang="en-US" altLang="ko-KR" sz="11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endPara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74DF49B5-7D5E-A061-9642-99E2674678C5}"/>
                </a:ext>
              </a:extLst>
            </p:cNvPr>
            <p:cNvSpPr/>
            <p:nvPr/>
          </p:nvSpPr>
          <p:spPr>
            <a:xfrm>
              <a:off x="5579683" y="2941807"/>
              <a:ext cx="2090013" cy="412794"/>
            </a:xfrm>
            <a:prstGeom prst="roundRect">
              <a:avLst/>
            </a:prstGeom>
            <a:solidFill>
              <a:srgbClr val="E6F1FB"/>
            </a:solidFill>
            <a:ln>
              <a:solidFill>
                <a:srgbClr val="82B5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오디오 파일 가져오기</a:t>
              </a:r>
            </a:p>
          </p:txBody>
        </p:sp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41E57D9F-DC29-6A28-340F-CD54E43DFF62}"/>
                </a:ext>
              </a:extLst>
            </p:cNvPr>
            <p:cNvSpPr/>
            <p:nvPr/>
          </p:nvSpPr>
          <p:spPr>
            <a:xfrm>
              <a:off x="5579683" y="3590801"/>
              <a:ext cx="2090013" cy="412794"/>
            </a:xfrm>
            <a:prstGeom prst="roundRect">
              <a:avLst/>
            </a:prstGeom>
            <a:solidFill>
              <a:srgbClr val="E1F5EE"/>
            </a:solidFill>
            <a:ln>
              <a:solidFill>
                <a:srgbClr val="68CE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MFCC </a:t>
              </a:r>
              <a:r>
                <a:rPr lang="ko-KR" altLang="en-US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추출</a:t>
              </a:r>
            </a:p>
          </p:txBody>
        </p: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D9A75040-9D1A-489A-6C26-7A045DECD645}"/>
                </a:ext>
              </a:extLst>
            </p:cNvPr>
            <p:cNvCxnSpPr>
              <a:stCxn id="70" idx="2"/>
              <a:endCxn id="71" idx="0"/>
            </p:cNvCxnSpPr>
            <p:nvPr/>
          </p:nvCxnSpPr>
          <p:spPr>
            <a:xfrm>
              <a:off x="6624690" y="3354601"/>
              <a:ext cx="0" cy="236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387A0AA9-6CEB-632C-4FD5-84F0CDFCA83D}"/>
                </a:ext>
              </a:extLst>
            </p:cNvPr>
            <p:cNvSpPr/>
            <p:nvPr/>
          </p:nvSpPr>
          <p:spPr>
            <a:xfrm>
              <a:off x="5579683" y="4183837"/>
              <a:ext cx="2090013" cy="41279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MFCC 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벡터 생성</a:t>
              </a:r>
            </a:p>
          </p:txBody>
        </p:sp>
        <p:cxnSp>
          <p:nvCxnSpPr>
            <p:cNvPr id="114" name="직선 화살표 연결선 113">
              <a:extLst>
                <a:ext uri="{FF2B5EF4-FFF2-40B4-BE49-F238E27FC236}">
                  <a16:creationId xmlns:a16="http://schemas.microsoft.com/office/drawing/2014/main" id="{A1018686-68B1-8000-512C-FA5507945055}"/>
                </a:ext>
              </a:extLst>
            </p:cNvPr>
            <p:cNvCxnSpPr>
              <a:cxnSpLocks/>
              <a:stCxn id="71" idx="2"/>
              <a:endCxn id="113" idx="0"/>
            </p:cNvCxnSpPr>
            <p:nvPr/>
          </p:nvCxnSpPr>
          <p:spPr>
            <a:xfrm>
              <a:off x="6624690" y="4003595"/>
              <a:ext cx="0" cy="1802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32964FB-6ECE-4F3E-DC4F-677504CD927F}"/>
              </a:ext>
            </a:extLst>
          </p:cNvPr>
          <p:cNvSpPr txBox="1"/>
          <p:nvPr/>
        </p:nvSpPr>
        <p:spPr>
          <a:xfrm>
            <a:off x="4258095" y="1960231"/>
            <a:ext cx="2337328" cy="377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140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함수</a:t>
            </a:r>
            <a:r>
              <a:rPr lang="en-US" altLang="ko-KR" sz="140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정의</a:t>
            </a:r>
            <a:endParaRPr lang="en-US" altLang="ko-KR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A41087A5-AF36-B5D7-7B07-0B5CD0FAC259}"/>
              </a:ext>
            </a:extLst>
          </p:cNvPr>
          <p:cNvSpPr/>
          <p:nvPr/>
        </p:nvSpPr>
        <p:spPr>
          <a:xfrm>
            <a:off x="6855935" y="2361262"/>
            <a:ext cx="2090013" cy="41279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WAV 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파일 목록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BA042243-2025-E40F-4922-B6B38A6D70B3}"/>
              </a:ext>
            </a:extLst>
          </p:cNvPr>
          <p:cNvSpPr/>
          <p:nvPr/>
        </p:nvSpPr>
        <p:spPr>
          <a:xfrm>
            <a:off x="6855935" y="2985125"/>
            <a:ext cx="2090013" cy="41279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파일 리스트 반복</a:t>
            </a: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284130D4-8420-C5F1-5E1E-18C6C43FDCB2}"/>
              </a:ext>
            </a:extLst>
          </p:cNvPr>
          <p:cNvCxnSpPr>
            <a:stCxn id="77" idx="2"/>
            <a:endCxn id="78" idx="0"/>
          </p:cNvCxnSpPr>
          <p:nvPr/>
        </p:nvCxnSpPr>
        <p:spPr>
          <a:xfrm>
            <a:off x="7900942" y="2774056"/>
            <a:ext cx="0" cy="211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A7BD872E-D050-3D38-A9A4-2ABB687B0339}"/>
              </a:ext>
            </a:extLst>
          </p:cNvPr>
          <p:cNvCxnSpPr>
            <a:cxnSpLocks/>
            <a:stCxn id="78" idx="2"/>
            <a:endCxn id="85" idx="0"/>
          </p:cNvCxnSpPr>
          <p:nvPr/>
        </p:nvCxnSpPr>
        <p:spPr>
          <a:xfrm>
            <a:off x="7900942" y="3397919"/>
            <a:ext cx="0" cy="211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8AD7FEFB-7BE2-5E4D-5DB4-9456C7D207AC}"/>
              </a:ext>
            </a:extLst>
          </p:cNvPr>
          <p:cNvCxnSpPr>
            <a:cxnSpLocks/>
            <a:stCxn id="85" idx="3"/>
            <a:endCxn id="78" idx="3"/>
          </p:cNvCxnSpPr>
          <p:nvPr/>
        </p:nvCxnSpPr>
        <p:spPr>
          <a:xfrm flipV="1">
            <a:off x="8945948" y="3191522"/>
            <a:ext cx="12700" cy="623863"/>
          </a:xfrm>
          <a:prstGeom prst="bentConnector3">
            <a:avLst>
              <a:gd name="adj1" fmla="val 180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157B9D2-99D2-26A3-4E4C-0CFAA0B64425}"/>
              </a:ext>
            </a:extLst>
          </p:cNvPr>
          <p:cNvSpPr/>
          <p:nvPr/>
        </p:nvSpPr>
        <p:spPr>
          <a:xfrm>
            <a:off x="6855935" y="3608988"/>
            <a:ext cx="2090013" cy="412794"/>
          </a:xfrm>
          <a:prstGeom prst="roundRect">
            <a:avLst>
              <a:gd name="adj" fmla="val 6858"/>
            </a:avLst>
          </a:prstGeom>
          <a:solidFill>
            <a:srgbClr val="FFF3F3"/>
          </a:solidFill>
          <a:ln>
            <a:solidFill>
              <a:srgbClr val="FFB7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MFCC 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특징 추출 함수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DD859010-9DBA-3BC2-2CDC-E76B77B28386}"/>
              </a:ext>
            </a:extLst>
          </p:cNvPr>
          <p:cNvSpPr/>
          <p:nvPr/>
        </p:nvSpPr>
        <p:spPr>
          <a:xfrm>
            <a:off x="6855935" y="4232851"/>
            <a:ext cx="2090013" cy="412794"/>
          </a:xfrm>
          <a:prstGeom prst="roundRect">
            <a:avLst/>
          </a:prstGeom>
          <a:solidFill>
            <a:srgbClr val="FDEBCF"/>
          </a:solidFill>
          <a:ln>
            <a:solidFill>
              <a:srgbClr val="F7B1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구성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C8F6F45A-A93D-983E-886E-3D1FB524A2AC}"/>
              </a:ext>
            </a:extLst>
          </p:cNvPr>
          <p:cNvSpPr/>
          <p:nvPr/>
        </p:nvSpPr>
        <p:spPr>
          <a:xfrm>
            <a:off x="6853901" y="5455073"/>
            <a:ext cx="2090013" cy="412794"/>
          </a:xfrm>
          <a:prstGeom prst="roundRect">
            <a:avLst/>
          </a:prstGeom>
          <a:solidFill>
            <a:srgbClr val="FDEBCF"/>
          </a:solidFill>
          <a:ln>
            <a:solidFill>
              <a:srgbClr val="F7B1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</a:t>
            </a: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B75C7E4C-C6A8-DEF6-3C16-95B5B0EC3144}"/>
              </a:ext>
            </a:extLst>
          </p:cNvPr>
          <p:cNvCxnSpPr>
            <a:cxnSpLocks/>
            <a:stCxn id="98" idx="2"/>
            <a:endCxn id="99" idx="0"/>
          </p:cNvCxnSpPr>
          <p:nvPr/>
        </p:nvCxnSpPr>
        <p:spPr>
          <a:xfrm flipH="1">
            <a:off x="7898908" y="4645645"/>
            <a:ext cx="2034" cy="809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A630E200-CB28-D936-13E2-030410A468DF}"/>
              </a:ext>
            </a:extLst>
          </p:cNvPr>
          <p:cNvCxnSpPr>
            <a:cxnSpLocks/>
            <a:stCxn id="85" idx="2"/>
            <a:endCxn id="98" idx="0"/>
          </p:cNvCxnSpPr>
          <p:nvPr/>
        </p:nvCxnSpPr>
        <p:spPr>
          <a:xfrm>
            <a:off x="7900942" y="4021782"/>
            <a:ext cx="0" cy="211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7CD20E77-B832-E634-5FB6-D3F9F2419B6B}"/>
              </a:ext>
            </a:extLst>
          </p:cNvPr>
          <p:cNvSpPr txBox="1"/>
          <p:nvPr/>
        </p:nvSpPr>
        <p:spPr>
          <a:xfrm>
            <a:off x="9161315" y="3521380"/>
            <a:ext cx="846532" cy="293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다음 파일</a:t>
            </a:r>
            <a:endParaRPr lang="en-US" altLang="ko-KR" sz="105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0D2C8C-9538-2422-12D7-07D6E265D3D0}"/>
              </a:ext>
            </a:extLst>
          </p:cNvPr>
          <p:cNvSpPr txBox="1"/>
          <p:nvPr/>
        </p:nvSpPr>
        <p:spPr>
          <a:xfrm>
            <a:off x="6853901" y="1969310"/>
            <a:ext cx="2703427" cy="377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</a:t>
            </a:r>
            <a:r>
              <a:rPr lang="ko-KR" altLang="en-US" sz="140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오디오 파일에 적용</a:t>
            </a:r>
            <a:endParaRPr lang="en-US" altLang="ko-KR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5914D3D-EDC8-DBF8-6178-E30990298547}"/>
              </a:ext>
            </a:extLst>
          </p:cNvPr>
          <p:cNvGrpSpPr/>
          <p:nvPr/>
        </p:nvGrpSpPr>
        <p:grpSpPr>
          <a:xfrm>
            <a:off x="4009079" y="1354733"/>
            <a:ext cx="7818428" cy="422990"/>
            <a:chOff x="197991" y="1894747"/>
            <a:chExt cx="3288996" cy="422990"/>
          </a:xfrm>
        </p:grpSpPr>
        <p:sp>
          <p:nvSpPr>
            <p:cNvPr id="61" name="Shape 5">
              <a:extLst>
                <a:ext uri="{FF2B5EF4-FFF2-40B4-BE49-F238E27FC236}">
                  <a16:creationId xmlns:a16="http://schemas.microsoft.com/office/drawing/2014/main" id="{5DE5F8F2-6AAF-3EBF-C4DC-155B6038D60A}"/>
                </a:ext>
              </a:extLst>
            </p:cNvPr>
            <p:cNvSpPr/>
            <p:nvPr/>
          </p:nvSpPr>
          <p:spPr>
            <a:xfrm>
              <a:off x="200025" y="1894747"/>
              <a:ext cx="3284928" cy="81691"/>
            </a:xfrm>
            <a:prstGeom prst="rect">
              <a:avLst/>
            </a:prstGeom>
            <a:solidFill>
              <a:srgbClr val="94A3B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1182C27-86B3-A8C4-74D4-87733CCF34A1}"/>
                </a:ext>
              </a:extLst>
            </p:cNvPr>
            <p:cNvSpPr txBox="1"/>
            <p:nvPr/>
          </p:nvSpPr>
          <p:spPr>
            <a:xfrm>
              <a:off x="197991" y="1899481"/>
              <a:ext cx="3288996" cy="418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6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오디오 </a:t>
              </a:r>
              <a:r>
                <a:rPr lang="en-US" altLang="ko-KR" sz="16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2</a:t>
              </a:r>
              <a:r>
                <a:rPr lang="ko-KR" altLang="en-US" sz="16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차시</a:t>
              </a:r>
              <a:r>
                <a:rPr lang="en-US" altLang="ko-KR" sz="16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6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오늘</a:t>
              </a:r>
              <a:r>
                <a:rPr lang="en-US" altLang="ko-KR" sz="16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endPara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pic>
        <p:nvPicPr>
          <p:cNvPr id="67" name="그림 66">
            <a:extLst>
              <a:ext uri="{FF2B5EF4-FFF2-40B4-BE49-F238E27FC236}">
                <a16:creationId xmlns:a16="http://schemas.microsoft.com/office/drawing/2014/main" id="{372D4826-DDE6-3551-5E20-AABC1BB2DA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309" r="64372" b="33265"/>
          <a:stretch>
            <a:fillRect/>
          </a:stretch>
        </p:blipFill>
        <p:spPr>
          <a:xfrm>
            <a:off x="9017830" y="5545955"/>
            <a:ext cx="1682540" cy="195172"/>
          </a:xfrm>
          <a:prstGeom prst="rect">
            <a:avLst/>
          </a:prstGeom>
        </p:spPr>
      </p:pic>
      <p:pic>
        <p:nvPicPr>
          <p:cNvPr id="87" name="Image 0" descr="preencoded.png">
            <a:extLst>
              <a:ext uri="{FF2B5EF4-FFF2-40B4-BE49-F238E27FC236}">
                <a16:creationId xmlns:a16="http://schemas.microsoft.com/office/drawing/2014/main" id="{37E99EFF-7F0F-9F00-3C3E-3B39A50A8D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941" b="20322"/>
          <a:stretch>
            <a:fillRect/>
          </a:stretch>
        </p:blipFill>
        <p:spPr>
          <a:xfrm>
            <a:off x="8863714" y="4714490"/>
            <a:ext cx="2552914" cy="522037"/>
          </a:xfrm>
          <a:prstGeom prst="rect">
            <a:avLst/>
          </a:prstGeom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id="{FEA2B251-00A6-B508-2DFA-1802AAC92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831" y="5741127"/>
            <a:ext cx="2028336" cy="851902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CB6DE58-29B3-3950-BB52-6DE80AB90D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6697" b="23295"/>
          <a:stretch>
            <a:fillRect/>
          </a:stretch>
        </p:blipFill>
        <p:spPr>
          <a:xfrm>
            <a:off x="9017830" y="4202203"/>
            <a:ext cx="2457867" cy="50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3DA6A-1B2D-BF3F-CCAA-D73E5CC31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B21A3F-9B0F-A942-9FCF-32E59B47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D6FC41-BF35-C939-BA5D-D60B29FBA725}"/>
              </a:ext>
            </a:extLst>
          </p:cNvPr>
          <p:cNvSpPr txBox="1"/>
          <p:nvPr/>
        </p:nvSpPr>
        <p:spPr>
          <a:xfrm>
            <a:off x="5823124" y="2784444"/>
            <a:ext cx="4951713" cy="15860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파라미터 설정</a:t>
            </a:r>
            <a:r>
              <a:rPr lang="en-US" altLang="ko-KR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SR: 1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동안 몇 개의 샘플을 사용하는지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(Hz)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1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n_fft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 번에 분석할 프레임 길이 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샘플 수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hop_length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프레임이 얼마만큼 이동하는지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이동 간격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win_length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 번에 분석하는 신호 길이</a:t>
            </a:r>
            <a:endParaRPr lang="en-US" altLang="ko-KR" sz="11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n_mfcc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생성할 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MFCC 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계수 개수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특징 차원 수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), 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값이 클수록 특징 차원 증가</a:t>
            </a:r>
            <a:endParaRPr lang="en-US" altLang="ko-KR" sz="11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A484BC-4E5B-9F59-4564-914141F1D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23" y="2852317"/>
            <a:ext cx="4711728" cy="391771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BA356E0-4CB0-35F9-8145-0574C82CA3AF}"/>
              </a:ext>
            </a:extLst>
          </p:cNvPr>
          <p:cNvSpPr txBox="1"/>
          <p:nvPr/>
        </p:nvSpPr>
        <p:spPr>
          <a:xfrm>
            <a:off x="5740930" y="5576540"/>
            <a:ext cx="61198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시간에 따라 변하는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MFCC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특징 →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MLP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모델에 맞게 변환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mfcc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평균(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mean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전체적인 특징의 크기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mfcc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표준편차(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std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시간에 따른 변화 정도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np.concatenate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() :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두 값을 합쳐 하나의 고정 길이 특징 벡터로 구성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9995F8F-C129-AF8E-D026-ABE15E293A69}"/>
              </a:ext>
            </a:extLst>
          </p:cNvPr>
          <p:cNvCxnSpPr>
            <a:cxnSpLocks/>
          </p:cNvCxnSpPr>
          <p:nvPr/>
        </p:nvCxnSpPr>
        <p:spPr>
          <a:xfrm>
            <a:off x="1895558" y="3317098"/>
            <a:ext cx="376501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D2138CC-D4F6-5940-F56D-CD249E39C278}"/>
              </a:ext>
            </a:extLst>
          </p:cNvPr>
          <p:cNvCxnSpPr>
            <a:cxnSpLocks/>
          </p:cNvCxnSpPr>
          <p:nvPr/>
        </p:nvCxnSpPr>
        <p:spPr>
          <a:xfrm>
            <a:off x="2750925" y="5993274"/>
            <a:ext cx="290964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D9F639B-8B1A-5728-7B47-8989666AE31E}"/>
              </a:ext>
            </a:extLst>
          </p:cNvPr>
          <p:cNvSpPr txBox="1"/>
          <p:nvPr/>
        </p:nvSpPr>
        <p:spPr>
          <a:xfrm>
            <a:off x="5738767" y="4710704"/>
            <a:ext cx="6186140" cy="613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오디오 데이터 </a:t>
            </a:r>
            <a:r>
              <a:rPr lang="ko-KR" altLang="en-US" sz="12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전처리</a:t>
            </a: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MFCC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특징 추출 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전체 데이터에 동일하게 적용하기 위해 </a:t>
            </a:r>
            <a:r>
              <a:rPr lang="en-US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wav_to_feat_vec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오디오 데이터 경로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함수로 구현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DBFFC57-AAEB-193E-489C-862ED51E2E4C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3248297" y="4926923"/>
            <a:ext cx="23393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E14E7A5-C3B2-6D6D-C223-2FD64E7AFBC1}"/>
              </a:ext>
            </a:extLst>
          </p:cNvPr>
          <p:cNvSpPr/>
          <p:nvPr/>
        </p:nvSpPr>
        <p:spPr>
          <a:xfrm>
            <a:off x="896983" y="4090782"/>
            <a:ext cx="2351314" cy="16722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F91B805-64A9-A33B-8572-46FCBD685F4D}"/>
              </a:ext>
            </a:extLst>
          </p:cNvPr>
          <p:cNvGrpSpPr/>
          <p:nvPr/>
        </p:nvGrpSpPr>
        <p:grpSpPr>
          <a:xfrm>
            <a:off x="550379" y="1513892"/>
            <a:ext cx="10892754" cy="1193430"/>
            <a:chOff x="550379" y="1513892"/>
            <a:chExt cx="10892754" cy="1193430"/>
          </a:xfrm>
        </p:grpSpPr>
        <p:sp>
          <p:nvSpPr>
            <p:cNvPr id="44" name="Text 11">
              <a:extLst>
                <a:ext uri="{FF2B5EF4-FFF2-40B4-BE49-F238E27FC236}">
                  <a16:creationId xmlns:a16="http://schemas.microsoft.com/office/drawing/2014/main" id="{6DFAA082-768A-AE43-23AB-3B456F778F8F}"/>
                </a:ext>
              </a:extLst>
            </p:cNvPr>
            <p:cNvSpPr/>
            <p:nvPr/>
          </p:nvSpPr>
          <p:spPr>
            <a:xfrm>
              <a:off x="3124243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49" name="Text 14">
              <a:extLst>
                <a:ext uri="{FF2B5EF4-FFF2-40B4-BE49-F238E27FC236}">
                  <a16:creationId xmlns:a16="http://schemas.microsoft.com/office/drawing/2014/main" id="{B202678D-2B1B-7420-DFA0-F5DBD74CA8CF}"/>
                </a:ext>
              </a:extLst>
            </p:cNvPr>
            <p:cNvSpPr/>
            <p:nvPr/>
          </p:nvSpPr>
          <p:spPr>
            <a:xfrm>
              <a:off x="3582123" y="1626218"/>
              <a:ext cx="453814" cy="260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0" name="Text 4">
              <a:extLst>
                <a:ext uri="{FF2B5EF4-FFF2-40B4-BE49-F238E27FC236}">
                  <a16:creationId xmlns:a16="http://schemas.microsoft.com/office/drawing/2014/main" id="{08B195B4-E206-6B1B-595D-8A6EAFC92BBC}"/>
                </a:ext>
              </a:extLst>
            </p:cNvPr>
            <p:cNvSpPr/>
            <p:nvPr/>
          </p:nvSpPr>
          <p:spPr>
            <a:xfrm>
              <a:off x="550379" y="1519066"/>
              <a:ext cx="2577930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B82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1" name="Text 5">
              <a:extLst>
                <a:ext uri="{FF2B5EF4-FFF2-40B4-BE49-F238E27FC236}">
                  <a16:creationId xmlns:a16="http://schemas.microsoft.com/office/drawing/2014/main" id="{FE48E72C-76F6-6CA6-6F87-376892E31507}"/>
                </a:ext>
              </a:extLst>
            </p:cNvPr>
            <p:cNvSpPr/>
            <p:nvPr/>
          </p:nvSpPr>
          <p:spPr>
            <a:xfrm>
              <a:off x="678395" y="1628794"/>
              <a:ext cx="310896" cy="237744"/>
            </a:xfrm>
            <a:prstGeom prst="rect">
              <a:avLst/>
            </a:prstGeom>
            <a:solidFill>
              <a:srgbClr val="3B82F6"/>
            </a:solidFill>
            <a:ln>
              <a:solidFill>
                <a:srgbClr val="3B82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1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2" name="Text 6">
              <a:extLst>
                <a:ext uri="{FF2B5EF4-FFF2-40B4-BE49-F238E27FC236}">
                  <a16:creationId xmlns:a16="http://schemas.microsoft.com/office/drawing/2014/main" id="{F082FD98-325D-2273-89DA-73009AF2353E}"/>
                </a:ext>
              </a:extLst>
            </p:cNvPr>
            <p:cNvSpPr/>
            <p:nvPr/>
          </p:nvSpPr>
          <p:spPr>
            <a:xfrm>
              <a:off x="1117307" y="1665370"/>
              <a:ext cx="191667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3B82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준비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3" name="Text 8">
              <a:extLst>
                <a:ext uri="{FF2B5EF4-FFF2-40B4-BE49-F238E27FC236}">
                  <a16:creationId xmlns:a16="http://schemas.microsoft.com/office/drawing/2014/main" id="{F2FC6359-E98F-E296-D68E-E582CE2B5229}"/>
                </a:ext>
              </a:extLst>
            </p:cNvPr>
            <p:cNvSpPr/>
            <p:nvPr/>
          </p:nvSpPr>
          <p:spPr>
            <a:xfrm>
              <a:off x="3428852" y="1514566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8B5C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4" name="Text 10">
              <a:extLst>
                <a:ext uri="{FF2B5EF4-FFF2-40B4-BE49-F238E27FC236}">
                  <a16:creationId xmlns:a16="http://schemas.microsoft.com/office/drawing/2014/main" id="{DD3EBC29-6390-C701-B6AE-0C267A5983D0}"/>
                </a:ext>
              </a:extLst>
            </p:cNvPr>
            <p:cNvSpPr/>
            <p:nvPr/>
          </p:nvSpPr>
          <p:spPr>
            <a:xfrm>
              <a:off x="4044938" y="1665370"/>
              <a:ext cx="1542720" cy="2038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1700" b="1" dirty="0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</a:t>
              </a:r>
              <a:r>
                <a:rPr lang="ko-KR" altLang="en-US" sz="1700" b="1" dirty="0" err="1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전처리</a:t>
              </a:r>
              <a:r>
                <a:rPr lang="ko-KR" altLang="en-US" sz="1700" b="1" dirty="0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 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5" name="Text 12">
              <a:extLst>
                <a:ext uri="{FF2B5EF4-FFF2-40B4-BE49-F238E27FC236}">
                  <a16:creationId xmlns:a16="http://schemas.microsoft.com/office/drawing/2014/main" id="{F1DE5DDD-2322-7DBE-6A32-D7FC8A6F9D64}"/>
                </a:ext>
              </a:extLst>
            </p:cNvPr>
            <p:cNvSpPr/>
            <p:nvPr/>
          </p:nvSpPr>
          <p:spPr>
            <a:xfrm>
              <a:off x="6172630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0B981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6" name="Text 16">
              <a:extLst>
                <a:ext uri="{FF2B5EF4-FFF2-40B4-BE49-F238E27FC236}">
                  <a16:creationId xmlns:a16="http://schemas.microsoft.com/office/drawing/2014/main" id="{5C62974E-9004-8C63-6446-C2F3188B7CB8}"/>
                </a:ext>
              </a:extLst>
            </p:cNvPr>
            <p:cNvSpPr/>
            <p:nvPr/>
          </p:nvSpPr>
          <p:spPr>
            <a:xfrm>
              <a:off x="8939491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F59E0B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7" name="Text 9">
              <a:extLst>
                <a:ext uri="{FF2B5EF4-FFF2-40B4-BE49-F238E27FC236}">
                  <a16:creationId xmlns:a16="http://schemas.microsoft.com/office/drawing/2014/main" id="{F2F18E83-9D9C-98AA-C0D3-F55408C93A69}"/>
                </a:ext>
              </a:extLst>
            </p:cNvPr>
            <p:cNvSpPr/>
            <p:nvPr/>
          </p:nvSpPr>
          <p:spPr>
            <a:xfrm>
              <a:off x="3530645" y="1611310"/>
              <a:ext cx="310896" cy="237744"/>
            </a:xfrm>
            <a:prstGeom prst="rect">
              <a:avLst/>
            </a:prstGeom>
            <a:solidFill>
              <a:srgbClr val="8B5CF6"/>
            </a:solidFill>
            <a:ln>
              <a:solidFill>
                <a:srgbClr val="8B5C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8" name="Text 11">
              <a:extLst>
                <a:ext uri="{FF2B5EF4-FFF2-40B4-BE49-F238E27FC236}">
                  <a16:creationId xmlns:a16="http://schemas.microsoft.com/office/drawing/2014/main" id="{66082ECF-1686-F51C-C06D-5E60B859B1B5}"/>
                </a:ext>
              </a:extLst>
            </p:cNvPr>
            <p:cNvSpPr/>
            <p:nvPr/>
          </p:nvSpPr>
          <p:spPr>
            <a:xfrm>
              <a:off x="5867979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59" name="Text 13">
              <a:extLst>
                <a:ext uri="{FF2B5EF4-FFF2-40B4-BE49-F238E27FC236}">
                  <a16:creationId xmlns:a16="http://schemas.microsoft.com/office/drawing/2014/main" id="{81A5C8C5-9AA1-6DC8-01A5-45DD5A3F971E}"/>
                </a:ext>
              </a:extLst>
            </p:cNvPr>
            <p:cNvSpPr/>
            <p:nvPr/>
          </p:nvSpPr>
          <p:spPr>
            <a:xfrm>
              <a:off x="6302247" y="1624164"/>
              <a:ext cx="310896" cy="237744"/>
            </a:xfrm>
            <a:prstGeom prst="rect">
              <a:avLst/>
            </a:prstGeom>
            <a:solidFill>
              <a:srgbClr val="10B981"/>
            </a:solidFill>
            <a:ln>
              <a:solidFill>
                <a:srgbClr val="10B98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3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0" name="Text 11">
              <a:extLst>
                <a:ext uri="{FF2B5EF4-FFF2-40B4-BE49-F238E27FC236}">
                  <a16:creationId xmlns:a16="http://schemas.microsoft.com/office/drawing/2014/main" id="{299D4924-73F8-5192-A460-A86EEAA6DCCF}"/>
                </a:ext>
              </a:extLst>
            </p:cNvPr>
            <p:cNvSpPr/>
            <p:nvPr/>
          </p:nvSpPr>
          <p:spPr>
            <a:xfrm>
              <a:off x="8634212" y="2016684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61" name="Text 17">
              <a:extLst>
                <a:ext uri="{FF2B5EF4-FFF2-40B4-BE49-F238E27FC236}">
                  <a16:creationId xmlns:a16="http://schemas.microsoft.com/office/drawing/2014/main" id="{5E5BF9FC-D137-0DA1-6DDF-66FBE8F75890}"/>
                </a:ext>
              </a:extLst>
            </p:cNvPr>
            <p:cNvSpPr/>
            <p:nvPr/>
          </p:nvSpPr>
          <p:spPr>
            <a:xfrm>
              <a:off x="9052282" y="1631430"/>
              <a:ext cx="310896" cy="237744"/>
            </a:xfrm>
            <a:prstGeom prst="rect">
              <a:avLst/>
            </a:prstGeom>
            <a:solidFill>
              <a:srgbClr val="F59E0B"/>
            </a:solidFill>
            <a:ln>
              <a:solidFill>
                <a:srgbClr val="F59E0B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4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2" name="Text 18">
              <a:extLst>
                <a:ext uri="{FF2B5EF4-FFF2-40B4-BE49-F238E27FC236}">
                  <a16:creationId xmlns:a16="http://schemas.microsoft.com/office/drawing/2014/main" id="{93C1985B-E7E9-336A-55FF-9C62F1DD8B21}"/>
                </a:ext>
              </a:extLst>
            </p:cNvPr>
            <p:cNvSpPr/>
            <p:nvPr/>
          </p:nvSpPr>
          <p:spPr>
            <a:xfrm>
              <a:off x="9583210" y="1640597"/>
              <a:ext cx="1859923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59E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학습 및 평가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58ED2C3-0BA6-F855-88D1-0B6F4D3250B0}"/>
              </a:ext>
            </a:extLst>
          </p:cNvPr>
          <p:cNvSpPr/>
          <p:nvPr/>
        </p:nvSpPr>
        <p:spPr>
          <a:xfrm>
            <a:off x="3457492" y="1478779"/>
            <a:ext cx="2435445" cy="12616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 14">
            <a:extLst>
              <a:ext uri="{FF2B5EF4-FFF2-40B4-BE49-F238E27FC236}">
                <a16:creationId xmlns:a16="http://schemas.microsoft.com/office/drawing/2014/main" id="{A3C25F77-B580-0725-1FD1-7A1266753927}"/>
              </a:ext>
            </a:extLst>
          </p:cNvPr>
          <p:cNvSpPr/>
          <p:nvPr/>
        </p:nvSpPr>
        <p:spPr>
          <a:xfrm>
            <a:off x="6865012" y="166074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</a:t>
            </a:r>
            <a:r>
              <a:rPr 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구</a:t>
            </a:r>
            <a:r>
              <a:rPr lang="ko-KR" alt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현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8" name="Text 19">
            <a:extLst>
              <a:ext uri="{FF2B5EF4-FFF2-40B4-BE49-F238E27FC236}">
                <a16:creationId xmlns:a16="http://schemas.microsoft.com/office/drawing/2014/main" id="{DB8F43FB-452A-E2F6-0794-942C290890E4}"/>
              </a:ext>
            </a:extLst>
          </p:cNvPr>
          <p:cNvSpPr/>
          <p:nvPr/>
        </p:nvSpPr>
        <p:spPr>
          <a:xfrm>
            <a:off x="9583210" y="1754467"/>
            <a:ext cx="14157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</a:t>
            </a:r>
            <a:r>
              <a:rPr lang="en-US" sz="107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</a:t>
            </a:r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구현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4-2. test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검증 평가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Text 7">
            <a:extLst>
              <a:ext uri="{FF2B5EF4-FFF2-40B4-BE49-F238E27FC236}">
                <a16:creationId xmlns:a16="http://schemas.microsoft.com/office/drawing/2014/main" id="{C9FD6FBA-0249-20D1-7BBE-F0E4D2EADEA0}"/>
              </a:ext>
            </a:extLst>
          </p:cNvPr>
          <p:cNvSpPr/>
          <p:nvPr/>
        </p:nvSpPr>
        <p:spPr>
          <a:xfrm>
            <a:off x="782801" y="1808524"/>
            <a:ext cx="20848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라이브러리 불러오기</a:t>
            </a:r>
            <a:endParaRPr lang="en-US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 데이터셋 불러오기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2" name="제목 3">
            <a:extLst>
              <a:ext uri="{FF2B5EF4-FFF2-40B4-BE49-F238E27FC236}">
                <a16:creationId xmlns:a16="http://schemas.microsoft.com/office/drawing/2014/main" id="{EFFEA610-EC2A-18F5-26A2-75463C6E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6291522-34C8-E337-5421-47F270250836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2-1. MFCC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특징 추출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15">
            <a:extLst>
              <a:ext uri="{FF2B5EF4-FFF2-40B4-BE49-F238E27FC236}">
                <a16:creationId xmlns:a16="http://schemas.microsoft.com/office/drawing/2014/main" id="{29A879C5-D32B-69FF-FEA9-0758F89CF01D}"/>
              </a:ext>
            </a:extLst>
          </p:cNvPr>
          <p:cNvSpPr/>
          <p:nvPr/>
        </p:nvSpPr>
        <p:spPr>
          <a:xfrm>
            <a:off x="6688305" y="1768353"/>
            <a:ext cx="19131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3-1. MLP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구현</a:t>
            </a:r>
            <a:endParaRPr lang="en-US" altLang="ko-KR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학습 구성 요소 정의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CCD815B-E1B0-930A-B42D-02C6A85074E8}"/>
              </a:ext>
            </a:extLst>
          </p:cNvPr>
          <p:cNvSpPr/>
          <p:nvPr/>
        </p:nvSpPr>
        <p:spPr>
          <a:xfrm>
            <a:off x="3797430" y="1814409"/>
            <a:ext cx="2084832" cy="950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2-1. MFCC </a:t>
            </a:r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추출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2-2.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구성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2-3.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2-4.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8641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BAAB5-73F9-7A6D-42FE-3DA7FE9F6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0CA7D2-670A-A452-B68F-B27C63ED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816AD5-684A-EE9A-D391-EE73F0513D51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2-2.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구성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42FDBD2-ABE3-0AA1-5471-7D578BED5123}"/>
              </a:ext>
            </a:extLst>
          </p:cNvPr>
          <p:cNvGrpSpPr/>
          <p:nvPr/>
        </p:nvGrpSpPr>
        <p:grpSpPr>
          <a:xfrm>
            <a:off x="599923" y="5903262"/>
            <a:ext cx="4886477" cy="891044"/>
            <a:chOff x="6321380" y="2895565"/>
            <a:chExt cx="3831289" cy="89104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541CFA-A015-0909-4364-961A659D917E}"/>
                </a:ext>
              </a:extLst>
            </p:cNvPr>
            <p:cNvSpPr txBox="1"/>
            <p:nvPr/>
          </p:nvSpPr>
          <p:spPr>
            <a:xfrm>
              <a:off x="6321380" y="2895565"/>
              <a:ext cx="2036664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[</a:t>
              </a:r>
              <a:r>
                <a:rPr lang="ko-KR" altLang="en-US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데이터 형태 결과</a:t>
              </a:r>
              <a:r>
                <a:rPr lang="en-US" altLang="ko-KR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] 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E27C3B1-134C-1BC6-F027-DD98EEB391EB}"/>
                </a:ext>
              </a:extLst>
            </p:cNvPr>
            <p:cNvSpPr/>
            <p:nvPr/>
          </p:nvSpPr>
          <p:spPr>
            <a:xfrm>
              <a:off x="6360592" y="2895566"/>
              <a:ext cx="3792077" cy="8910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5F6B6B2B-6503-F691-FC70-5FCC14E41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93" y="6258582"/>
            <a:ext cx="4544680" cy="44701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104638E-6899-3DA7-F7C7-606094832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62" y="2993019"/>
            <a:ext cx="5515745" cy="27721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1DC71B4-F65A-3067-DD1E-E72FDBAD1C86}"/>
              </a:ext>
            </a:extLst>
          </p:cNvPr>
          <p:cNvSpPr txBox="1"/>
          <p:nvPr/>
        </p:nvSpPr>
        <p:spPr>
          <a:xfrm>
            <a:off x="6302116" y="2966663"/>
            <a:ext cx="5985547" cy="134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5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[MFCC </a:t>
            </a:r>
            <a:r>
              <a:rPr lang="ko-KR" altLang="en-US" sz="135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특징 추출</a:t>
            </a:r>
            <a:r>
              <a:rPr lang="en-US" altLang="ko-KR" sz="135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오디오 데이터셋의 경로와 오디오 파일명을 이용해서 오디오 파일과 라벨 </a:t>
            </a:r>
            <a:br>
              <a:rPr lang="en-US" altLang="ko-KR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데이터를 하나씩 불러옴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append() </a:t>
            </a:r>
            <a:r>
              <a:rPr lang="ko-KR" altLang="en-US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함수로 모델이 학습할 입력 데이터</a:t>
            </a:r>
            <a:r>
              <a:rPr lang="en-US" altLang="ko-KR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(X)</a:t>
            </a:r>
            <a:r>
              <a:rPr lang="ko-KR" altLang="en-US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정답 데이터</a:t>
            </a:r>
            <a:r>
              <a:rPr lang="en-US" altLang="ko-KR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(Y)</a:t>
            </a:r>
            <a:r>
              <a:rPr lang="ko-KR" altLang="en-US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채우기</a:t>
            </a:r>
            <a:endParaRPr lang="en-US" altLang="ko-KR" sz="135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39CBABB-4D7B-E2BD-67BE-074850BA75AD}"/>
              </a:ext>
            </a:extLst>
          </p:cNvPr>
          <p:cNvCxnSpPr>
            <a:cxnSpLocks/>
          </p:cNvCxnSpPr>
          <p:nvPr/>
        </p:nvCxnSpPr>
        <p:spPr>
          <a:xfrm>
            <a:off x="2638697" y="3509554"/>
            <a:ext cx="3562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9587E7F2-33D0-157B-DAF7-2E1948FC4D47}"/>
              </a:ext>
            </a:extLst>
          </p:cNvPr>
          <p:cNvCxnSpPr>
            <a:cxnSpLocks/>
          </p:cNvCxnSpPr>
          <p:nvPr/>
        </p:nvCxnSpPr>
        <p:spPr>
          <a:xfrm>
            <a:off x="2072640" y="4772297"/>
            <a:ext cx="412858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C15783B-3726-8AB2-E366-255BF3FA579F}"/>
              </a:ext>
            </a:extLst>
          </p:cNvPr>
          <p:cNvSpPr txBox="1"/>
          <p:nvPr/>
        </p:nvSpPr>
        <p:spPr>
          <a:xfrm>
            <a:off x="6302116" y="4578213"/>
            <a:ext cx="6122124" cy="1650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5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35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  <a:r>
              <a:rPr lang="en-US" altLang="ko-KR" sz="135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(X, Y)</a:t>
            </a:r>
            <a:r>
              <a:rPr lang="ko-KR" altLang="en-US" sz="135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구성</a:t>
            </a:r>
            <a:r>
              <a:rPr lang="en-US" altLang="ko-KR" sz="135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en-US" altLang="ko-KR" sz="135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5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모든 </a:t>
            </a:r>
            <a:r>
              <a:rPr lang="ko-KR" altLang="en-US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데이터를 같은 형식의 숫자 데이터로 맞춰서 한꺼번에 계산</a:t>
            </a:r>
            <a:endParaRPr lang="en-US" altLang="ko-KR" sz="135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5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np.stack</a:t>
            </a:r>
            <a:r>
              <a:rPr lang="en-US" altLang="ko-KR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(X): </a:t>
            </a:r>
            <a:r>
              <a:rPr lang="ko-KR" altLang="en-US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오디오 데이터 </a:t>
            </a:r>
            <a:r>
              <a:rPr lang="en-US" altLang="ko-KR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(N, D) </a:t>
            </a:r>
            <a:r>
              <a:rPr lang="ko-KR" altLang="en-US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변환</a:t>
            </a:r>
            <a:endParaRPr lang="en-US" altLang="ko-KR" sz="135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5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np.array</a:t>
            </a:r>
            <a:r>
              <a:rPr lang="en-US" altLang="ko-KR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(Y): </a:t>
            </a:r>
            <a:r>
              <a:rPr lang="ko-KR" altLang="en-US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라벨 데이터 </a:t>
            </a:r>
            <a:r>
              <a:rPr lang="en-US" altLang="ko-KR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(N, ) </a:t>
            </a:r>
            <a:r>
              <a:rPr lang="ko-KR" altLang="en-US" sz="135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변환</a:t>
            </a:r>
            <a:endParaRPr lang="en-US" altLang="ko-KR" sz="135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5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라벨 데이터 설정</a:t>
            </a:r>
            <a:endParaRPr lang="en-US" altLang="ko-KR" sz="135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A4D75FC-0960-1815-54D5-65282963F8A0}"/>
              </a:ext>
            </a:extLst>
          </p:cNvPr>
          <p:cNvGrpSpPr/>
          <p:nvPr/>
        </p:nvGrpSpPr>
        <p:grpSpPr>
          <a:xfrm>
            <a:off x="550379" y="1513892"/>
            <a:ext cx="10892754" cy="1193430"/>
            <a:chOff x="550379" y="1513892"/>
            <a:chExt cx="10892754" cy="1193430"/>
          </a:xfrm>
        </p:grpSpPr>
        <p:sp>
          <p:nvSpPr>
            <p:cNvPr id="43" name="Text 11">
              <a:extLst>
                <a:ext uri="{FF2B5EF4-FFF2-40B4-BE49-F238E27FC236}">
                  <a16:creationId xmlns:a16="http://schemas.microsoft.com/office/drawing/2014/main" id="{AC7A842D-6E25-6200-DDE0-B8F61186C7EA}"/>
                </a:ext>
              </a:extLst>
            </p:cNvPr>
            <p:cNvSpPr/>
            <p:nvPr/>
          </p:nvSpPr>
          <p:spPr>
            <a:xfrm>
              <a:off x="3124243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44" name="Text 14">
              <a:extLst>
                <a:ext uri="{FF2B5EF4-FFF2-40B4-BE49-F238E27FC236}">
                  <a16:creationId xmlns:a16="http://schemas.microsoft.com/office/drawing/2014/main" id="{A4FE6C8C-3B26-FFC3-58FC-21D067039E72}"/>
                </a:ext>
              </a:extLst>
            </p:cNvPr>
            <p:cNvSpPr/>
            <p:nvPr/>
          </p:nvSpPr>
          <p:spPr>
            <a:xfrm>
              <a:off x="3582123" y="1626218"/>
              <a:ext cx="453814" cy="260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5" name="Text 4">
              <a:extLst>
                <a:ext uri="{FF2B5EF4-FFF2-40B4-BE49-F238E27FC236}">
                  <a16:creationId xmlns:a16="http://schemas.microsoft.com/office/drawing/2014/main" id="{19A0F3E2-C24D-382B-97C7-DA3CD769DE06}"/>
                </a:ext>
              </a:extLst>
            </p:cNvPr>
            <p:cNvSpPr/>
            <p:nvPr/>
          </p:nvSpPr>
          <p:spPr>
            <a:xfrm>
              <a:off x="550379" y="1519066"/>
              <a:ext cx="2577930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B82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6" name="Text 5">
              <a:extLst>
                <a:ext uri="{FF2B5EF4-FFF2-40B4-BE49-F238E27FC236}">
                  <a16:creationId xmlns:a16="http://schemas.microsoft.com/office/drawing/2014/main" id="{47AEC4CF-3D29-538C-FF04-BFCD5DE5A0E7}"/>
                </a:ext>
              </a:extLst>
            </p:cNvPr>
            <p:cNvSpPr/>
            <p:nvPr/>
          </p:nvSpPr>
          <p:spPr>
            <a:xfrm>
              <a:off x="678395" y="1628794"/>
              <a:ext cx="310896" cy="237744"/>
            </a:xfrm>
            <a:prstGeom prst="rect">
              <a:avLst/>
            </a:prstGeom>
            <a:solidFill>
              <a:srgbClr val="3B82F6"/>
            </a:solidFill>
            <a:ln>
              <a:solidFill>
                <a:srgbClr val="3B82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1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7" name="Text 6">
              <a:extLst>
                <a:ext uri="{FF2B5EF4-FFF2-40B4-BE49-F238E27FC236}">
                  <a16:creationId xmlns:a16="http://schemas.microsoft.com/office/drawing/2014/main" id="{77E9A7E7-86C7-250E-592F-61F325CFC9DE}"/>
                </a:ext>
              </a:extLst>
            </p:cNvPr>
            <p:cNvSpPr/>
            <p:nvPr/>
          </p:nvSpPr>
          <p:spPr>
            <a:xfrm>
              <a:off x="1117307" y="1665370"/>
              <a:ext cx="191667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3B82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준비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8" name="Text 8">
              <a:extLst>
                <a:ext uri="{FF2B5EF4-FFF2-40B4-BE49-F238E27FC236}">
                  <a16:creationId xmlns:a16="http://schemas.microsoft.com/office/drawing/2014/main" id="{6DDA5589-4C95-3F78-68D3-33B0F36837DF}"/>
                </a:ext>
              </a:extLst>
            </p:cNvPr>
            <p:cNvSpPr/>
            <p:nvPr/>
          </p:nvSpPr>
          <p:spPr>
            <a:xfrm>
              <a:off x="3428852" y="1514566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8B5C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9" name="Text 10">
              <a:extLst>
                <a:ext uri="{FF2B5EF4-FFF2-40B4-BE49-F238E27FC236}">
                  <a16:creationId xmlns:a16="http://schemas.microsoft.com/office/drawing/2014/main" id="{85E4A42E-C9CB-BCF5-6739-30505D33341F}"/>
                </a:ext>
              </a:extLst>
            </p:cNvPr>
            <p:cNvSpPr/>
            <p:nvPr/>
          </p:nvSpPr>
          <p:spPr>
            <a:xfrm>
              <a:off x="4044938" y="1665370"/>
              <a:ext cx="1542720" cy="2038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1700" b="1" dirty="0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</a:t>
              </a:r>
              <a:r>
                <a:rPr lang="ko-KR" altLang="en-US" sz="1700" b="1" dirty="0" err="1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전처리</a:t>
              </a:r>
              <a:r>
                <a:rPr lang="ko-KR" altLang="en-US" sz="1700" b="1" dirty="0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 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0" name="Text 12">
              <a:extLst>
                <a:ext uri="{FF2B5EF4-FFF2-40B4-BE49-F238E27FC236}">
                  <a16:creationId xmlns:a16="http://schemas.microsoft.com/office/drawing/2014/main" id="{4D33D6CB-EB2B-28CF-9F63-234D47FC18D0}"/>
                </a:ext>
              </a:extLst>
            </p:cNvPr>
            <p:cNvSpPr/>
            <p:nvPr/>
          </p:nvSpPr>
          <p:spPr>
            <a:xfrm>
              <a:off x="6172630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0B981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1" name="Text 16">
              <a:extLst>
                <a:ext uri="{FF2B5EF4-FFF2-40B4-BE49-F238E27FC236}">
                  <a16:creationId xmlns:a16="http://schemas.microsoft.com/office/drawing/2014/main" id="{A385E664-1CE9-2A41-A390-B94C3D6F6ECB}"/>
                </a:ext>
              </a:extLst>
            </p:cNvPr>
            <p:cNvSpPr/>
            <p:nvPr/>
          </p:nvSpPr>
          <p:spPr>
            <a:xfrm>
              <a:off x="8939491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F59E0B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9A240628-DA58-97D1-5CEC-6491C511337B}"/>
                </a:ext>
              </a:extLst>
            </p:cNvPr>
            <p:cNvSpPr/>
            <p:nvPr/>
          </p:nvSpPr>
          <p:spPr>
            <a:xfrm>
              <a:off x="3530645" y="1611310"/>
              <a:ext cx="310896" cy="237744"/>
            </a:xfrm>
            <a:prstGeom prst="rect">
              <a:avLst/>
            </a:prstGeom>
            <a:solidFill>
              <a:srgbClr val="8B5CF6"/>
            </a:solidFill>
            <a:ln>
              <a:solidFill>
                <a:srgbClr val="8B5C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B82E8BC9-2683-5E86-23CB-4D5C9E0FB9A5}"/>
                </a:ext>
              </a:extLst>
            </p:cNvPr>
            <p:cNvSpPr/>
            <p:nvPr/>
          </p:nvSpPr>
          <p:spPr>
            <a:xfrm>
              <a:off x="5867979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54" name="Text 13">
              <a:extLst>
                <a:ext uri="{FF2B5EF4-FFF2-40B4-BE49-F238E27FC236}">
                  <a16:creationId xmlns:a16="http://schemas.microsoft.com/office/drawing/2014/main" id="{DBAF0FEE-C645-D9DD-16D0-BC065B949585}"/>
                </a:ext>
              </a:extLst>
            </p:cNvPr>
            <p:cNvSpPr/>
            <p:nvPr/>
          </p:nvSpPr>
          <p:spPr>
            <a:xfrm>
              <a:off x="6302247" y="1624164"/>
              <a:ext cx="310896" cy="237744"/>
            </a:xfrm>
            <a:prstGeom prst="rect">
              <a:avLst/>
            </a:prstGeom>
            <a:solidFill>
              <a:srgbClr val="10B981"/>
            </a:solidFill>
            <a:ln>
              <a:solidFill>
                <a:srgbClr val="10B98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3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5" name="Text 11">
              <a:extLst>
                <a:ext uri="{FF2B5EF4-FFF2-40B4-BE49-F238E27FC236}">
                  <a16:creationId xmlns:a16="http://schemas.microsoft.com/office/drawing/2014/main" id="{4B1E3B59-8DCC-0D86-EDB4-AE3A798471AC}"/>
                </a:ext>
              </a:extLst>
            </p:cNvPr>
            <p:cNvSpPr/>
            <p:nvPr/>
          </p:nvSpPr>
          <p:spPr>
            <a:xfrm>
              <a:off x="8634212" y="2016684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56" name="Text 17">
              <a:extLst>
                <a:ext uri="{FF2B5EF4-FFF2-40B4-BE49-F238E27FC236}">
                  <a16:creationId xmlns:a16="http://schemas.microsoft.com/office/drawing/2014/main" id="{01F7120A-3DC7-432F-0A65-A28C6E28395C}"/>
                </a:ext>
              </a:extLst>
            </p:cNvPr>
            <p:cNvSpPr/>
            <p:nvPr/>
          </p:nvSpPr>
          <p:spPr>
            <a:xfrm>
              <a:off x="9052282" y="1631430"/>
              <a:ext cx="310896" cy="237744"/>
            </a:xfrm>
            <a:prstGeom prst="rect">
              <a:avLst/>
            </a:prstGeom>
            <a:solidFill>
              <a:srgbClr val="F59E0B"/>
            </a:solidFill>
            <a:ln>
              <a:solidFill>
                <a:srgbClr val="F59E0B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4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7" name="Text 18">
              <a:extLst>
                <a:ext uri="{FF2B5EF4-FFF2-40B4-BE49-F238E27FC236}">
                  <a16:creationId xmlns:a16="http://schemas.microsoft.com/office/drawing/2014/main" id="{DC601DA4-5DD7-D298-206D-93836B80EDFE}"/>
                </a:ext>
              </a:extLst>
            </p:cNvPr>
            <p:cNvSpPr/>
            <p:nvPr/>
          </p:nvSpPr>
          <p:spPr>
            <a:xfrm>
              <a:off x="9583210" y="1640597"/>
              <a:ext cx="1859923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59E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학습 및 평가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E5787F2-82CC-4915-35CA-B062DB517FF0}"/>
              </a:ext>
            </a:extLst>
          </p:cNvPr>
          <p:cNvSpPr/>
          <p:nvPr/>
        </p:nvSpPr>
        <p:spPr>
          <a:xfrm>
            <a:off x="3457492" y="1478779"/>
            <a:ext cx="2435445" cy="12616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25157797-5DB7-BA5B-9AAE-768BFC9EAAE9}"/>
              </a:ext>
            </a:extLst>
          </p:cNvPr>
          <p:cNvSpPr/>
          <p:nvPr/>
        </p:nvSpPr>
        <p:spPr>
          <a:xfrm>
            <a:off x="6865012" y="166074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</a:t>
            </a:r>
            <a:r>
              <a:rPr 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구</a:t>
            </a:r>
            <a:r>
              <a:rPr lang="ko-KR" alt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현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AE58E4F4-8EE5-1805-86FE-9DEBFEC86630}"/>
              </a:ext>
            </a:extLst>
          </p:cNvPr>
          <p:cNvSpPr/>
          <p:nvPr/>
        </p:nvSpPr>
        <p:spPr>
          <a:xfrm>
            <a:off x="9583210" y="1754467"/>
            <a:ext cx="14157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</a:t>
            </a:r>
            <a:r>
              <a:rPr lang="en-US" sz="107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</a:t>
            </a:r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구현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4-2. test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검증 평가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제목 3">
            <a:extLst>
              <a:ext uri="{FF2B5EF4-FFF2-40B4-BE49-F238E27FC236}">
                <a16:creationId xmlns:a16="http://schemas.microsoft.com/office/drawing/2014/main" id="{83BF4EB9-8E51-8429-46FB-C76E44D80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</a:t>
            </a:r>
          </a:p>
        </p:txBody>
      </p:sp>
      <p:sp>
        <p:nvSpPr>
          <p:cNvPr id="67" name="Text 7">
            <a:extLst>
              <a:ext uri="{FF2B5EF4-FFF2-40B4-BE49-F238E27FC236}">
                <a16:creationId xmlns:a16="http://schemas.microsoft.com/office/drawing/2014/main" id="{E106E31F-90C1-5B49-9323-65B2C2D277FD}"/>
              </a:ext>
            </a:extLst>
          </p:cNvPr>
          <p:cNvSpPr/>
          <p:nvPr/>
        </p:nvSpPr>
        <p:spPr>
          <a:xfrm>
            <a:off x="782801" y="1808524"/>
            <a:ext cx="20848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라이브러리 불러오기</a:t>
            </a:r>
            <a:endParaRPr lang="en-US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 데이터셋 불러오기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F07C10A9-0319-D2D8-9132-0FA88E2E3E5D}"/>
              </a:ext>
            </a:extLst>
          </p:cNvPr>
          <p:cNvSpPr/>
          <p:nvPr/>
        </p:nvSpPr>
        <p:spPr>
          <a:xfrm>
            <a:off x="6688305" y="1768353"/>
            <a:ext cx="19131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3-1. MLP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구현</a:t>
            </a:r>
            <a:endParaRPr lang="en-US" altLang="ko-KR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학습 구성 요소 정의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D4BF1726-35F0-DA42-F8DD-2A3DDB7C81E8}"/>
              </a:ext>
            </a:extLst>
          </p:cNvPr>
          <p:cNvSpPr/>
          <p:nvPr/>
        </p:nvSpPr>
        <p:spPr>
          <a:xfrm>
            <a:off x="3797430" y="1814409"/>
            <a:ext cx="2084832" cy="950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2-1. MFCC </a:t>
            </a:r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추출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2-2.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구성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2-3.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2-4.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9418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B8190-A191-691E-3A6D-49CED6A78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C9E11B5-2302-8862-A330-A7FB513C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F4ED57-9EC9-7DB8-C2FD-85D5A0CF67B6}"/>
              </a:ext>
            </a:extLst>
          </p:cNvPr>
          <p:cNvSpPr txBox="1"/>
          <p:nvPr/>
        </p:nvSpPr>
        <p:spPr>
          <a:xfrm>
            <a:off x="6172630" y="3186594"/>
            <a:ext cx="5828948" cy="1636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5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35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  <a:r>
              <a:rPr lang="en-US" altLang="ko-KR" sz="135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(X, Y)</a:t>
            </a:r>
            <a:r>
              <a:rPr lang="ko-KR" altLang="en-US" sz="135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분할 </a:t>
            </a:r>
            <a:r>
              <a:rPr lang="en-US" altLang="ko-KR" sz="135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sz="135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함수 설정</a:t>
            </a:r>
            <a:r>
              <a:rPr lang="en-US" altLang="ko-KR" sz="135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Train_test_split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test_size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: train/test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비율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8:2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분할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test_size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: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분할 범위 설정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5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random_state</a:t>
            </a:r>
            <a:r>
              <a:rPr lang="en-US" altLang="ko-KR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: train/test </a:t>
            </a:r>
            <a:r>
              <a:rPr lang="ko-KR" altLang="en-US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데이터셋이 나뉘는 기준을 설정</a:t>
            </a:r>
            <a:endParaRPr lang="en-US" altLang="ko-KR" sz="135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Stratify : </a:t>
            </a:r>
            <a:r>
              <a:rPr lang="ko-KR" altLang="en-US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라벨 데이터 분포를 </a:t>
            </a:r>
            <a:r>
              <a:rPr lang="en-US" altLang="ko-KR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train/test</a:t>
            </a:r>
            <a:r>
              <a:rPr lang="ko-KR" altLang="en-US" sz="13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동일하게 유지하도록 고정</a:t>
            </a:r>
            <a:endParaRPr lang="en-US" altLang="ko-KR" sz="135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8FF6B16-B4C8-C551-0591-988903C67686}"/>
              </a:ext>
            </a:extLst>
          </p:cNvPr>
          <p:cNvGrpSpPr/>
          <p:nvPr/>
        </p:nvGrpSpPr>
        <p:grpSpPr>
          <a:xfrm>
            <a:off x="550379" y="5059415"/>
            <a:ext cx="4452504" cy="891044"/>
            <a:chOff x="6321380" y="5791165"/>
            <a:chExt cx="4452504" cy="89104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100611A-B6DD-BE47-F927-781C5F415254}"/>
                </a:ext>
              </a:extLst>
            </p:cNvPr>
            <p:cNvSpPr txBox="1"/>
            <p:nvPr/>
          </p:nvSpPr>
          <p:spPr>
            <a:xfrm>
              <a:off x="6321380" y="5791165"/>
              <a:ext cx="2036664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[</a:t>
              </a:r>
              <a:r>
                <a:rPr lang="ko-KR" altLang="en-US" sz="14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데이터 분할 결과</a:t>
              </a:r>
              <a:r>
                <a:rPr lang="en-US" altLang="ko-KR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] 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75417CD2-654D-E59C-3BF9-6FE6ABD90E86}"/>
                </a:ext>
              </a:extLst>
            </p:cNvPr>
            <p:cNvSpPr/>
            <p:nvPr/>
          </p:nvSpPr>
          <p:spPr>
            <a:xfrm>
              <a:off x="6360592" y="5791166"/>
              <a:ext cx="4413292" cy="8910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10CD39C-1738-75A4-3A42-953F3B0D5AD1}"/>
              </a:ext>
            </a:extLst>
          </p:cNvPr>
          <p:cNvGrpSpPr/>
          <p:nvPr/>
        </p:nvGrpSpPr>
        <p:grpSpPr>
          <a:xfrm>
            <a:off x="550379" y="1513892"/>
            <a:ext cx="10892754" cy="1193430"/>
            <a:chOff x="550379" y="1513892"/>
            <a:chExt cx="10892754" cy="1193430"/>
          </a:xfrm>
        </p:grpSpPr>
        <p:sp>
          <p:nvSpPr>
            <p:cNvPr id="46" name="Text 11">
              <a:extLst>
                <a:ext uri="{FF2B5EF4-FFF2-40B4-BE49-F238E27FC236}">
                  <a16:creationId xmlns:a16="http://schemas.microsoft.com/office/drawing/2014/main" id="{ACB65A1C-363B-6A6E-461E-7B50787C0EF3}"/>
                </a:ext>
              </a:extLst>
            </p:cNvPr>
            <p:cNvSpPr/>
            <p:nvPr/>
          </p:nvSpPr>
          <p:spPr>
            <a:xfrm>
              <a:off x="3124243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47" name="Text 14">
              <a:extLst>
                <a:ext uri="{FF2B5EF4-FFF2-40B4-BE49-F238E27FC236}">
                  <a16:creationId xmlns:a16="http://schemas.microsoft.com/office/drawing/2014/main" id="{95AE0AE3-73C7-75A0-3530-6FF51F1341F7}"/>
                </a:ext>
              </a:extLst>
            </p:cNvPr>
            <p:cNvSpPr/>
            <p:nvPr/>
          </p:nvSpPr>
          <p:spPr>
            <a:xfrm>
              <a:off x="3582123" y="1626218"/>
              <a:ext cx="453814" cy="260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C41371F7-9447-BCBE-9090-9393C119B741}"/>
                </a:ext>
              </a:extLst>
            </p:cNvPr>
            <p:cNvSpPr/>
            <p:nvPr/>
          </p:nvSpPr>
          <p:spPr>
            <a:xfrm>
              <a:off x="550379" y="1519066"/>
              <a:ext cx="2577930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B82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753AA6FB-F36E-2F99-30EA-086018959C08}"/>
                </a:ext>
              </a:extLst>
            </p:cNvPr>
            <p:cNvSpPr/>
            <p:nvPr/>
          </p:nvSpPr>
          <p:spPr>
            <a:xfrm>
              <a:off x="678395" y="1628794"/>
              <a:ext cx="310896" cy="237744"/>
            </a:xfrm>
            <a:prstGeom prst="rect">
              <a:avLst/>
            </a:prstGeom>
            <a:solidFill>
              <a:srgbClr val="3B82F6"/>
            </a:solidFill>
            <a:ln>
              <a:solidFill>
                <a:srgbClr val="3B82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1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0" name="Text 6">
              <a:extLst>
                <a:ext uri="{FF2B5EF4-FFF2-40B4-BE49-F238E27FC236}">
                  <a16:creationId xmlns:a16="http://schemas.microsoft.com/office/drawing/2014/main" id="{62EFF2FF-15D4-B33D-97CD-E35181999BB2}"/>
                </a:ext>
              </a:extLst>
            </p:cNvPr>
            <p:cNvSpPr/>
            <p:nvPr/>
          </p:nvSpPr>
          <p:spPr>
            <a:xfrm>
              <a:off x="1117307" y="1665370"/>
              <a:ext cx="191667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3B82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준비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F5C43066-60A3-E084-0315-305225B8B7EF}"/>
                </a:ext>
              </a:extLst>
            </p:cNvPr>
            <p:cNvSpPr/>
            <p:nvPr/>
          </p:nvSpPr>
          <p:spPr>
            <a:xfrm>
              <a:off x="3428852" y="1514566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8B5C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3330B0D5-A35F-BFA1-3837-856625ECDD39}"/>
                </a:ext>
              </a:extLst>
            </p:cNvPr>
            <p:cNvSpPr/>
            <p:nvPr/>
          </p:nvSpPr>
          <p:spPr>
            <a:xfrm>
              <a:off x="4044938" y="1665370"/>
              <a:ext cx="1542720" cy="2038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1700" b="1" dirty="0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</a:t>
              </a:r>
              <a:r>
                <a:rPr lang="ko-KR" altLang="en-US" sz="1700" b="1" dirty="0" err="1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전처리</a:t>
              </a:r>
              <a:r>
                <a:rPr lang="ko-KR" altLang="en-US" sz="1700" b="1" dirty="0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 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3" name="Text 12">
              <a:extLst>
                <a:ext uri="{FF2B5EF4-FFF2-40B4-BE49-F238E27FC236}">
                  <a16:creationId xmlns:a16="http://schemas.microsoft.com/office/drawing/2014/main" id="{B949112B-A8A1-C624-189C-0EF33B4118B4}"/>
                </a:ext>
              </a:extLst>
            </p:cNvPr>
            <p:cNvSpPr/>
            <p:nvPr/>
          </p:nvSpPr>
          <p:spPr>
            <a:xfrm>
              <a:off x="6172630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0B981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4" name="Text 16">
              <a:extLst>
                <a:ext uri="{FF2B5EF4-FFF2-40B4-BE49-F238E27FC236}">
                  <a16:creationId xmlns:a16="http://schemas.microsoft.com/office/drawing/2014/main" id="{AF1B09D9-82A9-B0BA-8E06-23DC75ECC504}"/>
                </a:ext>
              </a:extLst>
            </p:cNvPr>
            <p:cNvSpPr/>
            <p:nvPr/>
          </p:nvSpPr>
          <p:spPr>
            <a:xfrm>
              <a:off x="8939491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F59E0B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5" name="Text 9">
              <a:extLst>
                <a:ext uri="{FF2B5EF4-FFF2-40B4-BE49-F238E27FC236}">
                  <a16:creationId xmlns:a16="http://schemas.microsoft.com/office/drawing/2014/main" id="{B2DCDCB1-A8B0-3475-9D2E-04E79D5D62B7}"/>
                </a:ext>
              </a:extLst>
            </p:cNvPr>
            <p:cNvSpPr/>
            <p:nvPr/>
          </p:nvSpPr>
          <p:spPr>
            <a:xfrm>
              <a:off x="3530645" y="1611310"/>
              <a:ext cx="310896" cy="237744"/>
            </a:xfrm>
            <a:prstGeom prst="rect">
              <a:avLst/>
            </a:prstGeom>
            <a:solidFill>
              <a:srgbClr val="8B5CF6"/>
            </a:solidFill>
            <a:ln>
              <a:solidFill>
                <a:srgbClr val="8B5C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6" name="Text 11">
              <a:extLst>
                <a:ext uri="{FF2B5EF4-FFF2-40B4-BE49-F238E27FC236}">
                  <a16:creationId xmlns:a16="http://schemas.microsoft.com/office/drawing/2014/main" id="{4B81CAC5-830A-EE0F-8AC3-F6D9217AB35B}"/>
                </a:ext>
              </a:extLst>
            </p:cNvPr>
            <p:cNvSpPr/>
            <p:nvPr/>
          </p:nvSpPr>
          <p:spPr>
            <a:xfrm>
              <a:off x="5867979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57" name="Text 13">
              <a:extLst>
                <a:ext uri="{FF2B5EF4-FFF2-40B4-BE49-F238E27FC236}">
                  <a16:creationId xmlns:a16="http://schemas.microsoft.com/office/drawing/2014/main" id="{2757EEFF-879D-C65D-31D3-EB1F336BAC37}"/>
                </a:ext>
              </a:extLst>
            </p:cNvPr>
            <p:cNvSpPr/>
            <p:nvPr/>
          </p:nvSpPr>
          <p:spPr>
            <a:xfrm>
              <a:off x="6302247" y="1624164"/>
              <a:ext cx="310896" cy="237744"/>
            </a:xfrm>
            <a:prstGeom prst="rect">
              <a:avLst/>
            </a:prstGeom>
            <a:solidFill>
              <a:srgbClr val="10B981"/>
            </a:solidFill>
            <a:ln>
              <a:solidFill>
                <a:srgbClr val="10B98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3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8" name="Text 11">
              <a:extLst>
                <a:ext uri="{FF2B5EF4-FFF2-40B4-BE49-F238E27FC236}">
                  <a16:creationId xmlns:a16="http://schemas.microsoft.com/office/drawing/2014/main" id="{62B3BE30-1CA5-6515-9246-5DBF5DFFC169}"/>
                </a:ext>
              </a:extLst>
            </p:cNvPr>
            <p:cNvSpPr/>
            <p:nvPr/>
          </p:nvSpPr>
          <p:spPr>
            <a:xfrm>
              <a:off x="8634212" y="2016684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59" name="Text 17">
              <a:extLst>
                <a:ext uri="{FF2B5EF4-FFF2-40B4-BE49-F238E27FC236}">
                  <a16:creationId xmlns:a16="http://schemas.microsoft.com/office/drawing/2014/main" id="{1CD1D96C-FC45-B1CC-31F6-8EE71ABAE40B}"/>
                </a:ext>
              </a:extLst>
            </p:cNvPr>
            <p:cNvSpPr/>
            <p:nvPr/>
          </p:nvSpPr>
          <p:spPr>
            <a:xfrm>
              <a:off x="9052282" y="1631430"/>
              <a:ext cx="310896" cy="237744"/>
            </a:xfrm>
            <a:prstGeom prst="rect">
              <a:avLst/>
            </a:prstGeom>
            <a:solidFill>
              <a:srgbClr val="F59E0B"/>
            </a:solidFill>
            <a:ln>
              <a:solidFill>
                <a:srgbClr val="F59E0B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4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0" name="Text 18">
              <a:extLst>
                <a:ext uri="{FF2B5EF4-FFF2-40B4-BE49-F238E27FC236}">
                  <a16:creationId xmlns:a16="http://schemas.microsoft.com/office/drawing/2014/main" id="{476B4DDB-5280-1B88-F1D4-5E960A10151E}"/>
                </a:ext>
              </a:extLst>
            </p:cNvPr>
            <p:cNvSpPr/>
            <p:nvPr/>
          </p:nvSpPr>
          <p:spPr>
            <a:xfrm>
              <a:off x="9583210" y="1640597"/>
              <a:ext cx="1859923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59E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학습 및 평가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D2E530B-56E4-AEC2-D812-890FCC83B43D}"/>
              </a:ext>
            </a:extLst>
          </p:cNvPr>
          <p:cNvSpPr/>
          <p:nvPr/>
        </p:nvSpPr>
        <p:spPr>
          <a:xfrm>
            <a:off x="3457492" y="1478779"/>
            <a:ext cx="2435445" cy="12616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615D3242-3C55-3225-990E-FE87B951B697}"/>
              </a:ext>
            </a:extLst>
          </p:cNvPr>
          <p:cNvSpPr/>
          <p:nvPr/>
        </p:nvSpPr>
        <p:spPr>
          <a:xfrm>
            <a:off x="6865012" y="166074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</a:t>
            </a:r>
            <a:r>
              <a:rPr 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구</a:t>
            </a:r>
            <a:r>
              <a:rPr lang="ko-KR" alt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현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0CA31868-75AF-6A40-FDA0-4EC3D144E6D2}"/>
              </a:ext>
            </a:extLst>
          </p:cNvPr>
          <p:cNvSpPr/>
          <p:nvPr/>
        </p:nvSpPr>
        <p:spPr>
          <a:xfrm>
            <a:off x="9583210" y="1754467"/>
            <a:ext cx="14157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</a:t>
            </a:r>
            <a:r>
              <a:rPr lang="en-US" sz="107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</a:t>
            </a:r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구현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4-2. test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검증 평가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6B231E7-D967-E0A3-FE37-544D5D7A3FB2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2-2.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구성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제목 3">
            <a:extLst>
              <a:ext uri="{FF2B5EF4-FFF2-40B4-BE49-F238E27FC236}">
                <a16:creationId xmlns:a16="http://schemas.microsoft.com/office/drawing/2014/main" id="{5E52A853-0C11-B61B-9A47-7CF518C3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</a:t>
            </a:r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62AAA5DE-44BF-497D-31DC-D82601866399}"/>
              </a:ext>
            </a:extLst>
          </p:cNvPr>
          <p:cNvSpPr/>
          <p:nvPr/>
        </p:nvSpPr>
        <p:spPr>
          <a:xfrm>
            <a:off x="782801" y="1808524"/>
            <a:ext cx="20848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라이브러리 불러오기</a:t>
            </a:r>
            <a:endParaRPr lang="en-US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 데이터셋 불러오기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B4B44F26-0681-B79C-414E-80F1CBB28614}"/>
              </a:ext>
            </a:extLst>
          </p:cNvPr>
          <p:cNvSpPr/>
          <p:nvPr/>
        </p:nvSpPr>
        <p:spPr>
          <a:xfrm>
            <a:off x="6688305" y="1768353"/>
            <a:ext cx="19131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3-1. MLP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구현</a:t>
            </a:r>
            <a:endParaRPr lang="en-US" altLang="ko-KR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학습 구성 요소 정의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96FC2FF-5185-4F95-2896-389EC61BA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86" y="3603722"/>
            <a:ext cx="5311761" cy="11948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576464F-35A6-FEDD-961A-B3C416AF8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48" y="5443414"/>
            <a:ext cx="3700097" cy="437142"/>
          </a:xfrm>
          <a:prstGeom prst="rect">
            <a:avLst/>
          </a:prstGeom>
        </p:spPr>
      </p:pic>
      <p:sp>
        <p:nvSpPr>
          <p:cNvPr id="13" name="Text 11">
            <a:extLst>
              <a:ext uri="{FF2B5EF4-FFF2-40B4-BE49-F238E27FC236}">
                <a16:creationId xmlns:a16="http://schemas.microsoft.com/office/drawing/2014/main" id="{61C4E26B-6FF0-7923-A859-5C40D59BF290}"/>
              </a:ext>
            </a:extLst>
          </p:cNvPr>
          <p:cNvSpPr/>
          <p:nvPr/>
        </p:nvSpPr>
        <p:spPr>
          <a:xfrm>
            <a:off x="3797430" y="1814409"/>
            <a:ext cx="2084832" cy="950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2-1. MFCC </a:t>
            </a:r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추출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2-2.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구성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2-3.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2-4.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4413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90726-AEF7-B1A6-C184-92FD53A33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림 40">
            <a:extLst>
              <a:ext uri="{FF2B5EF4-FFF2-40B4-BE49-F238E27FC236}">
                <a16:creationId xmlns:a16="http://schemas.microsoft.com/office/drawing/2014/main" id="{9B3A9E32-8077-D5A1-A3F9-FE5E0234A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726"/>
          <a:stretch>
            <a:fillRect/>
          </a:stretch>
        </p:blipFill>
        <p:spPr>
          <a:xfrm>
            <a:off x="550379" y="3364100"/>
            <a:ext cx="5693066" cy="89104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652C67B-1A83-B52C-994B-5E26AD8F3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E866410-CBAA-E2D3-A7E3-DA15EF32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1EF98A-3B12-5939-3A6D-C258295E90EE}"/>
              </a:ext>
            </a:extLst>
          </p:cNvPr>
          <p:cNvSpPr txBox="1"/>
          <p:nvPr/>
        </p:nvSpPr>
        <p:spPr>
          <a:xfrm>
            <a:off x="6302247" y="2989429"/>
            <a:ext cx="5946035" cy="1557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 </a:t>
            </a:r>
            <a:r>
              <a:rPr lang="en-US" altLang="ko-KR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sklearn.preprocessing.StandardScaler</a:t>
            </a:r>
            <a:r>
              <a:rPr lang="en-US" altLang="ko-KR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()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b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각 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feature</a:t>
            </a:r>
            <a:r>
              <a:rPr lang="ko-KR" altLang="en-US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평균을 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0, </a:t>
            </a:r>
            <a:r>
              <a:rPr lang="ko-KR" altLang="en-US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표준편차를 </a:t>
            </a:r>
            <a:r>
              <a:rPr lang="en-US" altLang="ko-KR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3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맞추는 특징 표준화 함수</a:t>
            </a:r>
            <a:endParaRPr lang="en-US" altLang="ko-KR" sz="13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주의 </a:t>
            </a:r>
            <a:r>
              <a:rPr lang="en-US" altLang="ko-KR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Train </a:t>
            </a:r>
            <a:r>
              <a:rPr lang="ko-KR" altLang="en-US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데이터로 </a:t>
            </a:r>
            <a:r>
              <a:rPr lang="en-US" altLang="ko-KR" sz="1300" b="1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fit_transform</a:t>
            </a:r>
            <a:r>
              <a:rPr lang="ko-KR" altLang="en-US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으로 표준화 기준 생성</a:t>
            </a:r>
            <a:br>
              <a:rPr lang="en-US" altLang="ko-KR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test </a:t>
            </a:r>
            <a:r>
              <a:rPr lang="ko-KR" altLang="en-US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데이터는 </a:t>
            </a:r>
            <a:r>
              <a:rPr lang="en-US" altLang="ko-KR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transform</a:t>
            </a:r>
            <a:r>
              <a:rPr lang="ko-KR" altLang="en-US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으로 적용</a:t>
            </a:r>
            <a:endParaRPr lang="en-US" altLang="ko-KR" sz="1300" b="1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D91F5-848C-076F-19A1-73875A0C83F1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2-3.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</a:t>
            </a: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97765D9-353B-EA0B-F9F7-EF5070A472BB}"/>
              </a:ext>
            </a:extLst>
          </p:cNvPr>
          <p:cNvGrpSpPr/>
          <p:nvPr/>
        </p:nvGrpSpPr>
        <p:grpSpPr>
          <a:xfrm>
            <a:off x="528799" y="4667890"/>
            <a:ext cx="5567201" cy="891044"/>
            <a:chOff x="6321380" y="5791165"/>
            <a:chExt cx="4452504" cy="89104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507B1BA-E927-6996-8D3B-DE78F66D7F6C}"/>
                </a:ext>
              </a:extLst>
            </p:cNvPr>
            <p:cNvSpPr txBox="1"/>
            <p:nvPr/>
          </p:nvSpPr>
          <p:spPr>
            <a:xfrm>
              <a:off x="6321380" y="5791165"/>
              <a:ext cx="253019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[</a:t>
              </a:r>
              <a:r>
                <a:rPr lang="ko-KR" altLang="en-US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입력 </a:t>
              </a:r>
              <a:r>
                <a:rPr lang="ko-KR" altLang="en-US" sz="14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데이터</a:t>
              </a:r>
              <a:r>
                <a:rPr lang="en-US" altLang="ko-KR" sz="14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4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라벨 데이터 </a:t>
              </a:r>
              <a:r>
                <a:rPr lang="en-US" altLang="ko-KR" sz="14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shape</a:t>
              </a:r>
              <a:r>
                <a:rPr lang="ko-KR" altLang="en-US" sz="14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확인</a:t>
              </a:r>
              <a:r>
                <a:rPr lang="en-US" altLang="ko-KR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] 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A30A592-12EF-5AA5-B5D4-17FD64AF2841}"/>
                </a:ext>
              </a:extLst>
            </p:cNvPr>
            <p:cNvSpPr/>
            <p:nvPr/>
          </p:nvSpPr>
          <p:spPr>
            <a:xfrm>
              <a:off x="6360592" y="5791166"/>
              <a:ext cx="4413292" cy="8910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A61C687-1ADE-C812-0874-156995AEA318}"/>
              </a:ext>
            </a:extLst>
          </p:cNvPr>
          <p:cNvGrpSpPr/>
          <p:nvPr/>
        </p:nvGrpSpPr>
        <p:grpSpPr>
          <a:xfrm>
            <a:off x="550379" y="1513892"/>
            <a:ext cx="10892754" cy="1193430"/>
            <a:chOff x="550379" y="1513892"/>
            <a:chExt cx="10892754" cy="1193430"/>
          </a:xfrm>
        </p:grpSpPr>
        <p:sp>
          <p:nvSpPr>
            <p:cNvPr id="44" name="Text 11">
              <a:extLst>
                <a:ext uri="{FF2B5EF4-FFF2-40B4-BE49-F238E27FC236}">
                  <a16:creationId xmlns:a16="http://schemas.microsoft.com/office/drawing/2014/main" id="{69388F12-4190-9010-0EFE-AFA7A5848B56}"/>
                </a:ext>
              </a:extLst>
            </p:cNvPr>
            <p:cNvSpPr/>
            <p:nvPr/>
          </p:nvSpPr>
          <p:spPr>
            <a:xfrm>
              <a:off x="3124243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45" name="Text 14">
              <a:extLst>
                <a:ext uri="{FF2B5EF4-FFF2-40B4-BE49-F238E27FC236}">
                  <a16:creationId xmlns:a16="http://schemas.microsoft.com/office/drawing/2014/main" id="{4042B297-6FAA-9B4A-B7D3-8A79533E4E0E}"/>
                </a:ext>
              </a:extLst>
            </p:cNvPr>
            <p:cNvSpPr/>
            <p:nvPr/>
          </p:nvSpPr>
          <p:spPr>
            <a:xfrm>
              <a:off x="3582123" y="1626218"/>
              <a:ext cx="453814" cy="260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6" name="Text 4">
              <a:extLst>
                <a:ext uri="{FF2B5EF4-FFF2-40B4-BE49-F238E27FC236}">
                  <a16:creationId xmlns:a16="http://schemas.microsoft.com/office/drawing/2014/main" id="{5FA53DA1-F37F-1536-DFDC-5D8A18D4382B}"/>
                </a:ext>
              </a:extLst>
            </p:cNvPr>
            <p:cNvSpPr/>
            <p:nvPr/>
          </p:nvSpPr>
          <p:spPr>
            <a:xfrm>
              <a:off x="550379" y="1519066"/>
              <a:ext cx="2577930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B82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7" name="Text 5">
              <a:extLst>
                <a:ext uri="{FF2B5EF4-FFF2-40B4-BE49-F238E27FC236}">
                  <a16:creationId xmlns:a16="http://schemas.microsoft.com/office/drawing/2014/main" id="{DBD8EC3B-0292-6B6C-A839-16F08C7072B3}"/>
                </a:ext>
              </a:extLst>
            </p:cNvPr>
            <p:cNvSpPr/>
            <p:nvPr/>
          </p:nvSpPr>
          <p:spPr>
            <a:xfrm>
              <a:off x="678395" y="1628794"/>
              <a:ext cx="310896" cy="237744"/>
            </a:xfrm>
            <a:prstGeom prst="rect">
              <a:avLst/>
            </a:prstGeom>
            <a:solidFill>
              <a:srgbClr val="3B82F6"/>
            </a:solidFill>
            <a:ln>
              <a:solidFill>
                <a:srgbClr val="3B82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1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8" name="Text 6">
              <a:extLst>
                <a:ext uri="{FF2B5EF4-FFF2-40B4-BE49-F238E27FC236}">
                  <a16:creationId xmlns:a16="http://schemas.microsoft.com/office/drawing/2014/main" id="{5193FE92-5898-2ADA-99BE-BD310857350B}"/>
                </a:ext>
              </a:extLst>
            </p:cNvPr>
            <p:cNvSpPr/>
            <p:nvPr/>
          </p:nvSpPr>
          <p:spPr>
            <a:xfrm>
              <a:off x="1117307" y="1665370"/>
              <a:ext cx="191667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3B82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준비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9" name="Text 8">
              <a:extLst>
                <a:ext uri="{FF2B5EF4-FFF2-40B4-BE49-F238E27FC236}">
                  <a16:creationId xmlns:a16="http://schemas.microsoft.com/office/drawing/2014/main" id="{39FCA59B-D81B-9D59-7238-15551F33657D}"/>
                </a:ext>
              </a:extLst>
            </p:cNvPr>
            <p:cNvSpPr/>
            <p:nvPr/>
          </p:nvSpPr>
          <p:spPr>
            <a:xfrm>
              <a:off x="3428852" y="1514566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8B5C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0" name="Text 10">
              <a:extLst>
                <a:ext uri="{FF2B5EF4-FFF2-40B4-BE49-F238E27FC236}">
                  <a16:creationId xmlns:a16="http://schemas.microsoft.com/office/drawing/2014/main" id="{2BB80201-2450-7BBC-54CB-B63FB23D7FC4}"/>
                </a:ext>
              </a:extLst>
            </p:cNvPr>
            <p:cNvSpPr/>
            <p:nvPr/>
          </p:nvSpPr>
          <p:spPr>
            <a:xfrm>
              <a:off x="4044938" y="1665370"/>
              <a:ext cx="1542720" cy="2038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1700" b="1" dirty="0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</a:t>
              </a:r>
              <a:r>
                <a:rPr lang="ko-KR" altLang="en-US" sz="1700" b="1" dirty="0" err="1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전처리</a:t>
              </a:r>
              <a:r>
                <a:rPr lang="ko-KR" altLang="en-US" sz="1700" b="1" dirty="0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 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1" name="Text 12">
              <a:extLst>
                <a:ext uri="{FF2B5EF4-FFF2-40B4-BE49-F238E27FC236}">
                  <a16:creationId xmlns:a16="http://schemas.microsoft.com/office/drawing/2014/main" id="{E9C3A63E-862E-D9C9-946C-38E7C3753B91}"/>
                </a:ext>
              </a:extLst>
            </p:cNvPr>
            <p:cNvSpPr/>
            <p:nvPr/>
          </p:nvSpPr>
          <p:spPr>
            <a:xfrm>
              <a:off x="6172630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0B981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2" name="Text 16">
              <a:extLst>
                <a:ext uri="{FF2B5EF4-FFF2-40B4-BE49-F238E27FC236}">
                  <a16:creationId xmlns:a16="http://schemas.microsoft.com/office/drawing/2014/main" id="{E22581FB-BBCF-02DC-345E-5C29C5B2B75F}"/>
                </a:ext>
              </a:extLst>
            </p:cNvPr>
            <p:cNvSpPr/>
            <p:nvPr/>
          </p:nvSpPr>
          <p:spPr>
            <a:xfrm>
              <a:off x="8939491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F59E0B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3" name="Text 9">
              <a:extLst>
                <a:ext uri="{FF2B5EF4-FFF2-40B4-BE49-F238E27FC236}">
                  <a16:creationId xmlns:a16="http://schemas.microsoft.com/office/drawing/2014/main" id="{111F76B7-DB4A-7D95-7216-E6192013259B}"/>
                </a:ext>
              </a:extLst>
            </p:cNvPr>
            <p:cNvSpPr/>
            <p:nvPr/>
          </p:nvSpPr>
          <p:spPr>
            <a:xfrm>
              <a:off x="3530645" y="1611310"/>
              <a:ext cx="310896" cy="237744"/>
            </a:xfrm>
            <a:prstGeom prst="rect">
              <a:avLst/>
            </a:prstGeom>
            <a:solidFill>
              <a:srgbClr val="8B5CF6"/>
            </a:solidFill>
            <a:ln>
              <a:solidFill>
                <a:srgbClr val="8B5C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07D86A49-2F3F-435F-BB42-252713AEC6F5}"/>
                </a:ext>
              </a:extLst>
            </p:cNvPr>
            <p:cNvSpPr/>
            <p:nvPr/>
          </p:nvSpPr>
          <p:spPr>
            <a:xfrm>
              <a:off x="5867979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DEB39A39-66CE-6D78-E9D7-276122844B55}"/>
                </a:ext>
              </a:extLst>
            </p:cNvPr>
            <p:cNvSpPr/>
            <p:nvPr/>
          </p:nvSpPr>
          <p:spPr>
            <a:xfrm>
              <a:off x="6302247" y="1624164"/>
              <a:ext cx="310896" cy="237744"/>
            </a:xfrm>
            <a:prstGeom prst="rect">
              <a:avLst/>
            </a:prstGeom>
            <a:solidFill>
              <a:srgbClr val="10B981"/>
            </a:solidFill>
            <a:ln>
              <a:solidFill>
                <a:srgbClr val="10B98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3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6" name="Text 11">
              <a:extLst>
                <a:ext uri="{FF2B5EF4-FFF2-40B4-BE49-F238E27FC236}">
                  <a16:creationId xmlns:a16="http://schemas.microsoft.com/office/drawing/2014/main" id="{16D54A5D-C561-1337-EC8C-2E5B014D6FDD}"/>
                </a:ext>
              </a:extLst>
            </p:cNvPr>
            <p:cNvSpPr/>
            <p:nvPr/>
          </p:nvSpPr>
          <p:spPr>
            <a:xfrm>
              <a:off x="8634212" y="2016684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57" name="Text 17">
              <a:extLst>
                <a:ext uri="{FF2B5EF4-FFF2-40B4-BE49-F238E27FC236}">
                  <a16:creationId xmlns:a16="http://schemas.microsoft.com/office/drawing/2014/main" id="{696D07CF-3856-8E9C-3F73-98A5792283F8}"/>
                </a:ext>
              </a:extLst>
            </p:cNvPr>
            <p:cNvSpPr/>
            <p:nvPr/>
          </p:nvSpPr>
          <p:spPr>
            <a:xfrm>
              <a:off x="9052282" y="1631430"/>
              <a:ext cx="310896" cy="237744"/>
            </a:xfrm>
            <a:prstGeom prst="rect">
              <a:avLst/>
            </a:prstGeom>
            <a:solidFill>
              <a:srgbClr val="F59E0B"/>
            </a:solidFill>
            <a:ln>
              <a:solidFill>
                <a:srgbClr val="F59E0B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4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8" name="Text 18">
              <a:extLst>
                <a:ext uri="{FF2B5EF4-FFF2-40B4-BE49-F238E27FC236}">
                  <a16:creationId xmlns:a16="http://schemas.microsoft.com/office/drawing/2014/main" id="{61FE17BD-8CC8-B740-64D0-FE46116C8E05}"/>
                </a:ext>
              </a:extLst>
            </p:cNvPr>
            <p:cNvSpPr/>
            <p:nvPr/>
          </p:nvSpPr>
          <p:spPr>
            <a:xfrm>
              <a:off x="9583210" y="1640597"/>
              <a:ext cx="1859923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59E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학습 및 평가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EED6159-8079-7E66-4937-F34D532A3BE9}"/>
              </a:ext>
            </a:extLst>
          </p:cNvPr>
          <p:cNvSpPr/>
          <p:nvPr/>
        </p:nvSpPr>
        <p:spPr>
          <a:xfrm>
            <a:off x="3457492" y="1478779"/>
            <a:ext cx="2435445" cy="12616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8F4CC6E1-9875-3AA1-0B71-831543E496F3}"/>
              </a:ext>
            </a:extLst>
          </p:cNvPr>
          <p:cNvSpPr/>
          <p:nvPr/>
        </p:nvSpPr>
        <p:spPr>
          <a:xfrm>
            <a:off x="6865012" y="166074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</a:t>
            </a:r>
            <a:r>
              <a:rPr 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구</a:t>
            </a:r>
            <a:r>
              <a:rPr lang="ko-KR" alt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현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Text 19">
            <a:extLst>
              <a:ext uri="{FF2B5EF4-FFF2-40B4-BE49-F238E27FC236}">
                <a16:creationId xmlns:a16="http://schemas.microsoft.com/office/drawing/2014/main" id="{567BF4E8-2FE3-FCC3-2ED5-76BB5462ACE7}"/>
              </a:ext>
            </a:extLst>
          </p:cNvPr>
          <p:cNvSpPr/>
          <p:nvPr/>
        </p:nvSpPr>
        <p:spPr>
          <a:xfrm>
            <a:off x="9583210" y="1754467"/>
            <a:ext cx="14157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</a:t>
            </a:r>
            <a:r>
              <a:rPr lang="en-US" sz="107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</a:t>
            </a:r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구현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4-2. test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검증 평가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Text 7">
            <a:extLst>
              <a:ext uri="{FF2B5EF4-FFF2-40B4-BE49-F238E27FC236}">
                <a16:creationId xmlns:a16="http://schemas.microsoft.com/office/drawing/2014/main" id="{EF3045C4-42FA-6515-C019-04416B82B027}"/>
              </a:ext>
            </a:extLst>
          </p:cNvPr>
          <p:cNvSpPr/>
          <p:nvPr/>
        </p:nvSpPr>
        <p:spPr>
          <a:xfrm>
            <a:off x="782801" y="1808524"/>
            <a:ext cx="20848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라이브러리 불러오기</a:t>
            </a:r>
            <a:endParaRPr lang="en-US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 데이터셋 불러오기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6CC555C0-E553-2183-FD22-3DC73413BA1D}"/>
              </a:ext>
            </a:extLst>
          </p:cNvPr>
          <p:cNvSpPr/>
          <p:nvPr/>
        </p:nvSpPr>
        <p:spPr>
          <a:xfrm>
            <a:off x="6688305" y="1768353"/>
            <a:ext cx="19131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3-1. MLP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구현</a:t>
            </a:r>
            <a:endParaRPr lang="en-US" altLang="ko-KR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학습 구성 요소 정의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DE43B9A-EC8E-13F1-828C-C0A981769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95" y="5072490"/>
            <a:ext cx="5043136" cy="307776"/>
          </a:xfrm>
          <a:prstGeom prst="rect">
            <a:avLst/>
          </a:prstGeom>
        </p:spPr>
      </p:pic>
      <p:sp>
        <p:nvSpPr>
          <p:cNvPr id="12" name="Text 11">
            <a:extLst>
              <a:ext uri="{FF2B5EF4-FFF2-40B4-BE49-F238E27FC236}">
                <a16:creationId xmlns:a16="http://schemas.microsoft.com/office/drawing/2014/main" id="{3631FE1E-6799-A5DF-C2CB-9932F24C806D}"/>
              </a:ext>
            </a:extLst>
          </p:cNvPr>
          <p:cNvSpPr/>
          <p:nvPr/>
        </p:nvSpPr>
        <p:spPr>
          <a:xfrm>
            <a:off x="3797430" y="1814409"/>
            <a:ext cx="2084832" cy="950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2-1. MFCC </a:t>
            </a:r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추출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2-2.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구성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2-3.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2-4.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3419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DE802-78E0-0BE2-742A-38E303C05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F568D48-18D2-533B-AED1-EB98CA4E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F1B157-0370-E3A7-47C3-2A5C8A368790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2-4. </a:t>
            </a:r>
            <a:r>
              <a:rPr lang="ko-KR" altLang="en-US" sz="20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20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20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6" name="그림 35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E3D2E9-B924-EBC7-7FDF-D711728677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667"/>
          <a:stretch>
            <a:fillRect/>
          </a:stretch>
        </p:blipFill>
        <p:spPr>
          <a:xfrm>
            <a:off x="420950" y="3580777"/>
            <a:ext cx="5905337" cy="2027434"/>
          </a:xfrm>
          <a:prstGeom prst="rect">
            <a:avLst/>
          </a:prstGeom>
        </p:spPr>
      </p:pic>
      <p:sp>
        <p:nvSpPr>
          <p:cNvPr id="6" name="제목 3">
            <a:extLst>
              <a:ext uri="{FF2B5EF4-FFF2-40B4-BE49-F238E27FC236}">
                <a16:creationId xmlns:a16="http://schemas.microsoft.com/office/drawing/2014/main" id="{7071E0C4-FD0C-8E62-4457-CE1CE9BF9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–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AB06E-58E6-327F-D1F7-0E99B2710C8A}"/>
              </a:ext>
            </a:extLst>
          </p:cNvPr>
          <p:cNvSpPr txBox="1"/>
          <p:nvPr/>
        </p:nvSpPr>
        <p:spPr>
          <a:xfrm>
            <a:off x="6279068" y="3204940"/>
            <a:ext cx="577570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r>
              <a:rPr lang="en-US" altLang="ko-KR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en-US" altLang="ko-KR" sz="140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Numpy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배열을 </a:t>
            </a: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PyTorch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입력 형태인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tensor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변환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X: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입력 </a:t>
            </a:r>
            <a:r>
              <a:rPr lang="ko-KR" altLang="en-US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특징값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→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float32 (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실수형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y: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분류 라벨 →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long (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정수형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DataLoader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</a:t>
            </a:r>
            <a:r>
              <a:rPr lang="en-US" altLang="ko-KR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batch_size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만큼 데이터를 나눔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batch_size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데이터셋을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batch size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나누는 범위</a:t>
            </a: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shuffle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파라미터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데이터의 순서를 섞을지 결정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train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데이터는 섞어 특정 패턴만 학습하려는 편향을 완화하고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b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test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데이터는 순서 유지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39B9F28-4211-6205-497B-64C1C4614E12}"/>
              </a:ext>
            </a:extLst>
          </p:cNvPr>
          <p:cNvCxnSpPr>
            <a:cxnSpLocks/>
          </p:cNvCxnSpPr>
          <p:nvPr/>
        </p:nvCxnSpPr>
        <p:spPr>
          <a:xfrm>
            <a:off x="4044938" y="3744686"/>
            <a:ext cx="22341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EA67B59-78A5-98AD-E37B-6938C15E5EC8}"/>
              </a:ext>
            </a:extLst>
          </p:cNvPr>
          <p:cNvGrpSpPr/>
          <p:nvPr/>
        </p:nvGrpSpPr>
        <p:grpSpPr>
          <a:xfrm>
            <a:off x="550379" y="1513892"/>
            <a:ext cx="10892754" cy="1193430"/>
            <a:chOff x="550379" y="1513892"/>
            <a:chExt cx="10892754" cy="1193430"/>
          </a:xfrm>
        </p:grpSpPr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B5B9C62E-5E9F-6D18-9357-48332D8D5C18}"/>
                </a:ext>
              </a:extLst>
            </p:cNvPr>
            <p:cNvSpPr/>
            <p:nvPr/>
          </p:nvSpPr>
          <p:spPr>
            <a:xfrm>
              <a:off x="3124243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30" name="Text 14">
              <a:extLst>
                <a:ext uri="{FF2B5EF4-FFF2-40B4-BE49-F238E27FC236}">
                  <a16:creationId xmlns:a16="http://schemas.microsoft.com/office/drawing/2014/main" id="{25EB5452-9820-9E22-78CA-BA3CDF5BEFDA}"/>
                </a:ext>
              </a:extLst>
            </p:cNvPr>
            <p:cNvSpPr/>
            <p:nvPr/>
          </p:nvSpPr>
          <p:spPr>
            <a:xfrm>
              <a:off x="3582123" y="1626218"/>
              <a:ext cx="453814" cy="260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1" name="Text 4">
              <a:extLst>
                <a:ext uri="{FF2B5EF4-FFF2-40B4-BE49-F238E27FC236}">
                  <a16:creationId xmlns:a16="http://schemas.microsoft.com/office/drawing/2014/main" id="{58A0EE18-67FC-6EEA-A61E-504053F19B72}"/>
                </a:ext>
              </a:extLst>
            </p:cNvPr>
            <p:cNvSpPr/>
            <p:nvPr/>
          </p:nvSpPr>
          <p:spPr>
            <a:xfrm>
              <a:off x="550379" y="1519066"/>
              <a:ext cx="2577930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B82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10C125EC-AD46-BE04-8EE5-EFD94E9814BC}"/>
                </a:ext>
              </a:extLst>
            </p:cNvPr>
            <p:cNvSpPr/>
            <p:nvPr/>
          </p:nvSpPr>
          <p:spPr>
            <a:xfrm>
              <a:off x="678395" y="1628794"/>
              <a:ext cx="310896" cy="237744"/>
            </a:xfrm>
            <a:prstGeom prst="rect">
              <a:avLst/>
            </a:prstGeom>
            <a:solidFill>
              <a:srgbClr val="3B82F6"/>
            </a:solidFill>
            <a:ln>
              <a:solidFill>
                <a:srgbClr val="3B82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1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3" name="Text 6">
              <a:extLst>
                <a:ext uri="{FF2B5EF4-FFF2-40B4-BE49-F238E27FC236}">
                  <a16:creationId xmlns:a16="http://schemas.microsoft.com/office/drawing/2014/main" id="{0124D52D-87D1-E2F6-9DEF-ED537B941ECF}"/>
                </a:ext>
              </a:extLst>
            </p:cNvPr>
            <p:cNvSpPr/>
            <p:nvPr/>
          </p:nvSpPr>
          <p:spPr>
            <a:xfrm>
              <a:off x="1117307" y="1665370"/>
              <a:ext cx="191667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3B82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준비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4" name="Text 8">
              <a:extLst>
                <a:ext uri="{FF2B5EF4-FFF2-40B4-BE49-F238E27FC236}">
                  <a16:creationId xmlns:a16="http://schemas.microsoft.com/office/drawing/2014/main" id="{647B5B9E-429C-1344-85B3-17DDA74BA675}"/>
                </a:ext>
              </a:extLst>
            </p:cNvPr>
            <p:cNvSpPr/>
            <p:nvPr/>
          </p:nvSpPr>
          <p:spPr>
            <a:xfrm>
              <a:off x="3428852" y="1514566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8B5C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5" name="Text 10">
              <a:extLst>
                <a:ext uri="{FF2B5EF4-FFF2-40B4-BE49-F238E27FC236}">
                  <a16:creationId xmlns:a16="http://schemas.microsoft.com/office/drawing/2014/main" id="{7AB744F3-3CCB-1A24-98F3-D64986817A07}"/>
                </a:ext>
              </a:extLst>
            </p:cNvPr>
            <p:cNvSpPr/>
            <p:nvPr/>
          </p:nvSpPr>
          <p:spPr>
            <a:xfrm>
              <a:off x="4044938" y="1665370"/>
              <a:ext cx="1542720" cy="2038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1700" b="1" dirty="0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</a:t>
              </a:r>
              <a:r>
                <a:rPr lang="ko-KR" altLang="en-US" sz="1700" b="1" dirty="0" err="1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전처리</a:t>
              </a:r>
              <a:r>
                <a:rPr lang="ko-KR" altLang="en-US" sz="1700" b="1" dirty="0">
                  <a:solidFill>
                    <a:srgbClr val="8B5C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 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9" name="Text 12">
              <a:extLst>
                <a:ext uri="{FF2B5EF4-FFF2-40B4-BE49-F238E27FC236}">
                  <a16:creationId xmlns:a16="http://schemas.microsoft.com/office/drawing/2014/main" id="{B2ADE2D2-FF79-E681-4CFB-A0329309AB38}"/>
                </a:ext>
              </a:extLst>
            </p:cNvPr>
            <p:cNvSpPr/>
            <p:nvPr/>
          </p:nvSpPr>
          <p:spPr>
            <a:xfrm>
              <a:off x="6172630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0B981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0" name="Text 16">
              <a:extLst>
                <a:ext uri="{FF2B5EF4-FFF2-40B4-BE49-F238E27FC236}">
                  <a16:creationId xmlns:a16="http://schemas.microsoft.com/office/drawing/2014/main" id="{7270F656-9D56-9167-92C9-E6216614E224}"/>
                </a:ext>
              </a:extLst>
            </p:cNvPr>
            <p:cNvSpPr/>
            <p:nvPr/>
          </p:nvSpPr>
          <p:spPr>
            <a:xfrm>
              <a:off x="8939491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F59E0B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1" name="Text 9">
              <a:extLst>
                <a:ext uri="{FF2B5EF4-FFF2-40B4-BE49-F238E27FC236}">
                  <a16:creationId xmlns:a16="http://schemas.microsoft.com/office/drawing/2014/main" id="{B90511DF-F71D-7850-8CC2-ED949602277C}"/>
                </a:ext>
              </a:extLst>
            </p:cNvPr>
            <p:cNvSpPr/>
            <p:nvPr/>
          </p:nvSpPr>
          <p:spPr>
            <a:xfrm>
              <a:off x="3530645" y="1611310"/>
              <a:ext cx="310896" cy="237744"/>
            </a:xfrm>
            <a:prstGeom prst="rect">
              <a:avLst/>
            </a:prstGeom>
            <a:solidFill>
              <a:srgbClr val="8B5CF6"/>
            </a:solidFill>
            <a:ln>
              <a:solidFill>
                <a:srgbClr val="8B5C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EEED5866-D7EF-6523-0697-956A07732668}"/>
                </a:ext>
              </a:extLst>
            </p:cNvPr>
            <p:cNvSpPr/>
            <p:nvPr/>
          </p:nvSpPr>
          <p:spPr>
            <a:xfrm>
              <a:off x="5867979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43" name="Text 13">
              <a:extLst>
                <a:ext uri="{FF2B5EF4-FFF2-40B4-BE49-F238E27FC236}">
                  <a16:creationId xmlns:a16="http://schemas.microsoft.com/office/drawing/2014/main" id="{5E6A9315-62C1-4DFF-2E76-09B4D6EE275D}"/>
                </a:ext>
              </a:extLst>
            </p:cNvPr>
            <p:cNvSpPr/>
            <p:nvPr/>
          </p:nvSpPr>
          <p:spPr>
            <a:xfrm>
              <a:off x="6302247" y="1624164"/>
              <a:ext cx="310896" cy="237744"/>
            </a:xfrm>
            <a:prstGeom prst="rect">
              <a:avLst/>
            </a:prstGeom>
            <a:solidFill>
              <a:srgbClr val="10B981"/>
            </a:solidFill>
            <a:ln>
              <a:solidFill>
                <a:srgbClr val="10B98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3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4" name="Text 11">
              <a:extLst>
                <a:ext uri="{FF2B5EF4-FFF2-40B4-BE49-F238E27FC236}">
                  <a16:creationId xmlns:a16="http://schemas.microsoft.com/office/drawing/2014/main" id="{BC15ED37-86BF-E360-B42D-C57FFCEF6B1F}"/>
                </a:ext>
              </a:extLst>
            </p:cNvPr>
            <p:cNvSpPr/>
            <p:nvPr/>
          </p:nvSpPr>
          <p:spPr>
            <a:xfrm>
              <a:off x="8634212" y="2016684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45" name="Text 17">
              <a:extLst>
                <a:ext uri="{FF2B5EF4-FFF2-40B4-BE49-F238E27FC236}">
                  <a16:creationId xmlns:a16="http://schemas.microsoft.com/office/drawing/2014/main" id="{6145BB85-7F69-5086-2893-5E7176789C84}"/>
                </a:ext>
              </a:extLst>
            </p:cNvPr>
            <p:cNvSpPr/>
            <p:nvPr/>
          </p:nvSpPr>
          <p:spPr>
            <a:xfrm>
              <a:off x="9052282" y="1631430"/>
              <a:ext cx="310896" cy="237744"/>
            </a:xfrm>
            <a:prstGeom prst="rect">
              <a:avLst/>
            </a:prstGeom>
            <a:solidFill>
              <a:srgbClr val="F59E0B"/>
            </a:solidFill>
            <a:ln>
              <a:solidFill>
                <a:srgbClr val="F59E0B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4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6" name="Text 18">
              <a:extLst>
                <a:ext uri="{FF2B5EF4-FFF2-40B4-BE49-F238E27FC236}">
                  <a16:creationId xmlns:a16="http://schemas.microsoft.com/office/drawing/2014/main" id="{D1756705-C5CC-8BA9-D824-61D5D20B9A28}"/>
                </a:ext>
              </a:extLst>
            </p:cNvPr>
            <p:cNvSpPr/>
            <p:nvPr/>
          </p:nvSpPr>
          <p:spPr>
            <a:xfrm>
              <a:off x="9583210" y="1640597"/>
              <a:ext cx="1859923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59E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학습 및 평가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59BB645-0F60-9DBB-7882-0B47B8E7C312}"/>
              </a:ext>
            </a:extLst>
          </p:cNvPr>
          <p:cNvSpPr/>
          <p:nvPr/>
        </p:nvSpPr>
        <p:spPr>
          <a:xfrm>
            <a:off x="3457492" y="1478779"/>
            <a:ext cx="2435445" cy="12616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1F94A0D9-09FB-0303-9E1B-9E618A7C468A}"/>
              </a:ext>
            </a:extLst>
          </p:cNvPr>
          <p:cNvSpPr/>
          <p:nvPr/>
        </p:nvSpPr>
        <p:spPr>
          <a:xfrm>
            <a:off x="6865012" y="166074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</a:t>
            </a:r>
            <a:r>
              <a:rPr 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구</a:t>
            </a:r>
            <a:r>
              <a:rPr lang="ko-KR" alt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현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80169BC6-ECAC-8A81-84B8-395480D6BC70}"/>
              </a:ext>
            </a:extLst>
          </p:cNvPr>
          <p:cNvSpPr/>
          <p:nvPr/>
        </p:nvSpPr>
        <p:spPr>
          <a:xfrm>
            <a:off x="9583210" y="1754467"/>
            <a:ext cx="14157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</a:t>
            </a:r>
            <a:r>
              <a:rPr lang="en-US" sz="107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</a:t>
            </a:r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구현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4-2. test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검증 평가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D92A853F-1CA0-F358-78B1-79E4FD2A4EB7}"/>
              </a:ext>
            </a:extLst>
          </p:cNvPr>
          <p:cNvSpPr/>
          <p:nvPr/>
        </p:nvSpPr>
        <p:spPr>
          <a:xfrm>
            <a:off x="782801" y="1808524"/>
            <a:ext cx="20848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라이브러리 불러오기</a:t>
            </a:r>
            <a:endParaRPr lang="en-US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 데이터셋 불러오기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FCF1EAED-E140-D2C0-1FFD-99D6F40F1F55}"/>
              </a:ext>
            </a:extLst>
          </p:cNvPr>
          <p:cNvSpPr/>
          <p:nvPr/>
        </p:nvSpPr>
        <p:spPr>
          <a:xfrm>
            <a:off x="6688305" y="1768353"/>
            <a:ext cx="19131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3-1. MLP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구현</a:t>
            </a:r>
            <a:endParaRPr lang="en-US" altLang="ko-KR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학습 구성 요소 정의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FFB61453-2B57-9C74-1FA6-49941F0E8E7C}"/>
              </a:ext>
            </a:extLst>
          </p:cNvPr>
          <p:cNvSpPr/>
          <p:nvPr/>
        </p:nvSpPr>
        <p:spPr>
          <a:xfrm>
            <a:off x="3797430" y="1814409"/>
            <a:ext cx="2084832" cy="950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2-1. MFCC </a:t>
            </a:r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추출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2-2.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구성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2-3.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2-4.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1034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EB1E1-DD35-DAA5-788E-E9309F668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BE6CAD-61C6-D486-222D-CEAD6146F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F5C5E8-7DEE-4515-3439-42284EFBA036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2-4.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6" name="그림 35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B29877-F93E-CCC2-8187-F7442D386C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667"/>
          <a:stretch>
            <a:fillRect/>
          </a:stretch>
        </p:blipFill>
        <p:spPr>
          <a:xfrm>
            <a:off x="363801" y="2364359"/>
            <a:ext cx="5125810" cy="1911549"/>
          </a:xfrm>
          <a:prstGeom prst="rect">
            <a:avLst/>
          </a:prstGeom>
        </p:spPr>
      </p:pic>
      <p:sp>
        <p:nvSpPr>
          <p:cNvPr id="6" name="제목 3">
            <a:extLst>
              <a:ext uri="{FF2B5EF4-FFF2-40B4-BE49-F238E27FC236}">
                <a16:creationId xmlns:a16="http://schemas.microsoft.com/office/drawing/2014/main" id="{6371A078-DDF8-9053-685C-BF649E445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–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1668D10-CD07-4F27-F37C-73D0409EA5B7}"/>
              </a:ext>
            </a:extLst>
          </p:cNvPr>
          <p:cNvCxnSpPr>
            <a:cxnSpLocks/>
          </p:cNvCxnSpPr>
          <p:nvPr/>
        </p:nvCxnSpPr>
        <p:spPr>
          <a:xfrm>
            <a:off x="4049648" y="2925536"/>
            <a:ext cx="212890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6" name="그림 7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0FBE52-5391-5843-8BEC-9A806599A9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23" r="2788"/>
          <a:stretch>
            <a:fillRect/>
          </a:stretch>
        </p:blipFill>
        <p:spPr>
          <a:xfrm>
            <a:off x="6313382" y="2006601"/>
            <a:ext cx="5514817" cy="4137265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146BA56F-13E7-D623-7097-A4A87A1EAA23}"/>
              </a:ext>
            </a:extLst>
          </p:cNvPr>
          <p:cNvSpPr txBox="1"/>
          <p:nvPr/>
        </p:nvSpPr>
        <p:spPr>
          <a:xfrm>
            <a:off x="6707229" y="6271917"/>
            <a:ext cx="4727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Numpy</a:t>
            </a:r>
            <a:r>
              <a:rPr lang="en-US" altLang="ko-KR" sz="1800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→ Tensor → </a:t>
            </a:r>
            <a:r>
              <a:rPr lang="en-US" altLang="ko-KR" sz="1800" b="1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DataLoader</a:t>
            </a:r>
            <a:r>
              <a:rPr lang="en-US" altLang="ko-KR" sz="1800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en-US" altLang="ko-KR" sz="1800" b="1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변환</a:t>
            </a:r>
            <a:r>
              <a:rPr lang="en-US" altLang="ko-KR" sz="1800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en-US" altLang="ko-KR" sz="1800" b="1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흐름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908E1D8-5537-BB2B-81DD-E59B1142CBC1}"/>
              </a:ext>
            </a:extLst>
          </p:cNvPr>
          <p:cNvSpPr txBox="1"/>
          <p:nvPr/>
        </p:nvSpPr>
        <p:spPr>
          <a:xfrm>
            <a:off x="273050" y="1878550"/>
            <a:ext cx="614680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변환 코드</a:t>
            </a:r>
            <a:r>
              <a:rPr lang="en-US" altLang="ko-KR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en-US" altLang="ko-KR" sz="18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92AC36-75A8-1647-C858-D99EFA81E408}"/>
              </a:ext>
            </a:extLst>
          </p:cNvPr>
          <p:cNvSpPr txBox="1"/>
          <p:nvPr/>
        </p:nvSpPr>
        <p:spPr>
          <a:xfrm>
            <a:off x="7336790" y="1419514"/>
            <a:ext cx="3061244" cy="45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변환 블록도</a:t>
            </a:r>
            <a:r>
              <a:rPr lang="en-US" altLang="ko-KR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en-US" altLang="ko-KR" sz="18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2281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676EA-8E9B-294D-64A7-7D0458347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8A1621C-B1EB-D25D-7A30-5C217E81D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933EB80-BA16-EBDF-728E-EF50A9DDE3CD}"/>
              </a:ext>
            </a:extLst>
          </p:cNvPr>
          <p:cNvGrpSpPr/>
          <p:nvPr/>
        </p:nvGrpSpPr>
        <p:grpSpPr>
          <a:xfrm>
            <a:off x="550379" y="1513892"/>
            <a:ext cx="10892754" cy="1193430"/>
            <a:chOff x="550379" y="1513892"/>
            <a:chExt cx="10892754" cy="1193430"/>
          </a:xfrm>
        </p:grpSpPr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0A56E263-1D17-F35A-8003-4B9D3E5712D4}"/>
                </a:ext>
              </a:extLst>
            </p:cNvPr>
            <p:cNvSpPr/>
            <p:nvPr/>
          </p:nvSpPr>
          <p:spPr>
            <a:xfrm>
              <a:off x="3124243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19" name="Text 14">
              <a:extLst>
                <a:ext uri="{FF2B5EF4-FFF2-40B4-BE49-F238E27FC236}">
                  <a16:creationId xmlns:a16="http://schemas.microsoft.com/office/drawing/2014/main" id="{88BCFE91-942E-D59E-A527-419774842651}"/>
                </a:ext>
              </a:extLst>
            </p:cNvPr>
            <p:cNvSpPr/>
            <p:nvPr/>
          </p:nvSpPr>
          <p:spPr>
            <a:xfrm>
              <a:off x="3582123" y="1626218"/>
              <a:ext cx="453814" cy="260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1" name="Text 4">
              <a:extLst>
                <a:ext uri="{FF2B5EF4-FFF2-40B4-BE49-F238E27FC236}">
                  <a16:creationId xmlns:a16="http://schemas.microsoft.com/office/drawing/2014/main" id="{ED199974-58B2-692E-B720-621E59CA4678}"/>
                </a:ext>
              </a:extLst>
            </p:cNvPr>
            <p:cNvSpPr/>
            <p:nvPr/>
          </p:nvSpPr>
          <p:spPr>
            <a:xfrm>
              <a:off x="550379" y="1519066"/>
              <a:ext cx="2577930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B82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2" name="Text 5">
              <a:extLst>
                <a:ext uri="{FF2B5EF4-FFF2-40B4-BE49-F238E27FC236}">
                  <a16:creationId xmlns:a16="http://schemas.microsoft.com/office/drawing/2014/main" id="{CA3F8BD5-68B6-F5CB-D0A8-B69B08696A12}"/>
                </a:ext>
              </a:extLst>
            </p:cNvPr>
            <p:cNvSpPr/>
            <p:nvPr/>
          </p:nvSpPr>
          <p:spPr>
            <a:xfrm>
              <a:off x="678395" y="1628794"/>
              <a:ext cx="310896" cy="237744"/>
            </a:xfrm>
            <a:prstGeom prst="rect">
              <a:avLst/>
            </a:prstGeom>
            <a:solidFill>
              <a:srgbClr val="3B82F6"/>
            </a:solidFill>
            <a:ln>
              <a:solidFill>
                <a:srgbClr val="3B82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1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89682114-422C-5A0A-7D7E-E887A9F3EDC2}"/>
                </a:ext>
              </a:extLst>
            </p:cNvPr>
            <p:cNvSpPr/>
            <p:nvPr/>
          </p:nvSpPr>
          <p:spPr>
            <a:xfrm>
              <a:off x="1117307" y="1665370"/>
              <a:ext cx="191667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3B82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준비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5787C020-9796-A5ED-9966-58938530FB76}"/>
                </a:ext>
              </a:extLst>
            </p:cNvPr>
            <p:cNvSpPr/>
            <p:nvPr/>
          </p:nvSpPr>
          <p:spPr>
            <a:xfrm>
              <a:off x="3428852" y="1514566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8B5C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5" name="Text 12">
              <a:extLst>
                <a:ext uri="{FF2B5EF4-FFF2-40B4-BE49-F238E27FC236}">
                  <a16:creationId xmlns:a16="http://schemas.microsoft.com/office/drawing/2014/main" id="{0C63317D-7ADB-80F2-5124-0F52EF619EDD}"/>
                </a:ext>
              </a:extLst>
            </p:cNvPr>
            <p:cNvSpPr/>
            <p:nvPr/>
          </p:nvSpPr>
          <p:spPr>
            <a:xfrm>
              <a:off x="6172630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0B981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6" name="Text 16">
              <a:extLst>
                <a:ext uri="{FF2B5EF4-FFF2-40B4-BE49-F238E27FC236}">
                  <a16:creationId xmlns:a16="http://schemas.microsoft.com/office/drawing/2014/main" id="{5AA24842-6A8B-8886-AC7F-6781C8601EFA}"/>
                </a:ext>
              </a:extLst>
            </p:cNvPr>
            <p:cNvSpPr/>
            <p:nvPr/>
          </p:nvSpPr>
          <p:spPr>
            <a:xfrm>
              <a:off x="8939491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F59E0B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7" name="Text 9">
              <a:extLst>
                <a:ext uri="{FF2B5EF4-FFF2-40B4-BE49-F238E27FC236}">
                  <a16:creationId xmlns:a16="http://schemas.microsoft.com/office/drawing/2014/main" id="{973ABBEF-C859-BC14-3225-EA0524FF7239}"/>
                </a:ext>
              </a:extLst>
            </p:cNvPr>
            <p:cNvSpPr/>
            <p:nvPr/>
          </p:nvSpPr>
          <p:spPr>
            <a:xfrm>
              <a:off x="3530645" y="1611310"/>
              <a:ext cx="310896" cy="237744"/>
            </a:xfrm>
            <a:prstGeom prst="rect">
              <a:avLst/>
            </a:prstGeom>
            <a:solidFill>
              <a:srgbClr val="8B5CF6"/>
            </a:solidFill>
            <a:ln>
              <a:solidFill>
                <a:srgbClr val="8B5C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346F7C6A-5975-878B-72B5-508759DE59A5}"/>
                </a:ext>
              </a:extLst>
            </p:cNvPr>
            <p:cNvSpPr/>
            <p:nvPr/>
          </p:nvSpPr>
          <p:spPr>
            <a:xfrm>
              <a:off x="5867979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29" name="Text 13">
              <a:extLst>
                <a:ext uri="{FF2B5EF4-FFF2-40B4-BE49-F238E27FC236}">
                  <a16:creationId xmlns:a16="http://schemas.microsoft.com/office/drawing/2014/main" id="{31A06A33-5B93-8786-C9EB-53D288D58D2D}"/>
                </a:ext>
              </a:extLst>
            </p:cNvPr>
            <p:cNvSpPr/>
            <p:nvPr/>
          </p:nvSpPr>
          <p:spPr>
            <a:xfrm>
              <a:off x="6302247" y="1624164"/>
              <a:ext cx="310896" cy="237744"/>
            </a:xfrm>
            <a:prstGeom prst="rect">
              <a:avLst/>
            </a:prstGeom>
            <a:solidFill>
              <a:srgbClr val="10B981"/>
            </a:solidFill>
            <a:ln>
              <a:solidFill>
                <a:srgbClr val="10B98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3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0" name="Text 14">
              <a:extLst>
                <a:ext uri="{FF2B5EF4-FFF2-40B4-BE49-F238E27FC236}">
                  <a16:creationId xmlns:a16="http://schemas.microsoft.com/office/drawing/2014/main" id="{5EAA7D7F-55F6-953B-8A82-581E1790B76F}"/>
                </a:ext>
              </a:extLst>
            </p:cNvPr>
            <p:cNvSpPr/>
            <p:nvPr/>
          </p:nvSpPr>
          <p:spPr>
            <a:xfrm>
              <a:off x="6848710" y="1672171"/>
              <a:ext cx="128016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 err="1">
                  <a:solidFill>
                    <a:srgbClr val="10B98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모델</a:t>
              </a:r>
              <a:r>
                <a:rPr lang="en-US" sz="1700" b="1" dirty="0">
                  <a:solidFill>
                    <a:srgbClr val="10B98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 구</a:t>
              </a:r>
              <a:r>
                <a:rPr lang="ko-KR" altLang="en-US" sz="1700" b="1" dirty="0">
                  <a:solidFill>
                    <a:srgbClr val="10B98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28C5738E-0762-8DD4-DF19-D1FA0884E2DD}"/>
                </a:ext>
              </a:extLst>
            </p:cNvPr>
            <p:cNvSpPr/>
            <p:nvPr/>
          </p:nvSpPr>
          <p:spPr>
            <a:xfrm>
              <a:off x="8634212" y="2016684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32" name="Text 17">
              <a:extLst>
                <a:ext uri="{FF2B5EF4-FFF2-40B4-BE49-F238E27FC236}">
                  <a16:creationId xmlns:a16="http://schemas.microsoft.com/office/drawing/2014/main" id="{6FD7D03A-7015-1C3E-8388-5AE926A4B1B9}"/>
                </a:ext>
              </a:extLst>
            </p:cNvPr>
            <p:cNvSpPr/>
            <p:nvPr/>
          </p:nvSpPr>
          <p:spPr>
            <a:xfrm>
              <a:off x="9052282" y="1631430"/>
              <a:ext cx="310896" cy="237744"/>
            </a:xfrm>
            <a:prstGeom prst="rect">
              <a:avLst/>
            </a:prstGeom>
            <a:solidFill>
              <a:srgbClr val="F59E0B"/>
            </a:solidFill>
            <a:ln>
              <a:solidFill>
                <a:srgbClr val="F59E0B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4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3" name="Text 18">
              <a:extLst>
                <a:ext uri="{FF2B5EF4-FFF2-40B4-BE49-F238E27FC236}">
                  <a16:creationId xmlns:a16="http://schemas.microsoft.com/office/drawing/2014/main" id="{27BE39CC-65D1-768E-7FC2-6C0FD43DC9B5}"/>
                </a:ext>
              </a:extLst>
            </p:cNvPr>
            <p:cNvSpPr/>
            <p:nvPr/>
          </p:nvSpPr>
          <p:spPr>
            <a:xfrm>
              <a:off x="9583210" y="1640597"/>
              <a:ext cx="1859923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59E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학습 및 평가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B197F98-6121-F1C5-45CA-DB328C42B7B5}"/>
              </a:ext>
            </a:extLst>
          </p:cNvPr>
          <p:cNvSpPr/>
          <p:nvPr/>
        </p:nvSpPr>
        <p:spPr>
          <a:xfrm>
            <a:off x="6198767" y="1468579"/>
            <a:ext cx="2435445" cy="12616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E501C34D-9EA6-7137-E97E-77BBD3B815CB}"/>
              </a:ext>
            </a:extLst>
          </p:cNvPr>
          <p:cNvSpPr/>
          <p:nvPr/>
        </p:nvSpPr>
        <p:spPr>
          <a:xfrm>
            <a:off x="4044938" y="1665370"/>
            <a:ext cx="1542720" cy="203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</a:t>
            </a:r>
            <a:r>
              <a:rPr lang="ko-KR" altLang="en-US" sz="1700" b="1" dirty="0" err="1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전처리</a:t>
            </a:r>
            <a:r>
              <a:rPr lang="ko-KR" altLang="en-US" sz="1700" b="1" dirty="0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89A1AD44-F7A5-F53E-FF2B-0CABE06D26C6}"/>
              </a:ext>
            </a:extLst>
          </p:cNvPr>
          <p:cNvSpPr/>
          <p:nvPr/>
        </p:nvSpPr>
        <p:spPr>
          <a:xfrm>
            <a:off x="9583210" y="1754467"/>
            <a:ext cx="14157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</a:t>
            </a:r>
            <a:r>
              <a:rPr lang="en-US" sz="107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</a:t>
            </a:r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구현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4-2. test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검증 평가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6CE7EC-8A4A-D264-E933-B4F7E2ACD1C8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3-1. MLP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</a:t>
            </a: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제목 3">
            <a:extLst>
              <a:ext uri="{FF2B5EF4-FFF2-40B4-BE49-F238E27FC236}">
                <a16:creationId xmlns:a16="http://schemas.microsoft.com/office/drawing/2014/main" id="{B93ADCA0-90AE-06AA-CD0F-C9181A520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모델 구현 </a:t>
            </a:r>
          </a:p>
        </p:txBody>
      </p:sp>
      <p:sp>
        <p:nvSpPr>
          <p:cNvPr id="62" name="Text 7">
            <a:extLst>
              <a:ext uri="{FF2B5EF4-FFF2-40B4-BE49-F238E27FC236}">
                <a16:creationId xmlns:a16="http://schemas.microsoft.com/office/drawing/2014/main" id="{14DC373D-90EB-3782-098C-B5425BBB74B1}"/>
              </a:ext>
            </a:extLst>
          </p:cNvPr>
          <p:cNvSpPr/>
          <p:nvPr/>
        </p:nvSpPr>
        <p:spPr>
          <a:xfrm>
            <a:off x="782801" y="1808524"/>
            <a:ext cx="20848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라이브러리 불러오기</a:t>
            </a:r>
            <a:endParaRPr lang="en-US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 데이터셋 불러오기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B4EFBF3D-6331-8DEF-DDC0-5E3F587A6189}"/>
              </a:ext>
            </a:extLst>
          </p:cNvPr>
          <p:cNvSpPr/>
          <p:nvPr/>
        </p:nvSpPr>
        <p:spPr>
          <a:xfrm>
            <a:off x="6688305" y="1768353"/>
            <a:ext cx="19131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3-1. MLP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구현</a:t>
            </a:r>
            <a:endParaRPr lang="en-US" altLang="ko-KR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학습 구성 요소 정의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Picture 2" descr="Hidden Layers in Neural Networks | i2tutorials">
            <a:extLst>
              <a:ext uri="{FF2B5EF4-FFF2-40B4-BE49-F238E27FC236}">
                <a16:creationId xmlns:a16="http://schemas.microsoft.com/office/drawing/2014/main" id="{39D3AEB7-991F-64DC-E73F-4C7D9CC8D5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5" t="4559" r="2142" b="4108"/>
          <a:stretch/>
        </p:blipFill>
        <p:spPr bwMode="auto">
          <a:xfrm>
            <a:off x="3359469" y="2931576"/>
            <a:ext cx="5795716" cy="286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45B6B911-866D-FCA0-39C1-5818D8E7065D}"/>
              </a:ext>
            </a:extLst>
          </p:cNvPr>
          <p:cNvGrpSpPr/>
          <p:nvPr/>
        </p:nvGrpSpPr>
        <p:grpSpPr>
          <a:xfrm>
            <a:off x="6302247" y="6002438"/>
            <a:ext cx="1587218" cy="444914"/>
            <a:chOff x="5950859" y="4199440"/>
            <a:chExt cx="1587218" cy="444914"/>
          </a:xfrm>
        </p:grpSpPr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BCC9D2B3-B983-4F7D-C24E-1EC919C19A97}"/>
                </a:ext>
              </a:extLst>
            </p:cNvPr>
            <p:cNvSpPr/>
            <p:nvPr/>
          </p:nvSpPr>
          <p:spPr>
            <a:xfrm>
              <a:off x="6117075" y="4199440"/>
              <a:ext cx="1304964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Hidden 2 (64)</a:t>
              </a:r>
              <a:endPara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" name="Text 13">
              <a:extLst>
                <a:ext uri="{FF2B5EF4-FFF2-40B4-BE49-F238E27FC236}">
                  <a16:creationId xmlns:a16="http://schemas.microsoft.com/office/drawing/2014/main" id="{68DDA6BB-859E-217E-A238-E04D3D6C1FB7}"/>
                </a:ext>
              </a:extLst>
            </p:cNvPr>
            <p:cNvSpPr/>
            <p:nvPr/>
          </p:nvSpPr>
          <p:spPr>
            <a:xfrm>
              <a:off x="5950859" y="4507875"/>
              <a:ext cx="1587218" cy="1364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Relu</a:t>
              </a: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+ Dropout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A0AA00-77BA-3A57-9D61-855CDEF11EF9}"/>
              </a:ext>
            </a:extLst>
          </p:cNvPr>
          <p:cNvGrpSpPr/>
          <p:nvPr/>
        </p:nvGrpSpPr>
        <p:grpSpPr>
          <a:xfrm>
            <a:off x="4585412" y="6044640"/>
            <a:ext cx="1587218" cy="402712"/>
            <a:chOff x="4510255" y="4238947"/>
            <a:chExt cx="1587218" cy="402712"/>
          </a:xfrm>
        </p:grpSpPr>
        <p:sp>
          <p:nvSpPr>
            <p:cNvPr id="37" name="Text 13">
              <a:extLst>
                <a:ext uri="{FF2B5EF4-FFF2-40B4-BE49-F238E27FC236}">
                  <a16:creationId xmlns:a16="http://schemas.microsoft.com/office/drawing/2014/main" id="{CA81183D-1F84-5E8B-3394-E95342A471AB}"/>
                </a:ext>
              </a:extLst>
            </p:cNvPr>
            <p:cNvSpPr/>
            <p:nvPr/>
          </p:nvSpPr>
          <p:spPr>
            <a:xfrm>
              <a:off x="4630097" y="4238947"/>
              <a:ext cx="1397167" cy="11587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Hidden 1(128)</a:t>
              </a:r>
              <a:endPara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8" name="Text 13">
              <a:extLst>
                <a:ext uri="{FF2B5EF4-FFF2-40B4-BE49-F238E27FC236}">
                  <a16:creationId xmlns:a16="http://schemas.microsoft.com/office/drawing/2014/main" id="{C7CA3B7A-E624-4B55-E8CD-594538C804EF}"/>
                </a:ext>
              </a:extLst>
            </p:cNvPr>
            <p:cNvSpPr/>
            <p:nvPr/>
          </p:nvSpPr>
          <p:spPr>
            <a:xfrm>
              <a:off x="4510255" y="4505180"/>
              <a:ext cx="1587218" cy="1364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Relu</a:t>
              </a: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+ Dropout</a:t>
              </a:r>
            </a:p>
          </p:txBody>
        </p:sp>
      </p:grp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F291A214-035F-1A10-F5E0-5FC09DC30BB1}"/>
              </a:ext>
            </a:extLst>
          </p:cNvPr>
          <p:cNvSpPr/>
          <p:nvPr/>
        </p:nvSpPr>
        <p:spPr>
          <a:xfrm>
            <a:off x="2485016" y="3877968"/>
            <a:ext cx="735291" cy="55618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4771AAA5-9859-28D9-46F3-025076725A3F}"/>
              </a:ext>
            </a:extLst>
          </p:cNvPr>
          <p:cNvSpPr/>
          <p:nvPr/>
        </p:nvSpPr>
        <p:spPr>
          <a:xfrm>
            <a:off x="9052282" y="3877968"/>
            <a:ext cx="735291" cy="55618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E2132B-124B-EC81-13DA-9A492F9C36DC}"/>
              </a:ext>
            </a:extLst>
          </p:cNvPr>
          <p:cNvSpPr txBox="1"/>
          <p:nvPr/>
        </p:nvSpPr>
        <p:spPr>
          <a:xfrm>
            <a:off x="688409" y="4927914"/>
            <a:ext cx="1514126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err="1">
                <a:latin typeface="Noto Sans KR" panose="020B0200000000000000" pitchFamily="50" charset="-127"/>
                <a:ea typeface="Noto Sans KR" panose="020B0200000000000000" pitchFamily="50" charset="-127"/>
              </a:rPr>
              <a:t>전처리된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 데이터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969599-33B2-86F2-11D0-183C975A8A1F}"/>
              </a:ext>
            </a:extLst>
          </p:cNvPr>
          <p:cNvSpPr txBox="1"/>
          <p:nvPr/>
        </p:nvSpPr>
        <p:spPr>
          <a:xfrm>
            <a:off x="9926735" y="3975600"/>
            <a:ext cx="1570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라벨 예측 결과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AA2E9530-9705-DAEF-6278-0A5910179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62" y="3444445"/>
            <a:ext cx="1950420" cy="1483469"/>
          </a:xfrm>
          <a:prstGeom prst="rect">
            <a:avLst/>
          </a:prstGeom>
        </p:spPr>
      </p:pic>
      <p:sp>
        <p:nvSpPr>
          <p:cNvPr id="4" name="Text 11">
            <a:extLst>
              <a:ext uri="{FF2B5EF4-FFF2-40B4-BE49-F238E27FC236}">
                <a16:creationId xmlns:a16="http://schemas.microsoft.com/office/drawing/2014/main" id="{1D70B83C-2867-6EBA-48AF-8A93DA1AA7CE}"/>
              </a:ext>
            </a:extLst>
          </p:cNvPr>
          <p:cNvSpPr/>
          <p:nvPr/>
        </p:nvSpPr>
        <p:spPr>
          <a:xfrm>
            <a:off x="3797430" y="1814409"/>
            <a:ext cx="2084832" cy="950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2-1. MFCC </a:t>
            </a:r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추출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2-2.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구성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2-3.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2-4.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4374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F7D2D-503C-51BE-FEFC-6338B7751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462A988-9039-FDF3-6AC2-9AA534BA8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9C25BF-728E-2184-E4CA-A6CB8535B7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721"/>
          <a:stretch>
            <a:fillRect/>
          </a:stretch>
        </p:blipFill>
        <p:spPr>
          <a:xfrm>
            <a:off x="595533" y="3246469"/>
            <a:ext cx="4940724" cy="25994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ADD25D-62AE-4BBB-896A-EF67AAE80750}"/>
              </a:ext>
            </a:extLst>
          </p:cNvPr>
          <p:cNvSpPr txBox="1"/>
          <p:nvPr/>
        </p:nvSpPr>
        <p:spPr>
          <a:xfrm>
            <a:off x="6130100" y="3191768"/>
            <a:ext cx="5296559" cy="267092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nn.Module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파이토치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모델의 기본 정의 클래스</a:t>
            </a:r>
            <a:endParaRPr lang="en-US" altLang="ko-KR" sz="11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in_dim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: 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입력 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feature 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차원을 받을 파라미터</a:t>
            </a:r>
            <a:endParaRPr lang="en-US" altLang="ko-KR" sz="11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hidden: 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첫 번째 </a:t>
            </a:r>
            <a:r>
              <a:rPr lang="ko-KR" altLang="en-US" sz="11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은닉층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노드 수 설정</a:t>
            </a:r>
            <a:endParaRPr lang="en-US" altLang="ko-KR" sz="11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nclass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: 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 라벨 수 설정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nn.Sequential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(): 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레이어를 순서대로 쌓는 함수</a:t>
            </a:r>
            <a:endParaRPr lang="en-US" altLang="ko-KR" sz="11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nn.Linear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(): 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입력 → 출력으로 변환하는 신경망 레이어</a:t>
            </a:r>
            <a:endParaRPr lang="en-US" altLang="ko-KR" sz="11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nn.ReLU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(): 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비선형 활성화 함수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nn.Dropout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(0.5): </a:t>
            </a:r>
            <a:r>
              <a:rPr lang="ko-KR" altLang="en-US" sz="11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과적합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완화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학습 시 랜덤으로 뉴런 비활성화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def forward() : Forward propagation(</a:t>
            </a:r>
            <a:r>
              <a:rPr lang="ko-KR" altLang="en-US" sz="11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순전파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구현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007D815-9FF3-6E11-81BF-56719A44898D}"/>
              </a:ext>
            </a:extLst>
          </p:cNvPr>
          <p:cNvCxnSpPr>
            <a:cxnSpLocks/>
          </p:cNvCxnSpPr>
          <p:nvPr/>
        </p:nvCxnSpPr>
        <p:spPr>
          <a:xfrm>
            <a:off x="3413211" y="4438948"/>
            <a:ext cx="26385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7288747-5BAB-4D35-5A54-6E4353A4559D}"/>
              </a:ext>
            </a:extLst>
          </p:cNvPr>
          <p:cNvCxnSpPr>
            <a:cxnSpLocks/>
          </p:cNvCxnSpPr>
          <p:nvPr/>
        </p:nvCxnSpPr>
        <p:spPr>
          <a:xfrm>
            <a:off x="2247429" y="3370155"/>
            <a:ext cx="37958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9D6BD30-891C-EA64-B99E-FEA7966A8F0A}"/>
              </a:ext>
            </a:extLst>
          </p:cNvPr>
          <p:cNvCxnSpPr>
            <a:cxnSpLocks/>
          </p:cNvCxnSpPr>
          <p:nvPr/>
        </p:nvCxnSpPr>
        <p:spPr>
          <a:xfrm>
            <a:off x="2542902" y="5620939"/>
            <a:ext cx="350838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CC600F0-177D-AD2B-5919-27D99A916D04}"/>
              </a:ext>
            </a:extLst>
          </p:cNvPr>
          <p:cNvGrpSpPr/>
          <p:nvPr/>
        </p:nvGrpSpPr>
        <p:grpSpPr>
          <a:xfrm>
            <a:off x="550379" y="1513892"/>
            <a:ext cx="10892754" cy="1193430"/>
            <a:chOff x="550379" y="1513892"/>
            <a:chExt cx="10892754" cy="1193430"/>
          </a:xfrm>
        </p:grpSpPr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55B0B331-0131-AC28-A730-DEC62E4D2E77}"/>
                </a:ext>
              </a:extLst>
            </p:cNvPr>
            <p:cNvSpPr/>
            <p:nvPr/>
          </p:nvSpPr>
          <p:spPr>
            <a:xfrm>
              <a:off x="3124243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19" name="Text 14">
              <a:extLst>
                <a:ext uri="{FF2B5EF4-FFF2-40B4-BE49-F238E27FC236}">
                  <a16:creationId xmlns:a16="http://schemas.microsoft.com/office/drawing/2014/main" id="{00288A97-2115-9F06-8B1E-8661746DD78D}"/>
                </a:ext>
              </a:extLst>
            </p:cNvPr>
            <p:cNvSpPr/>
            <p:nvPr/>
          </p:nvSpPr>
          <p:spPr>
            <a:xfrm>
              <a:off x="3582123" y="1626218"/>
              <a:ext cx="453814" cy="260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1" name="Text 4">
              <a:extLst>
                <a:ext uri="{FF2B5EF4-FFF2-40B4-BE49-F238E27FC236}">
                  <a16:creationId xmlns:a16="http://schemas.microsoft.com/office/drawing/2014/main" id="{2F787AD6-2435-6A45-BF07-1B0C0867AA8A}"/>
                </a:ext>
              </a:extLst>
            </p:cNvPr>
            <p:cNvSpPr/>
            <p:nvPr/>
          </p:nvSpPr>
          <p:spPr>
            <a:xfrm>
              <a:off x="550379" y="1519066"/>
              <a:ext cx="2577930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B82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2" name="Text 5">
              <a:extLst>
                <a:ext uri="{FF2B5EF4-FFF2-40B4-BE49-F238E27FC236}">
                  <a16:creationId xmlns:a16="http://schemas.microsoft.com/office/drawing/2014/main" id="{81C56ADF-58A0-D767-D45C-B04770BFE3E3}"/>
                </a:ext>
              </a:extLst>
            </p:cNvPr>
            <p:cNvSpPr/>
            <p:nvPr/>
          </p:nvSpPr>
          <p:spPr>
            <a:xfrm>
              <a:off x="678395" y="1628794"/>
              <a:ext cx="310896" cy="237744"/>
            </a:xfrm>
            <a:prstGeom prst="rect">
              <a:avLst/>
            </a:prstGeom>
            <a:solidFill>
              <a:srgbClr val="3B82F6"/>
            </a:solidFill>
            <a:ln>
              <a:solidFill>
                <a:srgbClr val="3B82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1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3F8F8AEA-06D0-9F3F-ABAE-5BB73C0912CE}"/>
                </a:ext>
              </a:extLst>
            </p:cNvPr>
            <p:cNvSpPr/>
            <p:nvPr/>
          </p:nvSpPr>
          <p:spPr>
            <a:xfrm>
              <a:off x="1117307" y="1665370"/>
              <a:ext cx="191667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3B82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준비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94F33792-34B4-6B03-C26E-04A065AD9EEB}"/>
                </a:ext>
              </a:extLst>
            </p:cNvPr>
            <p:cNvSpPr/>
            <p:nvPr/>
          </p:nvSpPr>
          <p:spPr>
            <a:xfrm>
              <a:off x="3428852" y="1514566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8B5C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5" name="Text 12">
              <a:extLst>
                <a:ext uri="{FF2B5EF4-FFF2-40B4-BE49-F238E27FC236}">
                  <a16:creationId xmlns:a16="http://schemas.microsoft.com/office/drawing/2014/main" id="{D2F1FBCA-36DA-8BF1-7833-6DB1624C268B}"/>
                </a:ext>
              </a:extLst>
            </p:cNvPr>
            <p:cNvSpPr/>
            <p:nvPr/>
          </p:nvSpPr>
          <p:spPr>
            <a:xfrm>
              <a:off x="6172630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0B981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6" name="Text 16">
              <a:extLst>
                <a:ext uri="{FF2B5EF4-FFF2-40B4-BE49-F238E27FC236}">
                  <a16:creationId xmlns:a16="http://schemas.microsoft.com/office/drawing/2014/main" id="{08D3CC91-E116-A811-EF82-4277E843CA26}"/>
                </a:ext>
              </a:extLst>
            </p:cNvPr>
            <p:cNvSpPr/>
            <p:nvPr/>
          </p:nvSpPr>
          <p:spPr>
            <a:xfrm>
              <a:off x="8939491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F59E0B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7" name="Text 9">
              <a:extLst>
                <a:ext uri="{FF2B5EF4-FFF2-40B4-BE49-F238E27FC236}">
                  <a16:creationId xmlns:a16="http://schemas.microsoft.com/office/drawing/2014/main" id="{2D301121-FCB0-5777-2E63-08AE92AA9AC3}"/>
                </a:ext>
              </a:extLst>
            </p:cNvPr>
            <p:cNvSpPr/>
            <p:nvPr/>
          </p:nvSpPr>
          <p:spPr>
            <a:xfrm>
              <a:off x="3530645" y="1611310"/>
              <a:ext cx="310896" cy="237744"/>
            </a:xfrm>
            <a:prstGeom prst="rect">
              <a:avLst/>
            </a:prstGeom>
            <a:solidFill>
              <a:srgbClr val="8B5CF6"/>
            </a:solidFill>
            <a:ln>
              <a:solidFill>
                <a:srgbClr val="8B5C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F8207E3B-48FF-CB7A-59E6-0620127CE7B6}"/>
                </a:ext>
              </a:extLst>
            </p:cNvPr>
            <p:cNvSpPr/>
            <p:nvPr/>
          </p:nvSpPr>
          <p:spPr>
            <a:xfrm>
              <a:off x="5867979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29" name="Text 13">
              <a:extLst>
                <a:ext uri="{FF2B5EF4-FFF2-40B4-BE49-F238E27FC236}">
                  <a16:creationId xmlns:a16="http://schemas.microsoft.com/office/drawing/2014/main" id="{27F7A46B-13B6-C640-59CF-BE4384544AD8}"/>
                </a:ext>
              </a:extLst>
            </p:cNvPr>
            <p:cNvSpPr/>
            <p:nvPr/>
          </p:nvSpPr>
          <p:spPr>
            <a:xfrm>
              <a:off x="6302247" y="1624164"/>
              <a:ext cx="310896" cy="237744"/>
            </a:xfrm>
            <a:prstGeom prst="rect">
              <a:avLst/>
            </a:prstGeom>
            <a:solidFill>
              <a:srgbClr val="10B981"/>
            </a:solidFill>
            <a:ln>
              <a:solidFill>
                <a:srgbClr val="10B98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3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0" name="Text 14">
              <a:extLst>
                <a:ext uri="{FF2B5EF4-FFF2-40B4-BE49-F238E27FC236}">
                  <a16:creationId xmlns:a16="http://schemas.microsoft.com/office/drawing/2014/main" id="{6D4BD998-C2EA-4238-59A2-CB317D022782}"/>
                </a:ext>
              </a:extLst>
            </p:cNvPr>
            <p:cNvSpPr/>
            <p:nvPr/>
          </p:nvSpPr>
          <p:spPr>
            <a:xfrm>
              <a:off x="6848710" y="1672171"/>
              <a:ext cx="128016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 err="1">
                  <a:solidFill>
                    <a:srgbClr val="10B98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모델</a:t>
              </a:r>
              <a:r>
                <a:rPr lang="en-US" sz="1700" b="1" dirty="0">
                  <a:solidFill>
                    <a:srgbClr val="10B98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 구</a:t>
              </a:r>
              <a:r>
                <a:rPr lang="ko-KR" altLang="en-US" sz="1700" b="1" dirty="0">
                  <a:solidFill>
                    <a:srgbClr val="10B98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52A7E6CA-9DB4-FDD9-D28F-6576EAA0052D}"/>
                </a:ext>
              </a:extLst>
            </p:cNvPr>
            <p:cNvSpPr/>
            <p:nvPr/>
          </p:nvSpPr>
          <p:spPr>
            <a:xfrm>
              <a:off x="8634212" y="2016684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32" name="Text 17">
              <a:extLst>
                <a:ext uri="{FF2B5EF4-FFF2-40B4-BE49-F238E27FC236}">
                  <a16:creationId xmlns:a16="http://schemas.microsoft.com/office/drawing/2014/main" id="{B2F26DC2-316B-CC55-72A4-EDBFEDB86654}"/>
                </a:ext>
              </a:extLst>
            </p:cNvPr>
            <p:cNvSpPr/>
            <p:nvPr/>
          </p:nvSpPr>
          <p:spPr>
            <a:xfrm>
              <a:off x="9052282" y="1631430"/>
              <a:ext cx="310896" cy="237744"/>
            </a:xfrm>
            <a:prstGeom prst="rect">
              <a:avLst/>
            </a:prstGeom>
            <a:solidFill>
              <a:srgbClr val="F59E0B"/>
            </a:solidFill>
            <a:ln>
              <a:solidFill>
                <a:srgbClr val="F59E0B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4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3" name="Text 18">
              <a:extLst>
                <a:ext uri="{FF2B5EF4-FFF2-40B4-BE49-F238E27FC236}">
                  <a16:creationId xmlns:a16="http://schemas.microsoft.com/office/drawing/2014/main" id="{BC57AEE1-23CA-7A8F-5284-9F19E83A37C0}"/>
                </a:ext>
              </a:extLst>
            </p:cNvPr>
            <p:cNvSpPr/>
            <p:nvPr/>
          </p:nvSpPr>
          <p:spPr>
            <a:xfrm>
              <a:off x="9583210" y="1640597"/>
              <a:ext cx="1859923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59E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학습 및 평가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F926E3B-F413-A9D5-5B98-31A9FE8D5878}"/>
              </a:ext>
            </a:extLst>
          </p:cNvPr>
          <p:cNvSpPr/>
          <p:nvPr/>
        </p:nvSpPr>
        <p:spPr>
          <a:xfrm>
            <a:off x="6198767" y="1468579"/>
            <a:ext cx="2435445" cy="12616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F56DDA81-1D9B-AE17-958C-05B5437F1394}"/>
              </a:ext>
            </a:extLst>
          </p:cNvPr>
          <p:cNvSpPr/>
          <p:nvPr/>
        </p:nvSpPr>
        <p:spPr>
          <a:xfrm>
            <a:off x="4044938" y="1665370"/>
            <a:ext cx="1542720" cy="203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</a:t>
            </a:r>
            <a:r>
              <a:rPr lang="ko-KR" altLang="en-US" sz="1700" b="1" dirty="0" err="1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전처리</a:t>
            </a:r>
            <a:r>
              <a:rPr lang="ko-KR" altLang="en-US" sz="1700" b="1" dirty="0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597BACDE-6C3D-C592-A3AF-2D496477569D}"/>
              </a:ext>
            </a:extLst>
          </p:cNvPr>
          <p:cNvSpPr/>
          <p:nvPr/>
        </p:nvSpPr>
        <p:spPr>
          <a:xfrm>
            <a:off x="9583210" y="1754467"/>
            <a:ext cx="14157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</a:t>
            </a:r>
            <a:r>
              <a:rPr lang="en-US" sz="107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</a:t>
            </a:r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구현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4-2. test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검증 평가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B769A9-401C-0C67-C496-880F8C360141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3-1. MLP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</a:t>
            </a: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제목 3">
            <a:extLst>
              <a:ext uri="{FF2B5EF4-FFF2-40B4-BE49-F238E27FC236}">
                <a16:creationId xmlns:a16="http://schemas.microsoft.com/office/drawing/2014/main" id="{5C7410EC-88AA-006A-E632-2A97B6ECA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모델 구현 </a:t>
            </a:r>
          </a:p>
        </p:txBody>
      </p:sp>
      <p:sp>
        <p:nvSpPr>
          <p:cNvPr id="62" name="Text 7">
            <a:extLst>
              <a:ext uri="{FF2B5EF4-FFF2-40B4-BE49-F238E27FC236}">
                <a16:creationId xmlns:a16="http://schemas.microsoft.com/office/drawing/2014/main" id="{89866F7F-8E38-5899-8C25-E301977DDE8E}"/>
              </a:ext>
            </a:extLst>
          </p:cNvPr>
          <p:cNvSpPr/>
          <p:nvPr/>
        </p:nvSpPr>
        <p:spPr>
          <a:xfrm>
            <a:off x="782801" y="1808524"/>
            <a:ext cx="20848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라이브러리 불러오기</a:t>
            </a:r>
            <a:endParaRPr lang="en-US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 데이터셋 불러오기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8FD21056-BEA7-F397-713C-F8F9721689D8}"/>
              </a:ext>
            </a:extLst>
          </p:cNvPr>
          <p:cNvSpPr/>
          <p:nvPr/>
        </p:nvSpPr>
        <p:spPr>
          <a:xfrm>
            <a:off x="6688305" y="1768353"/>
            <a:ext cx="19131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3-1. MLP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구현</a:t>
            </a:r>
            <a:endParaRPr lang="en-US" altLang="ko-KR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학습 구성 요소 정의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130100" y="2873721"/>
            <a:ext cx="15744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[MLP </a:t>
            </a:r>
            <a:r>
              <a:rPr lang="ko-KR" altLang="en-US" sz="12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 코드 구현</a:t>
            </a:r>
            <a:r>
              <a:rPr lang="en-US" altLang="ko-KR" sz="12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en-US" altLang="ko-KR" sz="120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37A768F3-6947-D2BD-EBCB-88CE5C609D97}"/>
              </a:ext>
            </a:extLst>
          </p:cNvPr>
          <p:cNvSpPr/>
          <p:nvPr/>
        </p:nvSpPr>
        <p:spPr>
          <a:xfrm>
            <a:off x="3797430" y="1814409"/>
            <a:ext cx="2084832" cy="950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2-1. MFCC </a:t>
            </a:r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추출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2-2.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구성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2-3.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2-4.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2887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FA26C-8A1D-F20B-3DAF-3B88507C4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5851982-D15D-B584-66CE-5C6EDEA5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E785F73-37D8-7AF2-DA01-123E131E8697}"/>
              </a:ext>
            </a:extLst>
          </p:cNvPr>
          <p:cNvGrpSpPr/>
          <p:nvPr/>
        </p:nvGrpSpPr>
        <p:grpSpPr>
          <a:xfrm>
            <a:off x="255850" y="2114062"/>
            <a:ext cx="4716200" cy="3315188"/>
            <a:chOff x="420950" y="2603013"/>
            <a:chExt cx="5456186" cy="2599442"/>
          </a:xfrm>
        </p:grpSpPr>
        <p:pic>
          <p:nvPicPr>
            <p:cNvPr id="4" name="그림 3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4CC8031-C9C2-DC98-6C80-F77CA8C39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4721"/>
            <a:stretch>
              <a:fillRect/>
            </a:stretch>
          </p:blipFill>
          <p:spPr>
            <a:xfrm>
              <a:off x="420950" y="2603013"/>
              <a:ext cx="4940724" cy="2599442"/>
            </a:xfrm>
            <a:prstGeom prst="rect">
              <a:avLst/>
            </a:prstGeom>
          </p:spPr>
        </p:pic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7A6E7E21-482A-6EDE-61D2-C134B6E551E1}"/>
                </a:ext>
              </a:extLst>
            </p:cNvPr>
            <p:cNvCxnSpPr>
              <a:cxnSpLocks/>
            </p:cNvCxnSpPr>
            <p:nvPr/>
          </p:nvCxnSpPr>
          <p:spPr>
            <a:xfrm>
              <a:off x="3238628" y="3795492"/>
              <a:ext cx="263850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5C6D6702-0754-5508-BE59-435D57EC8A5D}"/>
                </a:ext>
              </a:extLst>
            </p:cNvPr>
            <p:cNvCxnSpPr>
              <a:cxnSpLocks/>
            </p:cNvCxnSpPr>
            <p:nvPr/>
          </p:nvCxnSpPr>
          <p:spPr>
            <a:xfrm>
              <a:off x="2072846" y="2726699"/>
              <a:ext cx="379586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C1391148-9661-18B6-C4C3-BDAC1FA02D3B}"/>
                </a:ext>
              </a:extLst>
            </p:cNvPr>
            <p:cNvCxnSpPr>
              <a:cxnSpLocks/>
            </p:cNvCxnSpPr>
            <p:nvPr/>
          </p:nvCxnSpPr>
          <p:spPr>
            <a:xfrm>
              <a:off x="2368319" y="4977483"/>
              <a:ext cx="3508383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086ABE24-67BA-4A31-06A8-AA656C8A5034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3-1. MLP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</a:t>
            </a: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제목 3">
            <a:extLst>
              <a:ext uri="{FF2B5EF4-FFF2-40B4-BE49-F238E27FC236}">
                <a16:creationId xmlns:a16="http://schemas.microsoft.com/office/drawing/2014/main" id="{ADE2D2A7-E9C9-84F3-8612-9A9465266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모델 구현 </a:t>
            </a:r>
          </a:p>
        </p:txBody>
      </p:sp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38730E-C803-16D6-3F60-0A393C7A4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824" y="1532422"/>
            <a:ext cx="4210976" cy="4923504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13DED87A-97D6-DA74-05F3-DDA15D26FFA1}"/>
              </a:ext>
            </a:extLst>
          </p:cNvPr>
          <p:cNvGrpSpPr/>
          <p:nvPr/>
        </p:nvGrpSpPr>
        <p:grpSpPr>
          <a:xfrm>
            <a:off x="9631680" y="3131965"/>
            <a:ext cx="2560320" cy="1005840"/>
            <a:chOff x="9714574" y="3177296"/>
            <a:chExt cx="2560320" cy="1005840"/>
          </a:xfrm>
        </p:grpSpPr>
        <p:sp>
          <p:nvSpPr>
            <p:cNvPr id="10" name="Text 19">
              <a:extLst>
                <a:ext uri="{FF2B5EF4-FFF2-40B4-BE49-F238E27FC236}">
                  <a16:creationId xmlns:a16="http://schemas.microsoft.com/office/drawing/2014/main" id="{52B05957-C1A6-5359-FD48-480822712E4A}"/>
                </a:ext>
              </a:extLst>
            </p:cNvPr>
            <p:cNvSpPr/>
            <p:nvPr/>
          </p:nvSpPr>
          <p:spPr>
            <a:xfrm>
              <a:off x="9714574" y="3177296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8504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ReLU: </a:t>
              </a:r>
              <a:r>
                <a:rPr lang="en-US" sz="10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음수 → 0 (비선형성 추가)</a:t>
              </a:r>
              <a:endParaRPr 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" name="Text 20">
              <a:extLst>
                <a:ext uri="{FF2B5EF4-FFF2-40B4-BE49-F238E27FC236}">
                  <a16:creationId xmlns:a16="http://schemas.microsoft.com/office/drawing/2014/main" id="{AD019129-788F-9B24-10BA-BA356902ABB6}"/>
                </a:ext>
              </a:extLst>
            </p:cNvPr>
            <p:cNvSpPr/>
            <p:nvPr/>
          </p:nvSpPr>
          <p:spPr>
            <a:xfrm>
              <a:off x="9714574" y="3497336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8504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Dropout: </a:t>
              </a:r>
              <a:r>
                <a:rPr lang="en-US" sz="10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50% 뉴런 비활성 (과적합 완화)</a:t>
              </a:r>
              <a:endParaRPr 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2" name="Text 21">
              <a:extLst>
                <a:ext uri="{FF2B5EF4-FFF2-40B4-BE49-F238E27FC236}">
                  <a16:creationId xmlns:a16="http://schemas.microsoft.com/office/drawing/2014/main" id="{46DD05CB-ED87-82FF-FFC0-75922FDE11D9}"/>
                </a:ext>
              </a:extLst>
            </p:cNvPr>
            <p:cNvSpPr/>
            <p:nvPr/>
          </p:nvSpPr>
          <p:spPr>
            <a:xfrm>
              <a:off x="9714574" y="3908816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C348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Linear만 </a:t>
              </a:r>
              <a:r>
                <a:rPr lang="en-US" sz="10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차원을 변경</a:t>
              </a:r>
              <a:endParaRPr 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9DA58E8-D048-A2FF-96C3-E65436ACC46B}"/>
              </a:ext>
            </a:extLst>
          </p:cNvPr>
          <p:cNvGrpSpPr/>
          <p:nvPr/>
        </p:nvGrpSpPr>
        <p:grpSpPr>
          <a:xfrm>
            <a:off x="9540240" y="4828481"/>
            <a:ext cx="2560320" cy="1097280"/>
            <a:chOff x="6217920" y="3291840"/>
            <a:chExt cx="2560320" cy="1097280"/>
          </a:xfrm>
        </p:grpSpPr>
        <p:sp>
          <p:nvSpPr>
            <p:cNvPr id="39" name="Shape 22">
              <a:extLst>
                <a:ext uri="{FF2B5EF4-FFF2-40B4-BE49-F238E27FC236}">
                  <a16:creationId xmlns:a16="http://schemas.microsoft.com/office/drawing/2014/main" id="{9E7BF94C-E6B5-E852-8E88-54DEB519D929}"/>
                </a:ext>
              </a:extLst>
            </p:cNvPr>
            <p:cNvSpPr/>
            <p:nvPr/>
          </p:nvSpPr>
          <p:spPr>
            <a:xfrm>
              <a:off x="6217920" y="3291840"/>
              <a:ext cx="2560320" cy="109728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6350">
              <a:solidFill>
                <a:srgbClr val="5F5E5A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0" name="Text 23">
              <a:extLst>
                <a:ext uri="{FF2B5EF4-FFF2-40B4-BE49-F238E27FC236}">
                  <a16:creationId xmlns:a16="http://schemas.microsoft.com/office/drawing/2014/main" id="{24F28675-1FBB-CCFC-4B89-D497C91B9EFD}"/>
                </a:ext>
              </a:extLst>
            </p:cNvPr>
            <p:cNvSpPr/>
            <p:nvPr/>
          </p:nvSpPr>
          <p:spPr>
            <a:xfrm>
              <a:off x="6309360" y="333756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범례</a:t>
              </a:r>
              <a:endParaRPr 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1" name="Shape 24">
              <a:extLst>
                <a:ext uri="{FF2B5EF4-FFF2-40B4-BE49-F238E27FC236}">
                  <a16:creationId xmlns:a16="http://schemas.microsoft.com/office/drawing/2014/main" id="{32C2622E-4CA5-196E-068F-344F1FE72111}"/>
                </a:ext>
              </a:extLst>
            </p:cNvPr>
            <p:cNvSpPr/>
            <p:nvPr/>
          </p:nvSpPr>
          <p:spPr>
            <a:xfrm>
              <a:off x="6400800" y="3611880"/>
              <a:ext cx="365760" cy="182880"/>
            </a:xfrm>
            <a:prstGeom prst="roundRect">
              <a:avLst>
                <a:gd name="adj" fmla="val 15000"/>
              </a:avLst>
            </a:prstGeom>
            <a:solidFill>
              <a:srgbClr val="EEEDFE"/>
            </a:solidFill>
            <a:ln w="635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2" name="Text 25">
              <a:extLst>
                <a:ext uri="{FF2B5EF4-FFF2-40B4-BE49-F238E27FC236}">
                  <a16:creationId xmlns:a16="http://schemas.microsoft.com/office/drawing/2014/main" id="{5A02079B-95F6-86B9-89E2-01442891917B}"/>
                </a:ext>
              </a:extLst>
            </p:cNvPr>
            <p:cNvSpPr/>
            <p:nvPr/>
          </p:nvSpPr>
          <p:spPr>
            <a:xfrm>
              <a:off x="6858000" y="359359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nn.Linear (차원 변경)</a:t>
              </a:r>
              <a:endParaRPr lang="en-US" sz="9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4" name="Shape 26">
              <a:extLst>
                <a:ext uri="{FF2B5EF4-FFF2-40B4-BE49-F238E27FC236}">
                  <a16:creationId xmlns:a16="http://schemas.microsoft.com/office/drawing/2014/main" id="{54E0F415-C515-E7B3-492E-31C48B84E868}"/>
                </a:ext>
              </a:extLst>
            </p:cNvPr>
            <p:cNvSpPr/>
            <p:nvPr/>
          </p:nvSpPr>
          <p:spPr>
            <a:xfrm>
              <a:off x="6400800" y="3840480"/>
              <a:ext cx="365760" cy="182880"/>
            </a:xfrm>
            <a:prstGeom prst="roundRect">
              <a:avLst>
                <a:gd name="adj" fmla="val 15000"/>
              </a:avLst>
            </a:prstGeom>
            <a:solidFill>
              <a:srgbClr val="E1F5EE"/>
            </a:solidFill>
            <a:ln w="635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5" name="Text 27">
              <a:extLst>
                <a:ext uri="{FF2B5EF4-FFF2-40B4-BE49-F238E27FC236}">
                  <a16:creationId xmlns:a16="http://schemas.microsoft.com/office/drawing/2014/main" id="{6B139AD6-D7AF-E08D-4813-F94F37568564}"/>
                </a:ext>
              </a:extLst>
            </p:cNvPr>
            <p:cNvSpPr/>
            <p:nvPr/>
          </p:nvSpPr>
          <p:spPr>
            <a:xfrm>
              <a:off x="6858000" y="382219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ReLU + Dropout (shape 유지)</a:t>
              </a:r>
              <a:endParaRPr lang="en-US" sz="9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6" name="Shape 28">
              <a:extLst>
                <a:ext uri="{FF2B5EF4-FFF2-40B4-BE49-F238E27FC236}">
                  <a16:creationId xmlns:a16="http://schemas.microsoft.com/office/drawing/2014/main" id="{C5D6FBC1-57C4-62E6-B181-758B23977041}"/>
                </a:ext>
              </a:extLst>
            </p:cNvPr>
            <p:cNvSpPr/>
            <p:nvPr/>
          </p:nvSpPr>
          <p:spPr>
            <a:xfrm>
              <a:off x="6400800" y="4069080"/>
              <a:ext cx="365760" cy="182880"/>
            </a:xfrm>
            <a:prstGeom prst="roundRect">
              <a:avLst>
                <a:gd name="adj" fmla="val 15000"/>
              </a:avLst>
            </a:prstGeom>
            <a:solidFill>
              <a:srgbClr val="FAECE7"/>
            </a:solidFill>
            <a:ln w="635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7" name="Text 29">
              <a:extLst>
                <a:ext uri="{FF2B5EF4-FFF2-40B4-BE49-F238E27FC236}">
                  <a16:creationId xmlns:a16="http://schemas.microsoft.com/office/drawing/2014/main" id="{A3164D75-3909-9AE2-61E5-331F1DDC2060}"/>
                </a:ext>
              </a:extLst>
            </p:cNvPr>
            <p:cNvSpPr/>
            <p:nvPr/>
          </p:nvSpPr>
          <p:spPr>
            <a:xfrm>
              <a:off x="6858000" y="405079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출력층 (클래스 예측)</a:t>
              </a:r>
              <a:endParaRPr lang="en-US" sz="9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CE85579-57E8-48FC-82E0-7992332B6CAA}"/>
              </a:ext>
            </a:extLst>
          </p:cNvPr>
          <p:cNvSpPr/>
          <p:nvPr/>
        </p:nvSpPr>
        <p:spPr>
          <a:xfrm>
            <a:off x="5237824" y="1167620"/>
            <a:ext cx="2372765" cy="3336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[MLP </a:t>
            </a:r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 코드 구현도 블록도</a:t>
            </a:r>
            <a:r>
              <a:rPr lang="en-US" altLang="ko-KR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en-US" altLang="ko-KR" sz="12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E914731-112A-62EF-CB53-95D90CE41F67}"/>
              </a:ext>
            </a:extLst>
          </p:cNvPr>
          <p:cNvSpPr/>
          <p:nvPr/>
        </p:nvSpPr>
        <p:spPr>
          <a:xfrm>
            <a:off x="255850" y="1732295"/>
            <a:ext cx="15744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[MLP </a:t>
            </a:r>
            <a:r>
              <a:rPr lang="ko-KR" altLang="en-US" sz="12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 코드 구현</a:t>
            </a:r>
            <a:r>
              <a:rPr lang="en-US" altLang="ko-KR" sz="12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en-US" altLang="ko-KR" sz="120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6813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B9262-067F-F09D-7645-F848C591F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0EABAE-17B6-379F-4B6C-143EF7D1B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561EBF-AC41-573D-00D5-DD79E32EE2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110"/>
          <a:stretch>
            <a:fillRect/>
          </a:stretch>
        </p:blipFill>
        <p:spPr>
          <a:xfrm>
            <a:off x="647099" y="3312598"/>
            <a:ext cx="4938234" cy="1302212"/>
          </a:xfrm>
          <a:prstGeom prst="rect">
            <a:avLst/>
          </a:prstGeom>
        </p:spPr>
      </p:pic>
      <p:sp>
        <p:nvSpPr>
          <p:cNvPr id="10" name="제목 3">
            <a:extLst>
              <a:ext uri="{FF2B5EF4-FFF2-40B4-BE49-F238E27FC236}">
                <a16:creationId xmlns:a16="http://schemas.microsoft.com/office/drawing/2014/main" id="{8D20F65A-05AC-6533-C0B0-1A39D39F1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모델 구현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368FA2-70CD-8A78-15B6-6A33775DFD53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3-2.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 학습 구성 요소 정의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E6ADFD-D9FD-0B52-59E2-9BD04D540469}"/>
              </a:ext>
            </a:extLst>
          </p:cNvPr>
          <p:cNvSpPr txBox="1"/>
          <p:nvPr/>
        </p:nvSpPr>
        <p:spPr>
          <a:xfrm>
            <a:off x="5991220" y="2936056"/>
            <a:ext cx="6122124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학습 구성 요소 설정</a:t>
            </a:r>
            <a:r>
              <a:rPr lang="en-US" altLang="ko-KR" sz="14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torch.device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() : GPU(</a:t>
            </a: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cuda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)/CPU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 여부 설정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MLP Model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정의 </a:t>
            </a: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주의 </a:t>
            </a:r>
            <a:r>
              <a:rPr lang="en-US" altLang="ko-KR" sz="14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400" b="1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in_dim</a:t>
            </a:r>
            <a:r>
              <a:rPr lang="ko-KR" altLang="en-US" sz="14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은 입력 벡터 길이</a:t>
            </a:r>
            <a:r>
              <a:rPr lang="en-US" altLang="ko-KR" sz="14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en-US" altLang="ko-KR" sz="1400" b="1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X_train.shape</a:t>
            </a:r>
            <a:r>
              <a:rPr lang="en-US" altLang="ko-KR" sz="14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[1])</a:t>
            </a:r>
            <a:r>
              <a:rPr lang="ko-KR" altLang="en-US" sz="14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 동일하게 설정</a:t>
            </a:r>
            <a:endParaRPr lang="en-US" altLang="ko-KR" sz="1400" b="1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400" b="1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Optimizer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정의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학습 방식 결정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): </a:t>
            </a:r>
            <a:b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Optimizer(Adam), </a:t>
            </a:r>
            <a:r>
              <a:rPr lang="ko-KR" altLang="en-US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학습률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lr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learning_rate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Loss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함수 정의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학습 기준 설정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: </a:t>
            </a:r>
            <a:b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Loss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함수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CrossEntropy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D6540DC-1C26-5F20-4EB1-2B4DB28551C5}"/>
              </a:ext>
            </a:extLst>
          </p:cNvPr>
          <p:cNvGrpSpPr/>
          <p:nvPr/>
        </p:nvGrpSpPr>
        <p:grpSpPr>
          <a:xfrm>
            <a:off x="550379" y="1513892"/>
            <a:ext cx="10892754" cy="1193430"/>
            <a:chOff x="550379" y="1513892"/>
            <a:chExt cx="10892754" cy="1193430"/>
          </a:xfrm>
        </p:grpSpPr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41924465-EA79-AC40-00C6-38DD40241ECC}"/>
                </a:ext>
              </a:extLst>
            </p:cNvPr>
            <p:cNvSpPr/>
            <p:nvPr/>
          </p:nvSpPr>
          <p:spPr>
            <a:xfrm>
              <a:off x="3124243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C03E669E-1B49-EEF9-01C4-DAB50210A88D}"/>
                </a:ext>
              </a:extLst>
            </p:cNvPr>
            <p:cNvSpPr/>
            <p:nvPr/>
          </p:nvSpPr>
          <p:spPr>
            <a:xfrm>
              <a:off x="3582123" y="1626218"/>
              <a:ext cx="453814" cy="260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F2D03A10-2DBC-8C2B-B4C3-54D1DA21043A}"/>
                </a:ext>
              </a:extLst>
            </p:cNvPr>
            <p:cNvSpPr/>
            <p:nvPr/>
          </p:nvSpPr>
          <p:spPr>
            <a:xfrm>
              <a:off x="550379" y="1519066"/>
              <a:ext cx="2577930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B82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5D8205F5-0FBF-0B37-1A76-5112DC7A8318}"/>
                </a:ext>
              </a:extLst>
            </p:cNvPr>
            <p:cNvSpPr/>
            <p:nvPr/>
          </p:nvSpPr>
          <p:spPr>
            <a:xfrm>
              <a:off x="678395" y="1628794"/>
              <a:ext cx="310896" cy="237744"/>
            </a:xfrm>
            <a:prstGeom prst="rect">
              <a:avLst/>
            </a:prstGeom>
            <a:solidFill>
              <a:srgbClr val="3B82F6"/>
            </a:solidFill>
            <a:ln>
              <a:solidFill>
                <a:srgbClr val="3B82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1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ED973F10-FBAE-405A-6A61-FFB52D2AAF04}"/>
                </a:ext>
              </a:extLst>
            </p:cNvPr>
            <p:cNvSpPr/>
            <p:nvPr/>
          </p:nvSpPr>
          <p:spPr>
            <a:xfrm>
              <a:off x="1117307" y="1665370"/>
              <a:ext cx="191667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3B82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준비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0" name="Text 8">
              <a:extLst>
                <a:ext uri="{FF2B5EF4-FFF2-40B4-BE49-F238E27FC236}">
                  <a16:creationId xmlns:a16="http://schemas.microsoft.com/office/drawing/2014/main" id="{7371D803-55FE-D062-1240-28C8EBEC930F}"/>
                </a:ext>
              </a:extLst>
            </p:cNvPr>
            <p:cNvSpPr/>
            <p:nvPr/>
          </p:nvSpPr>
          <p:spPr>
            <a:xfrm>
              <a:off x="3428852" y="1514566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8B5C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909DF14D-82B1-68E0-1B15-C617B7AEDF2E}"/>
                </a:ext>
              </a:extLst>
            </p:cNvPr>
            <p:cNvSpPr/>
            <p:nvPr/>
          </p:nvSpPr>
          <p:spPr>
            <a:xfrm>
              <a:off x="6172630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0B981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4DE7628D-FA5E-02D6-7CE2-B2D180A6BFBC}"/>
                </a:ext>
              </a:extLst>
            </p:cNvPr>
            <p:cNvSpPr/>
            <p:nvPr/>
          </p:nvSpPr>
          <p:spPr>
            <a:xfrm>
              <a:off x="8939491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F59E0B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33E404FE-941A-5339-813A-C15B27DFAD22}"/>
                </a:ext>
              </a:extLst>
            </p:cNvPr>
            <p:cNvSpPr/>
            <p:nvPr/>
          </p:nvSpPr>
          <p:spPr>
            <a:xfrm>
              <a:off x="3530645" y="1611310"/>
              <a:ext cx="310896" cy="237744"/>
            </a:xfrm>
            <a:prstGeom prst="rect">
              <a:avLst/>
            </a:prstGeom>
            <a:solidFill>
              <a:srgbClr val="8B5CF6"/>
            </a:solidFill>
            <a:ln>
              <a:solidFill>
                <a:srgbClr val="8B5C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3E2046EF-3215-1F26-A9BB-854B5D78AF01}"/>
                </a:ext>
              </a:extLst>
            </p:cNvPr>
            <p:cNvSpPr/>
            <p:nvPr/>
          </p:nvSpPr>
          <p:spPr>
            <a:xfrm>
              <a:off x="5867979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5DD71CA3-30B0-4FA8-C8BB-D08BBC4C2960}"/>
                </a:ext>
              </a:extLst>
            </p:cNvPr>
            <p:cNvSpPr/>
            <p:nvPr/>
          </p:nvSpPr>
          <p:spPr>
            <a:xfrm>
              <a:off x="6302247" y="1624164"/>
              <a:ext cx="310896" cy="237744"/>
            </a:xfrm>
            <a:prstGeom prst="rect">
              <a:avLst/>
            </a:prstGeom>
            <a:solidFill>
              <a:srgbClr val="10B981"/>
            </a:solidFill>
            <a:ln>
              <a:solidFill>
                <a:srgbClr val="10B98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3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6" name="Text 14">
              <a:extLst>
                <a:ext uri="{FF2B5EF4-FFF2-40B4-BE49-F238E27FC236}">
                  <a16:creationId xmlns:a16="http://schemas.microsoft.com/office/drawing/2014/main" id="{78BB1A95-D6D5-220E-1976-77A593DF70B8}"/>
                </a:ext>
              </a:extLst>
            </p:cNvPr>
            <p:cNvSpPr/>
            <p:nvPr/>
          </p:nvSpPr>
          <p:spPr>
            <a:xfrm>
              <a:off x="6848710" y="1672171"/>
              <a:ext cx="128016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 err="1">
                  <a:solidFill>
                    <a:srgbClr val="10B98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모델</a:t>
              </a:r>
              <a:r>
                <a:rPr lang="en-US" sz="1700" b="1" dirty="0">
                  <a:solidFill>
                    <a:srgbClr val="10B98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 구</a:t>
              </a:r>
              <a:r>
                <a:rPr lang="ko-KR" altLang="en-US" sz="1700" b="1" dirty="0">
                  <a:solidFill>
                    <a:srgbClr val="10B98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7" name="Text 11">
              <a:extLst>
                <a:ext uri="{FF2B5EF4-FFF2-40B4-BE49-F238E27FC236}">
                  <a16:creationId xmlns:a16="http://schemas.microsoft.com/office/drawing/2014/main" id="{4EABCAB7-617E-D15E-D040-B7270E392C0C}"/>
                </a:ext>
              </a:extLst>
            </p:cNvPr>
            <p:cNvSpPr/>
            <p:nvPr/>
          </p:nvSpPr>
          <p:spPr>
            <a:xfrm>
              <a:off x="8634212" y="2016684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28" name="Text 17">
              <a:extLst>
                <a:ext uri="{FF2B5EF4-FFF2-40B4-BE49-F238E27FC236}">
                  <a16:creationId xmlns:a16="http://schemas.microsoft.com/office/drawing/2014/main" id="{2FE2803C-6293-48C3-77DC-2698E3475A22}"/>
                </a:ext>
              </a:extLst>
            </p:cNvPr>
            <p:cNvSpPr/>
            <p:nvPr/>
          </p:nvSpPr>
          <p:spPr>
            <a:xfrm>
              <a:off x="9052282" y="1631430"/>
              <a:ext cx="310896" cy="237744"/>
            </a:xfrm>
            <a:prstGeom prst="rect">
              <a:avLst/>
            </a:prstGeom>
            <a:solidFill>
              <a:srgbClr val="F59E0B"/>
            </a:solidFill>
            <a:ln>
              <a:solidFill>
                <a:srgbClr val="F59E0B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4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39172E6B-A196-CA3E-90FA-388DAF9366C0}"/>
                </a:ext>
              </a:extLst>
            </p:cNvPr>
            <p:cNvSpPr/>
            <p:nvPr/>
          </p:nvSpPr>
          <p:spPr>
            <a:xfrm>
              <a:off x="9583210" y="1640597"/>
              <a:ext cx="1859923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59E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학습 및 평가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7A1FBF3-2419-1609-2B2D-1A3AF39DF439}"/>
              </a:ext>
            </a:extLst>
          </p:cNvPr>
          <p:cNvSpPr/>
          <p:nvPr/>
        </p:nvSpPr>
        <p:spPr>
          <a:xfrm>
            <a:off x="6198767" y="1468579"/>
            <a:ext cx="2435445" cy="12616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D1EF0321-8E37-174F-6F82-63FB0F8B2897}"/>
              </a:ext>
            </a:extLst>
          </p:cNvPr>
          <p:cNvSpPr/>
          <p:nvPr/>
        </p:nvSpPr>
        <p:spPr>
          <a:xfrm>
            <a:off x="4044938" y="1665370"/>
            <a:ext cx="1542720" cy="203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</a:t>
            </a:r>
            <a:r>
              <a:rPr lang="ko-KR" altLang="en-US" sz="1700" b="1" dirty="0" err="1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전처리</a:t>
            </a:r>
            <a:r>
              <a:rPr lang="ko-KR" altLang="en-US" sz="1700" b="1" dirty="0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A96790AF-CE46-B710-856E-D7B44358333D}"/>
              </a:ext>
            </a:extLst>
          </p:cNvPr>
          <p:cNvSpPr/>
          <p:nvPr/>
        </p:nvSpPr>
        <p:spPr>
          <a:xfrm>
            <a:off x="6688305" y="1768353"/>
            <a:ext cx="19131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3-1. MLP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구현</a:t>
            </a:r>
            <a:endParaRPr lang="en-US" altLang="ko-KR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학습 구성 요소 정의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52A6E290-15C0-2364-AFFA-C77BF52A61CD}"/>
              </a:ext>
            </a:extLst>
          </p:cNvPr>
          <p:cNvSpPr/>
          <p:nvPr/>
        </p:nvSpPr>
        <p:spPr>
          <a:xfrm>
            <a:off x="9583210" y="1754467"/>
            <a:ext cx="14157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</a:t>
            </a:r>
            <a:r>
              <a:rPr lang="en-US" sz="107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</a:t>
            </a:r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구현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4-2. test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검증 평가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8FA7CC71-1DFD-2BD7-F10B-78229CF1A272}"/>
              </a:ext>
            </a:extLst>
          </p:cNvPr>
          <p:cNvSpPr/>
          <p:nvPr/>
        </p:nvSpPr>
        <p:spPr>
          <a:xfrm>
            <a:off x="782801" y="1808524"/>
            <a:ext cx="20848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라이브러리 불러오기</a:t>
            </a:r>
            <a:endParaRPr lang="en-US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 데이터셋 불러오기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83DEA016-4D8D-B443-302F-D296E6C52733}"/>
              </a:ext>
            </a:extLst>
          </p:cNvPr>
          <p:cNvSpPr/>
          <p:nvPr/>
        </p:nvSpPr>
        <p:spPr>
          <a:xfrm>
            <a:off x="3797430" y="1814409"/>
            <a:ext cx="2084832" cy="950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2-1. MFCC </a:t>
            </a:r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추출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2-2.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구성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2-3.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2-4.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6053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4672D-8579-BCF7-7AC4-8B48206BD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16B4FF9-9CA6-103B-64C4-0CA2CB22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10" name="제목 3">
            <a:extLst>
              <a:ext uri="{FF2B5EF4-FFF2-40B4-BE49-F238E27FC236}">
                <a16:creationId xmlns:a16="http://schemas.microsoft.com/office/drawing/2014/main" id="{53326981-5FA6-B3D8-9C18-CA42224B4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모델 구현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896F35-D6BF-4402-D953-CC500D7BC55B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3-2.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 학습 구성 요소 정의</a:t>
            </a:r>
          </a:p>
        </p:txBody>
      </p:sp>
      <p:pic>
        <p:nvPicPr>
          <p:cNvPr id="66" name="그림 6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A4BCCC-EB68-D446-B6E0-6ECC4684D5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213" r="39222" b="17754"/>
          <a:stretch>
            <a:fillRect/>
          </a:stretch>
        </p:blipFill>
        <p:spPr>
          <a:xfrm>
            <a:off x="5759723" y="1436204"/>
            <a:ext cx="5448028" cy="4933061"/>
          </a:xfrm>
          <a:prstGeom prst="rect">
            <a:avLst/>
          </a:prstGeom>
        </p:spPr>
      </p:pic>
      <p:pic>
        <p:nvPicPr>
          <p:cNvPr id="67" name="그림 6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F9FA4C-866D-B181-EEB4-AB94F438FD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110"/>
          <a:stretch>
            <a:fillRect/>
          </a:stretch>
        </p:blipFill>
        <p:spPr>
          <a:xfrm>
            <a:off x="118187" y="2970247"/>
            <a:ext cx="4197986" cy="1292116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8B08BCFD-AC0F-AF0B-25FA-D872BDC5B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518" y="2737822"/>
            <a:ext cx="505732" cy="266737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8A68DF34-5DEE-CEE4-734D-28E630BD0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518" y="1436204"/>
            <a:ext cx="505732" cy="266737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C7BAF399-2EBA-4B08-CF38-36668BC61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723" y="3963504"/>
            <a:ext cx="505732" cy="266737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FB8B84E9-0B1B-2ACF-A721-F323540D0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723" y="5253563"/>
            <a:ext cx="505732" cy="266737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7882686E-2E59-53FD-17F7-E74BA4D40472}"/>
              </a:ext>
            </a:extLst>
          </p:cNvPr>
          <p:cNvSpPr txBox="1"/>
          <p:nvPr/>
        </p:nvSpPr>
        <p:spPr>
          <a:xfrm>
            <a:off x="4400719" y="2947727"/>
            <a:ext cx="59027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/>
              <a:t>Line1</a:t>
            </a:r>
            <a:endParaRPr lang="ko-KR" altLang="en-US" sz="1200" b="1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D31C3A-0432-4E25-8569-BE0F005A4A36}"/>
              </a:ext>
            </a:extLst>
          </p:cNvPr>
          <p:cNvSpPr txBox="1"/>
          <p:nvPr/>
        </p:nvSpPr>
        <p:spPr>
          <a:xfrm>
            <a:off x="5758679" y="1464338"/>
            <a:ext cx="59027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/>
              <a:t>Line1</a:t>
            </a:r>
            <a:endParaRPr lang="ko-KR" altLang="en-US" sz="1200" b="1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A87B735-E743-C972-A47E-430D31C36C80}"/>
              </a:ext>
            </a:extLst>
          </p:cNvPr>
          <p:cNvSpPr txBox="1"/>
          <p:nvPr/>
        </p:nvSpPr>
        <p:spPr>
          <a:xfrm>
            <a:off x="5770245" y="2737822"/>
            <a:ext cx="59027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/>
              <a:t>Line2</a:t>
            </a:r>
            <a:endParaRPr lang="ko-KR" altLang="en-US" sz="1200" b="1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F2EAFB6-D5B5-F825-DF27-5E38F327D9C0}"/>
              </a:ext>
            </a:extLst>
          </p:cNvPr>
          <p:cNvSpPr txBox="1"/>
          <p:nvPr/>
        </p:nvSpPr>
        <p:spPr>
          <a:xfrm>
            <a:off x="4400719" y="3311372"/>
            <a:ext cx="59027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/>
              <a:t>Line2</a:t>
            </a:r>
            <a:endParaRPr lang="ko-KR" altLang="en-US" sz="1200" b="1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DBCB528-E3E9-068C-BA9A-67B18A804678}"/>
              </a:ext>
            </a:extLst>
          </p:cNvPr>
          <p:cNvSpPr txBox="1"/>
          <p:nvPr/>
        </p:nvSpPr>
        <p:spPr>
          <a:xfrm>
            <a:off x="4400719" y="3649395"/>
            <a:ext cx="59027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/>
              <a:t>Line3</a:t>
            </a:r>
            <a:endParaRPr lang="ko-KR" altLang="en-US" sz="1200" b="1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9CBB50A-58CC-5C03-6D2D-18638CF5DF19}"/>
              </a:ext>
            </a:extLst>
          </p:cNvPr>
          <p:cNvSpPr txBox="1"/>
          <p:nvPr/>
        </p:nvSpPr>
        <p:spPr>
          <a:xfrm>
            <a:off x="4400719" y="3993569"/>
            <a:ext cx="59027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/>
              <a:t>Line4</a:t>
            </a:r>
            <a:endParaRPr lang="ko-KR" altLang="en-US" sz="1200" b="1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64F023D-04B1-E500-E1D4-F390F3248250}"/>
              </a:ext>
            </a:extLst>
          </p:cNvPr>
          <p:cNvSpPr txBox="1"/>
          <p:nvPr/>
        </p:nvSpPr>
        <p:spPr>
          <a:xfrm>
            <a:off x="5759723" y="4030034"/>
            <a:ext cx="59027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/>
              <a:t>Line3</a:t>
            </a:r>
            <a:endParaRPr lang="ko-KR" altLang="en-US" sz="1200" b="1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BE5E06C-511A-9D7F-204A-51D2DE1EAC6E}"/>
              </a:ext>
            </a:extLst>
          </p:cNvPr>
          <p:cNvSpPr txBox="1"/>
          <p:nvPr/>
        </p:nvSpPr>
        <p:spPr>
          <a:xfrm>
            <a:off x="5759723" y="5269690"/>
            <a:ext cx="59027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/>
              <a:t>Line4</a:t>
            </a:r>
            <a:endParaRPr lang="ko-KR" altLang="en-US" sz="1200" b="1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7BA9D3B-E47D-C978-B2CE-37D223B57496}"/>
              </a:ext>
            </a:extLst>
          </p:cNvPr>
          <p:cNvSpPr txBox="1"/>
          <p:nvPr/>
        </p:nvSpPr>
        <p:spPr>
          <a:xfrm>
            <a:off x="127742" y="2320809"/>
            <a:ext cx="2412258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학습 구성 요소 설정 코드</a:t>
            </a:r>
            <a:r>
              <a:rPr lang="en-US" altLang="ko-KR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en-US" altLang="ko-KR" sz="140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E042751-2BC9-66E2-C5D3-7B0ADBCBECCC}"/>
              </a:ext>
            </a:extLst>
          </p:cNvPr>
          <p:cNvSpPr txBox="1"/>
          <p:nvPr/>
        </p:nvSpPr>
        <p:spPr>
          <a:xfrm>
            <a:off x="5664942" y="1023923"/>
            <a:ext cx="2653558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학습 구성 요소 설정 블록도</a:t>
            </a:r>
            <a:r>
              <a:rPr lang="en-US" altLang="ko-KR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en-US" altLang="ko-KR" sz="140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6395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0E365-00CC-CD7A-A420-023CAB913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4AD411A-11BE-58F3-A4B4-3864F13BC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6D3573-0FC6-FCC4-2720-A576C89398C0}"/>
              </a:ext>
            </a:extLst>
          </p:cNvPr>
          <p:cNvSpPr txBox="1"/>
          <p:nvPr/>
        </p:nvSpPr>
        <p:spPr>
          <a:xfrm>
            <a:off x="5962712" y="3230372"/>
            <a:ext cx="5775705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정확도 평가를 위한 함수 구현</a:t>
            </a:r>
            <a:r>
              <a:rPr lang="en-US" altLang="ko-KR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Model.eval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() :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모델의 학습을 끝내고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예측 값을 정답과 비교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Torch.no_gard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():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 때는 </a:t>
            </a:r>
            <a:r>
              <a:rPr lang="ko-KR" altLang="en-US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그래디언트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계산 없이 진행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X_batch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입력 특징 데이터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y_batch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정답 데이터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제목 3">
            <a:extLst>
              <a:ext uri="{FF2B5EF4-FFF2-40B4-BE49-F238E27FC236}">
                <a16:creationId xmlns:a16="http://schemas.microsoft.com/office/drawing/2014/main" id="{81B7052B-1ADC-87D4-1143-38A5CDB2F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학습 및 평가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BDE0D8-1DCB-0247-A448-B136753916D8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4-1.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 학습 구현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2084CA-FB73-F863-5A09-613A2B5E1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79" y="3344695"/>
            <a:ext cx="4974502" cy="243211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AE3F4624-51DD-2E26-BB06-23C1B2A54E1C}"/>
              </a:ext>
            </a:extLst>
          </p:cNvPr>
          <p:cNvGrpSpPr/>
          <p:nvPr/>
        </p:nvGrpSpPr>
        <p:grpSpPr>
          <a:xfrm>
            <a:off x="550379" y="1513892"/>
            <a:ext cx="10892754" cy="1193430"/>
            <a:chOff x="550379" y="1513892"/>
            <a:chExt cx="10892754" cy="1193430"/>
          </a:xfrm>
        </p:grpSpPr>
        <p:sp>
          <p:nvSpPr>
            <p:cNvPr id="5" name="Text 11">
              <a:extLst>
                <a:ext uri="{FF2B5EF4-FFF2-40B4-BE49-F238E27FC236}">
                  <a16:creationId xmlns:a16="http://schemas.microsoft.com/office/drawing/2014/main" id="{79E6705D-19D8-7231-CFE4-77FA8990B852}"/>
                </a:ext>
              </a:extLst>
            </p:cNvPr>
            <p:cNvSpPr/>
            <p:nvPr/>
          </p:nvSpPr>
          <p:spPr>
            <a:xfrm>
              <a:off x="3124243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6" name="Text 14">
              <a:extLst>
                <a:ext uri="{FF2B5EF4-FFF2-40B4-BE49-F238E27FC236}">
                  <a16:creationId xmlns:a16="http://schemas.microsoft.com/office/drawing/2014/main" id="{10932A09-4E16-F1ED-5D7B-45BB38783CEB}"/>
                </a:ext>
              </a:extLst>
            </p:cNvPr>
            <p:cNvSpPr/>
            <p:nvPr/>
          </p:nvSpPr>
          <p:spPr>
            <a:xfrm>
              <a:off x="3582123" y="1626218"/>
              <a:ext cx="453814" cy="260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AA934D52-28A4-FDA2-BC99-6C71CE87A367}"/>
                </a:ext>
              </a:extLst>
            </p:cNvPr>
            <p:cNvSpPr/>
            <p:nvPr/>
          </p:nvSpPr>
          <p:spPr>
            <a:xfrm>
              <a:off x="550379" y="1519066"/>
              <a:ext cx="2577930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B82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0D32E4F1-6304-2583-6DB0-F40FCC9E4C7A}"/>
                </a:ext>
              </a:extLst>
            </p:cNvPr>
            <p:cNvSpPr/>
            <p:nvPr/>
          </p:nvSpPr>
          <p:spPr>
            <a:xfrm>
              <a:off x="678395" y="1628794"/>
              <a:ext cx="310896" cy="237744"/>
            </a:xfrm>
            <a:prstGeom prst="rect">
              <a:avLst/>
            </a:prstGeom>
            <a:solidFill>
              <a:srgbClr val="3B82F6"/>
            </a:solidFill>
            <a:ln>
              <a:solidFill>
                <a:srgbClr val="3B82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1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12D5CFEB-93F4-F45C-076E-0C8A910E5026}"/>
                </a:ext>
              </a:extLst>
            </p:cNvPr>
            <p:cNvSpPr/>
            <p:nvPr/>
          </p:nvSpPr>
          <p:spPr>
            <a:xfrm>
              <a:off x="1117307" y="1665370"/>
              <a:ext cx="191667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3B82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준비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5642C414-16E7-F1BA-DA41-E974199BDA72}"/>
                </a:ext>
              </a:extLst>
            </p:cNvPr>
            <p:cNvSpPr/>
            <p:nvPr/>
          </p:nvSpPr>
          <p:spPr>
            <a:xfrm>
              <a:off x="3428852" y="1514566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8B5C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CA12A295-BFB6-5479-DF4F-7F5A6FA24528}"/>
                </a:ext>
              </a:extLst>
            </p:cNvPr>
            <p:cNvSpPr/>
            <p:nvPr/>
          </p:nvSpPr>
          <p:spPr>
            <a:xfrm>
              <a:off x="6172630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0B981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5" name="Text 16">
              <a:extLst>
                <a:ext uri="{FF2B5EF4-FFF2-40B4-BE49-F238E27FC236}">
                  <a16:creationId xmlns:a16="http://schemas.microsoft.com/office/drawing/2014/main" id="{385688BD-B8C2-6550-D8F1-2CA3B6CDF634}"/>
                </a:ext>
              </a:extLst>
            </p:cNvPr>
            <p:cNvSpPr/>
            <p:nvPr/>
          </p:nvSpPr>
          <p:spPr>
            <a:xfrm>
              <a:off x="8939491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F59E0B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E91CB1AD-52FE-7625-51D9-44F57DCA13C1}"/>
                </a:ext>
              </a:extLst>
            </p:cNvPr>
            <p:cNvSpPr/>
            <p:nvPr/>
          </p:nvSpPr>
          <p:spPr>
            <a:xfrm>
              <a:off x="3530645" y="1611310"/>
              <a:ext cx="310896" cy="237744"/>
            </a:xfrm>
            <a:prstGeom prst="rect">
              <a:avLst/>
            </a:prstGeom>
            <a:solidFill>
              <a:srgbClr val="8B5CF6"/>
            </a:solidFill>
            <a:ln>
              <a:solidFill>
                <a:srgbClr val="8B5C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4EF7D7C9-9C19-B269-BB0F-9E0104CEABCC}"/>
                </a:ext>
              </a:extLst>
            </p:cNvPr>
            <p:cNvSpPr/>
            <p:nvPr/>
          </p:nvSpPr>
          <p:spPr>
            <a:xfrm>
              <a:off x="5867979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DC26FDE5-4379-261C-D545-0EE33180E633}"/>
                </a:ext>
              </a:extLst>
            </p:cNvPr>
            <p:cNvSpPr/>
            <p:nvPr/>
          </p:nvSpPr>
          <p:spPr>
            <a:xfrm>
              <a:off x="6302247" y="1624164"/>
              <a:ext cx="310896" cy="237744"/>
            </a:xfrm>
            <a:prstGeom prst="rect">
              <a:avLst/>
            </a:prstGeom>
            <a:solidFill>
              <a:srgbClr val="10B981"/>
            </a:solidFill>
            <a:ln>
              <a:solidFill>
                <a:srgbClr val="10B98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3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12E4379D-5DD6-5018-E458-4F7552832847}"/>
                </a:ext>
              </a:extLst>
            </p:cNvPr>
            <p:cNvSpPr/>
            <p:nvPr/>
          </p:nvSpPr>
          <p:spPr>
            <a:xfrm>
              <a:off x="8634212" y="2016684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26302F95-E0F7-3C90-6EB2-6C512FB7593D}"/>
                </a:ext>
              </a:extLst>
            </p:cNvPr>
            <p:cNvSpPr/>
            <p:nvPr/>
          </p:nvSpPr>
          <p:spPr>
            <a:xfrm>
              <a:off x="9052282" y="1631430"/>
              <a:ext cx="310896" cy="237744"/>
            </a:xfrm>
            <a:prstGeom prst="rect">
              <a:avLst/>
            </a:prstGeom>
            <a:solidFill>
              <a:srgbClr val="F59E0B"/>
            </a:solidFill>
            <a:ln>
              <a:solidFill>
                <a:srgbClr val="F59E0B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4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5C860511-15A7-F1CA-EE8F-BCEE559A4F98}"/>
                </a:ext>
              </a:extLst>
            </p:cNvPr>
            <p:cNvSpPr/>
            <p:nvPr/>
          </p:nvSpPr>
          <p:spPr>
            <a:xfrm>
              <a:off x="9583210" y="1640597"/>
              <a:ext cx="1859923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59E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학습 및 평가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D0D36B7-9701-9146-586C-1B88A1E3C9D4}"/>
              </a:ext>
            </a:extLst>
          </p:cNvPr>
          <p:cNvSpPr/>
          <p:nvPr/>
        </p:nvSpPr>
        <p:spPr>
          <a:xfrm>
            <a:off x="8960341" y="1493186"/>
            <a:ext cx="2435445" cy="12616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F3677BCE-3FE2-DEE6-E072-EBB3153A626C}"/>
              </a:ext>
            </a:extLst>
          </p:cNvPr>
          <p:cNvSpPr/>
          <p:nvPr/>
        </p:nvSpPr>
        <p:spPr>
          <a:xfrm>
            <a:off x="6865012" y="166074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</a:t>
            </a:r>
            <a:r>
              <a:rPr 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구</a:t>
            </a:r>
            <a:r>
              <a:rPr lang="ko-KR" alt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현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BB7E9C2B-FF5C-850A-9765-DF7D9F2B1298}"/>
              </a:ext>
            </a:extLst>
          </p:cNvPr>
          <p:cNvSpPr/>
          <p:nvPr/>
        </p:nvSpPr>
        <p:spPr>
          <a:xfrm>
            <a:off x="4044938" y="1665370"/>
            <a:ext cx="1542720" cy="203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</a:t>
            </a:r>
            <a:r>
              <a:rPr lang="ko-KR" altLang="en-US" sz="1700" b="1" dirty="0" err="1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전처리</a:t>
            </a:r>
            <a:r>
              <a:rPr lang="ko-KR" altLang="en-US" sz="1700" b="1" dirty="0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B1AB36C-7A11-012C-9680-22CCE1987E30}"/>
              </a:ext>
            </a:extLst>
          </p:cNvPr>
          <p:cNvCxnSpPr>
            <a:cxnSpLocks/>
          </p:cNvCxnSpPr>
          <p:nvPr/>
        </p:nvCxnSpPr>
        <p:spPr>
          <a:xfrm>
            <a:off x="2072154" y="3742509"/>
            <a:ext cx="392756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8807E83-7FE7-4EF7-3CBE-1730727CD4B3}"/>
              </a:ext>
            </a:extLst>
          </p:cNvPr>
          <p:cNvCxnSpPr>
            <a:cxnSpLocks/>
          </p:cNvCxnSpPr>
          <p:nvPr/>
        </p:nvCxnSpPr>
        <p:spPr>
          <a:xfrm>
            <a:off x="3971109" y="4441371"/>
            <a:ext cx="191404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409352E-5A2D-4A2A-4914-60C6E86D24E3}"/>
              </a:ext>
            </a:extLst>
          </p:cNvPr>
          <p:cNvCxnSpPr>
            <a:cxnSpLocks/>
          </p:cNvCxnSpPr>
          <p:nvPr/>
        </p:nvCxnSpPr>
        <p:spPr>
          <a:xfrm>
            <a:off x="4162697" y="4937760"/>
            <a:ext cx="170528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19">
            <a:extLst>
              <a:ext uri="{FF2B5EF4-FFF2-40B4-BE49-F238E27FC236}">
                <a16:creationId xmlns:a16="http://schemas.microsoft.com/office/drawing/2014/main" id="{E1770DA6-08DC-5073-5956-482EF1F1E8EE}"/>
              </a:ext>
            </a:extLst>
          </p:cNvPr>
          <p:cNvSpPr/>
          <p:nvPr/>
        </p:nvSpPr>
        <p:spPr>
          <a:xfrm>
            <a:off x="9583210" y="1754467"/>
            <a:ext cx="14157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</a:t>
            </a:r>
            <a:r>
              <a:rPr lang="en-US" sz="107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</a:t>
            </a:r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구현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4-2. test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검증 평가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0AB45F00-2679-05FA-6580-0EE78DDE97D6}"/>
              </a:ext>
            </a:extLst>
          </p:cNvPr>
          <p:cNvSpPr/>
          <p:nvPr/>
        </p:nvSpPr>
        <p:spPr>
          <a:xfrm>
            <a:off x="782801" y="1808524"/>
            <a:ext cx="20848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라이브러리 불러오기</a:t>
            </a:r>
            <a:endParaRPr lang="en-US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 데이터셋 불러오기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7A8D83-DA06-51F5-D3A6-A7A02A7EEB71}"/>
              </a:ext>
            </a:extLst>
          </p:cNvPr>
          <p:cNvSpPr txBox="1"/>
          <p:nvPr/>
        </p:nvSpPr>
        <p:spPr>
          <a:xfrm>
            <a:off x="5945536" y="4739192"/>
            <a:ext cx="6122124" cy="134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Pred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학습한 모델의 감정 예측 값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argmax(dim=1):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가장 큰 값의 인덱스를 선택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클래스 예측 값 반환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Correct :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예측 값과 정답 값이 같은 경우를 계산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return correct / total :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전체 데이터로 나누어 최종 정확도 반환</a:t>
            </a: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FBDADC6C-5FE9-48CB-2F26-4EEAD95D297F}"/>
              </a:ext>
            </a:extLst>
          </p:cNvPr>
          <p:cNvSpPr/>
          <p:nvPr/>
        </p:nvSpPr>
        <p:spPr>
          <a:xfrm>
            <a:off x="6688305" y="1768353"/>
            <a:ext cx="19131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3-1. MLP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구현</a:t>
            </a:r>
            <a:endParaRPr lang="en-US" altLang="ko-KR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학습 구성 요소 정의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D85AF3D8-92DA-8A72-F6B3-001617FEDDDE}"/>
              </a:ext>
            </a:extLst>
          </p:cNvPr>
          <p:cNvSpPr/>
          <p:nvPr/>
        </p:nvSpPr>
        <p:spPr>
          <a:xfrm>
            <a:off x="3797430" y="1814409"/>
            <a:ext cx="2084832" cy="950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2-1. MFCC </a:t>
            </a:r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추출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2-2.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구성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2-3.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2-4.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3640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6E3E2-3825-422F-24E3-4A1442356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2C2430F-3794-1A9E-31E0-B1CB0C250F84}"/>
              </a:ext>
            </a:extLst>
          </p:cNvPr>
          <p:cNvSpPr txBox="1"/>
          <p:nvPr/>
        </p:nvSpPr>
        <p:spPr>
          <a:xfrm>
            <a:off x="6453934" y="2921672"/>
            <a:ext cx="612212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모델의 학습 과정 구현</a:t>
            </a:r>
            <a:r>
              <a:rPr lang="en-US" altLang="ko-KR" sz="1400" b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en-US" altLang="ko-KR" sz="140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For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epoch in range(1, 21) : 1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부터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까지의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epoch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동안 학습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model.train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() :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구현한 모델을 학습 모드로 설정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모델에 </a:t>
            </a:r>
            <a:r>
              <a:rPr lang="en-US" altLang="ko-KR" sz="14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batch_size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나누어진 학습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정답 데이터 입력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학습 간 손실 저장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66B3713-612C-B2EF-9A04-67B410C618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923" b="42916"/>
          <a:stretch>
            <a:fillRect/>
          </a:stretch>
        </p:blipFill>
        <p:spPr>
          <a:xfrm>
            <a:off x="550022" y="3122110"/>
            <a:ext cx="5380470" cy="292311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4AD716D-389B-AF62-313E-5D87736F2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49123-0650-C2EF-67A8-EC9EA960A4E8}"/>
              </a:ext>
            </a:extLst>
          </p:cNvPr>
          <p:cNvSpPr txBox="1"/>
          <p:nvPr/>
        </p:nvSpPr>
        <p:spPr>
          <a:xfrm>
            <a:off x="6688305" y="4680810"/>
            <a:ext cx="5062790" cy="11678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opt.zero_grad</a:t>
            </a:r>
            <a:r>
              <a:rPr lang="en-US" altLang="ko-KR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() : </a:t>
            </a:r>
            <a:r>
              <a:rPr lang="ko-KR" alt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이전 배치의 </a:t>
            </a:r>
            <a:r>
              <a:rPr lang="en-US" altLang="ko-KR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gradient</a:t>
            </a:r>
            <a:r>
              <a:rPr lang="ko-KR" alt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초기화</a:t>
            </a:r>
            <a:endParaRPr lang="en-US" altLang="ko-KR" sz="12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Loss = crit() : </a:t>
            </a:r>
            <a:r>
              <a:rPr lang="ko-KR" alt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 구현에서 설정한 손실 함수 계산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loss.backward</a:t>
            </a:r>
            <a:r>
              <a:rPr lang="en-US" altLang="ko-KR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() : </a:t>
            </a:r>
            <a:r>
              <a:rPr lang="ko-KR" altLang="en-US" sz="12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자동미분으로</a:t>
            </a:r>
            <a:r>
              <a:rPr lang="ko-KR" alt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gradient </a:t>
            </a:r>
            <a:r>
              <a:rPr lang="ko-KR" alt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계산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opt.step</a:t>
            </a:r>
            <a:r>
              <a:rPr lang="en-US" altLang="ko-KR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() : </a:t>
            </a:r>
            <a:r>
              <a:rPr lang="ko-KR" altLang="en-US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파라미터 업데이트</a:t>
            </a:r>
            <a:r>
              <a:rPr lang="en-US" altLang="ko-KR" sz="12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(optimizer)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A6B7A94-3D23-F912-1B27-D415529DD32E}"/>
              </a:ext>
            </a:extLst>
          </p:cNvPr>
          <p:cNvCxnSpPr>
            <a:cxnSpLocks/>
          </p:cNvCxnSpPr>
          <p:nvPr/>
        </p:nvCxnSpPr>
        <p:spPr>
          <a:xfrm>
            <a:off x="2473234" y="3429000"/>
            <a:ext cx="392756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EA38AC7-5ED6-CCFA-55EE-74AA806E5A1C}"/>
              </a:ext>
            </a:extLst>
          </p:cNvPr>
          <p:cNvCxnSpPr>
            <a:cxnSpLocks/>
          </p:cNvCxnSpPr>
          <p:nvPr/>
        </p:nvCxnSpPr>
        <p:spPr>
          <a:xfrm>
            <a:off x="2273662" y="4809309"/>
            <a:ext cx="392756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944E15A8-6E5B-910D-E4C9-DF602BF1FE52}"/>
              </a:ext>
            </a:extLst>
          </p:cNvPr>
          <p:cNvCxnSpPr>
            <a:cxnSpLocks/>
          </p:cNvCxnSpPr>
          <p:nvPr/>
        </p:nvCxnSpPr>
        <p:spPr>
          <a:xfrm>
            <a:off x="3033984" y="5919652"/>
            <a:ext cx="321198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EB3AC4A-F2A7-0F01-ACE5-1776527AAAD0}"/>
              </a:ext>
            </a:extLst>
          </p:cNvPr>
          <p:cNvGrpSpPr/>
          <p:nvPr/>
        </p:nvGrpSpPr>
        <p:grpSpPr>
          <a:xfrm>
            <a:off x="550379" y="1513892"/>
            <a:ext cx="10892754" cy="1193430"/>
            <a:chOff x="550379" y="1513892"/>
            <a:chExt cx="10892754" cy="1193430"/>
          </a:xfrm>
        </p:grpSpPr>
        <p:sp>
          <p:nvSpPr>
            <p:cNvPr id="35" name="Text 11">
              <a:extLst>
                <a:ext uri="{FF2B5EF4-FFF2-40B4-BE49-F238E27FC236}">
                  <a16:creationId xmlns:a16="http://schemas.microsoft.com/office/drawing/2014/main" id="{AB86F9E1-8F00-5EEA-2829-C96ABEB59E03}"/>
                </a:ext>
              </a:extLst>
            </p:cNvPr>
            <p:cNvSpPr/>
            <p:nvPr/>
          </p:nvSpPr>
          <p:spPr>
            <a:xfrm>
              <a:off x="3124243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38" name="Text 14">
              <a:extLst>
                <a:ext uri="{FF2B5EF4-FFF2-40B4-BE49-F238E27FC236}">
                  <a16:creationId xmlns:a16="http://schemas.microsoft.com/office/drawing/2014/main" id="{BF06A805-3131-3A66-129A-4D09F9490682}"/>
                </a:ext>
              </a:extLst>
            </p:cNvPr>
            <p:cNvSpPr/>
            <p:nvPr/>
          </p:nvSpPr>
          <p:spPr>
            <a:xfrm>
              <a:off x="3582123" y="1626218"/>
              <a:ext cx="453814" cy="260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9" name="Text 4">
              <a:extLst>
                <a:ext uri="{FF2B5EF4-FFF2-40B4-BE49-F238E27FC236}">
                  <a16:creationId xmlns:a16="http://schemas.microsoft.com/office/drawing/2014/main" id="{5B3CE90D-F5C0-2710-4A48-AB11E2B2320B}"/>
                </a:ext>
              </a:extLst>
            </p:cNvPr>
            <p:cNvSpPr/>
            <p:nvPr/>
          </p:nvSpPr>
          <p:spPr>
            <a:xfrm>
              <a:off x="550379" y="1519066"/>
              <a:ext cx="2577930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B82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0" name="Text 5">
              <a:extLst>
                <a:ext uri="{FF2B5EF4-FFF2-40B4-BE49-F238E27FC236}">
                  <a16:creationId xmlns:a16="http://schemas.microsoft.com/office/drawing/2014/main" id="{C6D92D38-A09C-A6FE-0A9F-E4E6DEDB519B}"/>
                </a:ext>
              </a:extLst>
            </p:cNvPr>
            <p:cNvSpPr/>
            <p:nvPr/>
          </p:nvSpPr>
          <p:spPr>
            <a:xfrm>
              <a:off x="678395" y="1628794"/>
              <a:ext cx="310896" cy="237744"/>
            </a:xfrm>
            <a:prstGeom prst="rect">
              <a:avLst/>
            </a:prstGeom>
            <a:solidFill>
              <a:srgbClr val="3B82F6"/>
            </a:solidFill>
            <a:ln>
              <a:solidFill>
                <a:srgbClr val="3B82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1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1" name="Text 6">
              <a:extLst>
                <a:ext uri="{FF2B5EF4-FFF2-40B4-BE49-F238E27FC236}">
                  <a16:creationId xmlns:a16="http://schemas.microsoft.com/office/drawing/2014/main" id="{B2BED4E7-56E6-9E8C-A2FB-069D2267DD8C}"/>
                </a:ext>
              </a:extLst>
            </p:cNvPr>
            <p:cNvSpPr/>
            <p:nvPr/>
          </p:nvSpPr>
          <p:spPr>
            <a:xfrm>
              <a:off x="1117307" y="1665370"/>
              <a:ext cx="191667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3B82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준비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C37FC865-37D3-0A93-5278-6CE6C57660D9}"/>
                </a:ext>
              </a:extLst>
            </p:cNvPr>
            <p:cNvSpPr/>
            <p:nvPr/>
          </p:nvSpPr>
          <p:spPr>
            <a:xfrm>
              <a:off x="3428852" y="1514566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8B5C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00440250-C35C-7BAB-37E4-FA2EB792B57E}"/>
                </a:ext>
              </a:extLst>
            </p:cNvPr>
            <p:cNvSpPr/>
            <p:nvPr/>
          </p:nvSpPr>
          <p:spPr>
            <a:xfrm>
              <a:off x="6172630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0B981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2B367CED-009B-3548-2A6E-242757B57AE9}"/>
                </a:ext>
              </a:extLst>
            </p:cNvPr>
            <p:cNvSpPr/>
            <p:nvPr/>
          </p:nvSpPr>
          <p:spPr>
            <a:xfrm>
              <a:off x="8939491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F59E0B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5" name="Text 9">
              <a:extLst>
                <a:ext uri="{FF2B5EF4-FFF2-40B4-BE49-F238E27FC236}">
                  <a16:creationId xmlns:a16="http://schemas.microsoft.com/office/drawing/2014/main" id="{11920FBC-5430-8518-8B53-694B8E672BD3}"/>
                </a:ext>
              </a:extLst>
            </p:cNvPr>
            <p:cNvSpPr/>
            <p:nvPr/>
          </p:nvSpPr>
          <p:spPr>
            <a:xfrm>
              <a:off x="3530645" y="1611310"/>
              <a:ext cx="310896" cy="237744"/>
            </a:xfrm>
            <a:prstGeom prst="rect">
              <a:avLst/>
            </a:prstGeom>
            <a:solidFill>
              <a:srgbClr val="8B5CF6"/>
            </a:solidFill>
            <a:ln>
              <a:solidFill>
                <a:srgbClr val="8B5C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6" name="Text 11">
              <a:extLst>
                <a:ext uri="{FF2B5EF4-FFF2-40B4-BE49-F238E27FC236}">
                  <a16:creationId xmlns:a16="http://schemas.microsoft.com/office/drawing/2014/main" id="{36710B32-6850-4269-0309-8F5D5AD3BEF2}"/>
                </a:ext>
              </a:extLst>
            </p:cNvPr>
            <p:cNvSpPr/>
            <p:nvPr/>
          </p:nvSpPr>
          <p:spPr>
            <a:xfrm>
              <a:off x="5867979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D8A33762-FF6B-B766-5CB6-6A8CBDF3B472}"/>
                </a:ext>
              </a:extLst>
            </p:cNvPr>
            <p:cNvSpPr/>
            <p:nvPr/>
          </p:nvSpPr>
          <p:spPr>
            <a:xfrm>
              <a:off x="6302247" y="1624164"/>
              <a:ext cx="310896" cy="237744"/>
            </a:xfrm>
            <a:prstGeom prst="rect">
              <a:avLst/>
            </a:prstGeom>
            <a:solidFill>
              <a:srgbClr val="10B981"/>
            </a:solidFill>
            <a:ln>
              <a:solidFill>
                <a:srgbClr val="10B98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3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38210940-5144-2061-30B0-AAFC43C67071}"/>
                </a:ext>
              </a:extLst>
            </p:cNvPr>
            <p:cNvSpPr/>
            <p:nvPr/>
          </p:nvSpPr>
          <p:spPr>
            <a:xfrm>
              <a:off x="8634212" y="2016684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8C45B475-385F-0DDD-9EED-7C86F0B81691}"/>
                </a:ext>
              </a:extLst>
            </p:cNvPr>
            <p:cNvSpPr/>
            <p:nvPr/>
          </p:nvSpPr>
          <p:spPr>
            <a:xfrm>
              <a:off x="9052282" y="1631430"/>
              <a:ext cx="310896" cy="237744"/>
            </a:xfrm>
            <a:prstGeom prst="rect">
              <a:avLst/>
            </a:prstGeom>
            <a:solidFill>
              <a:srgbClr val="F59E0B"/>
            </a:solidFill>
            <a:ln>
              <a:solidFill>
                <a:srgbClr val="F59E0B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4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2F64028C-6DCC-283F-CA09-0E222E4FD399}"/>
                </a:ext>
              </a:extLst>
            </p:cNvPr>
            <p:cNvSpPr/>
            <p:nvPr/>
          </p:nvSpPr>
          <p:spPr>
            <a:xfrm>
              <a:off x="9583210" y="1640597"/>
              <a:ext cx="1859923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59E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학습 및 평가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96CE568-0A80-CB7E-F2F5-80B9ABC60FB1}"/>
              </a:ext>
            </a:extLst>
          </p:cNvPr>
          <p:cNvSpPr/>
          <p:nvPr/>
        </p:nvSpPr>
        <p:spPr>
          <a:xfrm>
            <a:off x="8960341" y="1493186"/>
            <a:ext cx="2435445" cy="12616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CEBB626C-4342-0366-A2E8-C51B32F7F49F}"/>
              </a:ext>
            </a:extLst>
          </p:cNvPr>
          <p:cNvSpPr/>
          <p:nvPr/>
        </p:nvSpPr>
        <p:spPr>
          <a:xfrm>
            <a:off x="6865012" y="166074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</a:t>
            </a:r>
            <a:r>
              <a:rPr 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구</a:t>
            </a:r>
            <a:r>
              <a:rPr lang="ko-KR" alt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현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F72216C7-9410-6662-1C9A-CD321AE73330}"/>
              </a:ext>
            </a:extLst>
          </p:cNvPr>
          <p:cNvSpPr/>
          <p:nvPr/>
        </p:nvSpPr>
        <p:spPr>
          <a:xfrm>
            <a:off x="4044938" y="1665370"/>
            <a:ext cx="1542720" cy="203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</a:t>
            </a:r>
            <a:r>
              <a:rPr lang="ko-KR" altLang="en-US" sz="1700" b="1" dirty="0" err="1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전처리</a:t>
            </a:r>
            <a:r>
              <a:rPr lang="ko-KR" altLang="en-US" sz="1700" b="1" dirty="0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43F7643C-584A-B92F-ADFC-B0A96320E868}"/>
              </a:ext>
            </a:extLst>
          </p:cNvPr>
          <p:cNvSpPr/>
          <p:nvPr/>
        </p:nvSpPr>
        <p:spPr>
          <a:xfrm>
            <a:off x="9583210" y="1754467"/>
            <a:ext cx="14157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</a:t>
            </a:r>
            <a:r>
              <a:rPr lang="en-US" sz="107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</a:t>
            </a:r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구현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4-2. test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검증 평가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제목 3">
            <a:extLst>
              <a:ext uri="{FF2B5EF4-FFF2-40B4-BE49-F238E27FC236}">
                <a16:creationId xmlns:a16="http://schemas.microsoft.com/office/drawing/2014/main" id="{56FCA200-6E09-92BE-538C-C16019692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학습 및 평가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AB49F16-719D-3B98-DDFB-0482412F488D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4-1.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 학습 구현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Text 7">
            <a:extLst>
              <a:ext uri="{FF2B5EF4-FFF2-40B4-BE49-F238E27FC236}">
                <a16:creationId xmlns:a16="http://schemas.microsoft.com/office/drawing/2014/main" id="{591EA417-7933-E908-EF77-AC6C544A7F32}"/>
              </a:ext>
            </a:extLst>
          </p:cNvPr>
          <p:cNvSpPr/>
          <p:nvPr/>
        </p:nvSpPr>
        <p:spPr>
          <a:xfrm>
            <a:off x="782801" y="1808524"/>
            <a:ext cx="20848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라이브러리 불러오기</a:t>
            </a:r>
            <a:endParaRPr lang="en-US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 데이터셋 불러오기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15">
            <a:extLst>
              <a:ext uri="{FF2B5EF4-FFF2-40B4-BE49-F238E27FC236}">
                <a16:creationId xmlns:a16="http://schemas.microsoft.com/office/drawing/2014/main" id="{678D481D-FF18-6245-80AA-6253247BD918}"/>
              </a:ext>
            </a:extLst>
          </p:cNvPr>
          <p:cNvSpPr/>
          <p:nvPr/>
        </p:nvSpPr>
        <p:spPr>
          <a:xfrm>
            <a:off x="6688305" y="1768353"/>
            <a:ext cx="19131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3-1. MLP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구현</a:t>
            </a:r>
            <a:endParaRPr lang="en-US" altLang="ko-KR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학습 구성 요소 정의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750E6740-C3A5-75D5-6E9F-346B97E6E461}"/>
              </a:ext>
            </a:extLst>
          </p:cNvPr>
          <p:cNvSpPr/>
          <p:nvPr/>
        </p:nvSpPr>
        <p:spPr>
          <a:xfrm>
            <a:off x="3797430" y="1814409"/>
            <a:ext cx="2084832" cy="950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2-1. MFCC </a:t>
            </a:r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추출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2-2.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구성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2-3.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2-4.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4648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44643-6374-E8CD-4ADD-8672E0680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E83EA59-35D4-9458-0E26-996E1D581D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9" t="60758"/>
          <a:stretch>
            <a:fillRect/>
          </a:stretch>
        </p:blipFill>
        <p:spPr>
          <a:xfrm>
            <a:off x="550379" y="3258541"/>
            <a:ext cx="5881199" cy="208039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72EAEE5-084F-C815-CB0A-2026FC4FD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9050CC-FF28-D05B-3726-6EB4ED7F19AE}"/>
              </a:ext>
            </a:extLst>
          </p:cNvPr>
          <p:cNvSpPr txBox="1"/>
          <p:nvPr/>
        </p:nvSpPr>
        <p:spPr>
          <a:xfrm>
            <a:off x="550379" y="5338934"/>
            <a:ext cx="6122124" cy="134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[test </a:t>
            </a:r>
            <a:r>
              <a:rPr lang="ko-KR" altLang="en-US" sz="14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 평가 구현</a:t>
            </a:r>
            <a:r>
              <a:rPr lang="en-US" altLang="ko-KR" sz="14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학습이 끝나면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epoch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마다 손실을 계산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eval(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평가모드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변경하여 그 때의 정확도 계산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History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이용하여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 epoch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손실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train/test 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정확도 저장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43E02DB-9EF3-43DA-D46A-273032104FC0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4-2. test </a:t>
            </a:r>
            <a:r>
              <a:rPr lang="ko-KR" altLang="en-US" sz="2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 평가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6A5FC21-5F46-4584-02C4-5B3E91CD78C4}"/>
              </a:ext>
            </a:extLst>
          </p:cNvPr>
          <p:cNvGrpSpPr/>
          <p:nvPr/>
        </p:nvGrpSpPr>
        <p:grpSpPr>
          <a:xfrm>
            <a:off x="550379" y="1513892"/>
            <a:ext cx="10892754" cy="1193430"/>
            <a:chOff x="550379" y="1513892"/>
            <a:chExt cx="10892754" cy="1193430"/>
          </a:xfrm>
        </p:grpSpPr>
        <p:sp>
          <p:nvSpPr>
            <p:cNvPr id="37" name="Text 11">
              <a:extLst>
                <a:ext uri="{FF2B5EF4-FFF2-40B4-BE49-F238E27FC236}">
                  <a16:creationId xmlns:a16="http://schemas.microsoft.com/office/drawing/2014/main" id="{92C95EC2-2FBD-45DC-2397-BF02979FFB27}"/>
                </a:ext>
              </a:extLst>
            </p:cNvPr>
            <p:cNvSpPr/>
            <p:nvPr/>
          </p:nvSpPr>
          <p:spPr>
            <a:xfrm>
              <a:off x="3124243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38" name="Text 14">
              <a:extLst>
                <a:ext uri="{FF2B5EF4-FFF2-40B4-BE49-F238E27FC236}">
                  <a16:creationId xmlns:a16="http://schemas.microsoft.com/office/drawing/2014/main" id="{E4FE1483-892E-564D-3621-961C1E85D876}"/>
                </a:ext>
              </a:extLst>
            </p:cNvPr>
            <p:cNvSpPr/>
            <p:nvPr/>
          </p:nvSpPr>
          <p:spPr>
            <a:xfrm>
              <a:off x="3582123" y="1626218"/>
              <a:ext cx="453814" cy="260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9" name="Text 4">
              <a:extLst>
                <a:ext uri="{FF2B5EF4-FFF2-40B4-BE49-F238E27FC236}">
                  <a16:creationId xmlns:a16="http://schemas.microsoft.com/office/drawing/2014/main" id="{6B28180C-DC3B-3159-CDEB-855BA1820C0B}"/>
                </a:ext>
              </a:extLst>
            </p:cNvPr>
            <p:cNvSpPr/>
            <p:nvPr/>
          </p:nvSpPr>
          <p:spPr>
            <a:xfrm>
              <a:off x="550379" y="1519066"/>
              <a:ext cx="2577930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B82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0" name="Text 5">
              <a:extLst>
                <a:ext uri="{FF2B5EF4-FFF2-40B4-BE49-F238E27FC236}">
                  <a16:creationId xmlns:a16="http://schemas.microsoft.com/office/drawing/2014/main" id="{D6E82715-CA26-1307-B7F4-6C12809B4838}"/>
                </a:ext>
              </a:extLst>
            </p:cNvPr>
            <p:cNvSpPr/>
            <p:nvPr/>
          </p:nvSpPr>
          <p:spPr>
            <a:xfrm>
              <a:off x="678395" y="1628794"/>
              <a:ext cx="310896" cy="237744"/>
            </a:xfrm>
            <a:prstGeom prst="rect">
              <a:avLst/>
            </a:prstGeom>
            <a:solidFill>
              <a:srgbClr val="3B82F6"/>
            </a:solidFill>
            <a:ln>
              <a:solidFill>
                <a:srgbClr val="3B82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1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1" name="Text 6">
              <a:extLst>
                <a:ext uri="{FF2B5EF4-FFF2-40B4-BE49-F238E27FC236}">
                  <a16:creationId xmlns:a16="http://schemas.microsoft.com/office/drawing/2014/main" id="{1DDB0D95-91A2-A136-49A4-39A1CE53D26C}"/>
                </a:ext>
              </a:extLst>
            </p:cNvPr>
            <p:cNvSpPr/>
            <p:nvPr/>
          </p:nvSpPr>
          <p:spPr>
            <a:xfrm>
              <a:off x="1117307" y="1665370"/>
              <a:ext cx="191667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3B82F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데이터 준비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0F3BF2C3-0E80-772F-8A4A-F3AD07C299E9}"/>
                </a:ext>
              </a:extLst>
            </p:cNvPr>
            <p:cNvSpPr/>
            <p:nvPr/>
          </p:nvSpPr>
          <p:spPr>
            <a:xfrm>
              <a:off x="3428852" y="1514566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8B5CF6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9F50123B-F9B7-4300-20C8-55832E6CF83E}"/>
                </a:ext>
              </a:extLst>
            </p:cNvPr>
            <p:cNvSpPr/>
            <p:nvPr/>
          </p:nvSpPr>
          <p:spPr>
            <a:xfrm>
              <a:off x="6172630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0B981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F71C6F93-D743-2DAF-F12A-E7A1F72628E4}"/>
                </a:ext>
              </a:extLst>
            </p:cNvPr>
            <p:cNvSpPr/>
            <p:nvPr/>
          </p:nvSpPr>
          <p:spPr>
            <a:xfrm>
              <a:off x="8939491" y="1513892"/>
              <a:ext cx="2487168" cy="118825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F59E0B"/>
              </a:solidFill>
            </a:ln>
            <a:effectLst>
              <a:outerShdw blurRad="15240" dist="5080" dir="2700000" algn="bl" rotWithShape="0">
                <a:srgbClr val="000000">
                  <a:alpha val="8000"/>
                </a:srgbClr>
              </a:outerShdw>
            </a:effectLst>
          </p:spPr>
          <p:txBody>
            <a:bodyPr wrap="square" lIns="2032" tIns="2032" rIns="2032" bIns="2032" rtlCol="0" anchor="ctr"/>
            <a:lstStyle/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5" name="Text 9">
              <a:extLst>
                <a:ext uri="{FF2B5EF4-FFF2-40B4-BE49-F238E27FC236}">
                  <a16:creationId xmlns:a16="http://schemas.microsoft.com/office/drawing/2014/main" id="{5CF11C90-2911-DF9A-7DCE-EEC8C958CEBA}"/>
                </a:ext>
              </a:extLst>
            </p:cNvPr>
            <p:cNvSpPr/>
            <p:nvPr/>
          </p:nvSpPr>
          <p:spPr>
            <a:xfrm>
              <a:off x="3530645" y="1611310"/>
              <a:ext cx="310896" cy="237744"/>
            </a:xfrm>
            <a:prstGeom prst="rect">
              <a:avLst/>
            </a:prstGeom>
            <a:solidFill>
              <a:srgbClr val="8B5CF6"/>
            </a:solidFill>
            <a:ln>
              <a:solidFill>
                <a:srgbClr val="8B5CF6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2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6" name="Text 11">
              <a:extLst>
                <a:ext uri="{FF2B5EF4-FFF2-40B4-BE49-F238E27FC236}">
                  <a16:creationId xmlns:a16="http://schemas.microsoft.com/office/drawing/2014/main" id="{B24438C3-D4C6-7A34-B3E3-CEE499AD1196}"/>
                </a:ext>
              </a:extLst>
            </p:cNvPr>
            <p:cNvSpPr/>
            <p:nvPr/>
          </p:nvSpPr>
          <p:spPr>
            <a:xfrm>
              <a:off x="5867979" y="1999012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E07B99A1-6E15-F401-016D-56ED7D1DA19D}"/>
                </a:ext>
              </a:extLst>
            </p:cNvPr>
            <p:cNvSpPr/>
            <p:nvPr/>
          </p:nvSpPr>
          <p:spPr>
            <a:xfrm>
              <a:off x="6302247" y="1624164"/>
              <a:ext cx="310896" cy="237744"/>
            </a:xfrm>
            <a:prstGeom prst="rect">
              <a:avLst/>
            </a:prstGeom>
            <a:solidFill>
              <a:srgbClr val="10B981"/>
            </a:solidFill>
            <a:ln>
              <a:solidFill>
                <a:srgbClr val="10B98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3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7EF2609D-2EF3-7F57-CF3C-A1192512850B}"/>
                </a:ext>
              </a:extLst>
            </p:cNvPr>
            <p:cNvSpPr/>
            <p:nvPr/>
          </p:nvSpPr>
          <p:spPr>
            <a:xfrm>
              <a:off x="8634212" y="2016684"/>
              <a:ext cx="333249" cy="2982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</a:t>
              </a:r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223B6700-3F2E-88BC-D450-F9FA918474F3}"/>
                </a:ext>
              </a:extLst>
            </p:cNvPr>
            <p:cNvSpPr/>
            <p:nvPr/>
          </p:nvSpPr>
          <p:spPr>
            <a:xfrm>
              <a:off x="9052282" y="1631430"/>
              <a:ext cx="310896" cy="237744"/>
            </a:xfrm>
            <a:prstGeom prst="rect">
              <a:avLst/>
            </a:prstGeom>
            <a:solidFill>
              <a:srgbClr val="F59E0B"/>
            </a:solidFill>
            <a:ln>
              <a:solidFill>
                <a:srgbClr val="F59E0B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4</a:t>
              </a:r>
              <a:endParaRPr 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AB832A21-73E2-DD7F-6386-C69AFD926A4E}"/>
                </a:ext>
              </a:extLst>
            </p:cNvPr>
            <p:cNvSpPr/>
            <p:nvPr/>
          </p:nvSpPr>
          <p:spPr>
            <a:xfrm>
              <a:off x="9583210" y="1640597"/>
              <a:ext cx="1859923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59E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-120"/>
                </a:rPr>
                <a:t>학습 및 평가</a:t>
              </a:r>
              <a:endParaRPr lang="en-US" sz="17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7D26B65-A002-9BA0-7892-FF230D2C4E6E}"/>
              </a:ext>
            </a:extLst>
          </p:cNvPr>
          <p:cNvSpPr/>
          <p:nvPr/>
        </p:nvSpPr>
        <p:spPr>
          <a:xfrm>
            <a:off x="8960341" y="1493186"/>
            <a:ext cx="2435445" cy="12616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FF0D0DD1-91AE-F111-959E-31435183B60F}"/>
              </a:ext>
            </a:extLst>
          </p:cNvPr>
          <p:cNvSpPr/>
          <p:nvPr/>
        </p:nvSpPr>
        <p:spPr>
          <a:xfrm>
            <a:off x="6865012" y="166074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</a:t>
            </a:r>
            <a:r>
              <a:rPr 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구</a:t>
            </a:r>
            <a:r>
              <a:rPr lang="ko-KR" altLang="en-US" sz="170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현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D4EBC260-FEE8-188C-44AF-3329266D4D0A}"/>
              </a:ext>
            </a:extLst>
          </p:cNvPr>
          <p:cNvSpPr/>
          <p:nvPr/>
        </p:nvSpPr>
        <p:spPr>
          <a:xfrm>
            <a:off x="4044938" y="1665370"/>
            <a:ext cx="1542720" cy="203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</a:t>
            </a:r>
            <a:r>
              <a:rPr lang="ko-KR" altLang="en-US" sz="1700" b="1" dirty="0" err="1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전처리</a:t>
            </a:r>
            <a:r>
              <a:rPr lang="ko-KR" altLang="en-US" sz="1700" b="1" dirty="0">
                <a:solidFill>
                  <a:srgbClr val="8B5C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07B49407-C64E-4FDF-C0C3-DC798D7328E2}"/>
              </a:ext>
            </a:extLst>
          </p:cNvPr>
          <p:cNvSpPr/>
          <p:nvPr/>
        </p:nvSpPr>
        <p:spPr>
          <a:xfrm>
            <a:off x="9583210" y="1754467"/>
            <a:ext cx="14157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</a:t>
            </a:r>
            <a:r>
              <a:rPr lang="en-US" sz="107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</a:t>
            </a:r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구현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4-2. test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검증 평가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제목 3">
            <a:extLst>
              <a:ext uri="{FF2B5EF4-FFF2-40B4-BE49-F238E27FC236}">
                <a16:creationId xmlns:a16="http://schemas.microsoft.com/office/drawing/2014/main" id="{D40EAAE5-CD5D-49DA-9D14-4589A6BEA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코드 기반 실습 및 응용 </a:t>
            </a:r>
            <a:r>
              <a:rPr lang="en-US" altLang="ko-KR" dirty="0"/>
              <a:t>- </a:t>
            </a:r>
            <a:r>
              <a:rPr lang="ko-KR" altLang="en-US" dirty="0"/>
              <a:t>학습 및 평가 </a:t>
            </a:r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C6D78A00-B4E3-9FFF-A7D0-D3B10BB11A44}"/>
              </a:ext>
            </a:extLst>
          </p:cNvPr>
          <p:cNvSpPr/>
          <p:nvPr/>
        </p:nvSpPr>
        <p:spPr>
          <a:xfrm>
            <a:off x="782801" y="1808524"/>
            <a:ext cx="20848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1-1.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라이브러리 불러오기</a:t>
            </a:r>
            <a:endParaRPr lang="en-US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오디오 데이터셋 불러오기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73B13D23-204D-C0E7-2E95-E0E72787A788}"/>
              </a:ext>
            </a:extLst>
          </p:cNvPr>
          <p:cNvSpPr/>
          <p:nvPr/>
        </p:nvSpPr>
        <p:spPr>
          <a:xfrm>
            <a:off x="6688305" y="1768353"/>
            <a:ext cx="19131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3-1. MLP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구현</a:t>
            </a:r>
            <a:endParaRPr lang="en-US" altLang="ko-KR" sz="1070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3-2. </a:t>
            </a:r>
            <a:r>
              <a:rPr lang="ko-KR" altLang="en-US" sz="107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모델 학습 구성 요소 정의</a:t>
            </a:r>
            <a:endParaRPr lang="en-US" sz="107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CB59311-42CF-3617-2B28-52B8E1766D19}"/>
              </a:ext>
            </a:extLst>
          </p:cNvPr>
          <p:cNvGrpSpPr/>
          <p:nvPr/>
        </p:nvGrpSpPr>
        <p:grpSpPr>
          <a:xfrm>
            <a:off x="6865012" y="3046942"/>
            <a:ext cx="3866261" cy="3611285"/>
            <a:chOff x="6321380" y="5791165"/>
            <a:chExt cx="3831289" cy="89104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22FCE42-EA90-8E4E-8FB4-07FAE6923A34}"/>
                </a:ext>
              </a:extLst>
            </p:cNvPr>
            <p:cNvSpPr txBox="1"/>
            <p:nvPr/>
          </p:nvSpPr>
          <p:spPr>
            <a:xfrm>
              <a:off x="6321380" y="5791165"/>
              <a:ext cx="2036664" cy="642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[</a:t>
              </a:r>
              <a:r>
                <a:rPr lang="ko-KR" altLang="en-US" sz="14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학습 결과</a:t>
              </a:r>
              <a:r>
                <a:rPr lang="en-US" altLang="ko-KR" sz="1400" b="1" i="0" dirty="0">
                  <a:solidFill>
                    <a:srgbClr val="000000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] 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3DA61D3-3360-2CEE-79B3-E5A4F42FA0BB}"/>
                </a:ext>
              </a:extLst>
            </p:cNvPr>
            <p:cNvSpPr/>
            <p:nvPr/>
          </p:nvSpPr>
          <p:spPr>
            <a:xfrm>
              <a:off x="6360592" y="5791166"/>
              <a:ext cx="3792077" cy="8910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B8B5C14E-8BCB-AF0F-178C-AF7BB5727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507" y="3372968"/>
            <a:ext cx="3268913" cy="3210240"/>
          </a:xfrm>
          <a:prstGeom prst="rect">
            <a:avLst/>
          </a:prstGeom>
        </p:spPr>
      </p:pic>
      <p:sp>
        <p:nvSpPr>
          <p:cNvPr id="13" name="Text 11">
            <a:extLst>
              <a:ext uri="{FF2B5EF4-FFF2-40B4-BE49-F238E27FC236}">
                <a16:creationId xmlns:a16="http://schemas.microsoft.com/office/drawing/2014/main" id="{62ADA966-4682-7414-5FEA-E75031BD7A49}"/>
              </a:ext>
            </a:extLst>
          </p:cNvPr>
          <p:cNvSpPr/>
          <p:nvPr/>
        </p:nvSpPr>
        <p:spPr>
          <a:xfrm>
            <a:off x="3797430" y="1814409"/>
            <a:ext cx="2084832" cy="950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2-1. MFCC </a:t>
            </a:r>
            <a:r>
              <a:rPr lang="en-US" altLang="ko-KR" sz="1050" dirty="0" err="1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특징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추출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2-2.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구성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  <a:cs typeface="Arial" pitchFamily="34" charset="-120"/>
            </a:endParaRP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2-3.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표준화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스케일링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2-4.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tensor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3189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E0BC1-CFC9-0B16-9AC1-99371C216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20E7F03-2596-844C-9F98-3B0916E08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9C4D878-A480-5ECE-ED2A-5A1D3D0D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</a:t>
            </a:r>
            <a:r>
              <a:rPr lang="en-US" altLang="ko-KR"/>
              <a:t>. Homework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5AFFA-D7D2-2758-4ECB-17F1F21DA5C9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오디오 모델 학습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A93D0E-E1AA-7617-74E3-B551ED84A8D9}"/>
              </a:ext>
            </a:extLst>
          </p:cNvPr>
          <p:cNvSpPr txBox="1"/>
          <p:nvPr/>
        </p:nvSpPr>
        <p:spPr>
          <a:xfrm>
            <a:off x="651347" y="1314792"/>
            <a:ext cx="10889306" cy="5445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다음 오디오 모델의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hidden layer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층 변경 실험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수행 내용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학습 코드 완성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학습 루프의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pass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부분을 올바른 코드로 변경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모델 구조 수정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MLP0~MLP4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클래스의 내부를 각각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hidden layer 0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1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2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3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4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 구조로 변경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결과 비교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B79F5EE-CDF4-AD03-CF44-22F2C0EDC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03" y="2200864"/>
            <a:ext cx="3543795" cy="222916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29030D1-13DE-6A5A-86C7-986B22588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011" y="2200864"/>
            <a:ext cx="4039164" cy="28578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59F154-789E-CAE7-7B3A-EB2EF1AFDAE0}"/>
              </a:ext>
            </a:extLst>
          </p:cNvPr>
          <p:cNvSpPr txBox="1"/>
          <p:nvPr/>
        </p:nvSpPr>
        <p:spPr>
          <a:xfrm>
            <a:off x="1337177" y="1768221"/>
            <a:ext cx="3172854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학습 코드 완성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(pass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부분 채우기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44F505-6976-DA1B-12E7-88D634BF26BB}"/>
              </a:ext>
            </a:extLst>
          </p:cNvPr>
          <p:cNvSpPr txBox="1"/>
          <p:nvPr/>
        </p:nvSpPr>
        <p:spPr>
          <a:xfrm>
            <a:off x="6980803" y="1773826"/>
            <a:ext cx="3172854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모델 구조 수정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(hidden layer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층 변경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794990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E0BC1-CFC9-0B16-9AC1-99371C216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20E7F03-2596-844C-9F98-3B0916E08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9C4D878-A480-5ECE-ED2A-5A1D3D0D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</a:t>
            </a:r>
            <a:r>
              <a:rPr lang="en-US" altLang="ko-KR"/>
              <a:t>. Homework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5AFFA-D7D2-2758-4ECB-17F1F21DA5C9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오디오 모델 학습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A93D0E-E1AA-7617-74E3-B551ED84A8D9}"/>
              </a:ext>
            </a:extLst>
          </p:cNvPr>
          <p:cNvSpPr txBox="1"/>
          <p:nvPr/>
        </p:nvSpPr>
        <p:spPr>
          <a:xfrm>
            <a:off x="651347" y="1298927"/>
            <a:ext cx="10889306" cy="87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다음 오디오 모델들의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hidden layer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층 변경 실험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B79F5EE-CDF4-AD03-CF44-22F2C0EDC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468" y="2204940"/>
            <a:ext cx="3029956" cy="1723767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5E310C69-01A8-C0FF-4572-A36EED797BF3}"/>
              </a:ext>
            </a:extLst>
          </p:cNvPr>
          <p:cNvGrpSpPr/>
          <p:nvPr/>
        </p:nvGrpSpPr>
        <p:grpSpPr>
          <a:xfrm>
            <a:off x="4715662" y="2034873"/>
            <a:ext cx="2743201" cy="1893834"/>
            <a:chOff x="2540552" y="1689182"/>
            <a:chExt cx="5008859" cy="3457984"/>
          </a:xfrm>
        </p:grpSpPr>
        <p:pic>
          <p:nvPicPr>
            <p:cNvPr id="2050" name="Picture 2" descr="Hidden Layers in Neural Networks | i2tutorials">
              <a:extLst>
                <a:ext uri="{FF2B5EF4-FFF2-40B4-BE49-F238E27FC236}">
                  <a16:creationId xmlns:a16="http://schemas.microsoft.com/office/drawing/2014/main" id="{60D572DC-2062-26E6-0ABB-9D392431C5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7" t="2556" r="69304" b="3334"/>
            <a:stretch/>
          </p:blipFill>
          <p:spPr bwMode="auto">
            <a:xfrm>
              <a:off x="2540552" y="1689183"/>
              <a:ext cx="2128589" cy="34510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Hidden Layers in Neural Networks | i2tutorials">
              <a:extLst>
                <a:ext uri="{FF2B5EF4-FFF2-40B4-BE49-F238E27FC236}">
                  <a16:creationId xmlns:a16="http://schemas.microsoft.com/office/drawing/2014/main" id="{C9B52BE9-28CC-F285-A0F4-051AA32EA8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975" t="2556" r="2057" b="3334"/>
            <a:stretch/>
          </p:blipFill>
          <p:spPr bwMode="auto">
            <a:xfrm>
              <a:off x="4669143" y="1689182"/>
              <a:ext cx="2880268" cy="3451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0338A3A-B525-A7D6-D67A-5E32207D6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62155" y="4794692"/>
              <a:ext cx="1933845" cy="352474"/>
            </a:xfrm>
            <a:prstGeom prst="rect">
              <a:avLst/>
            </a:prstGeom>
          </p:spPr>
        </p:pic>
      </p:grp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B9B6959-D238-394E-B2D5-BBB0229B1DC3}"/>
              </a:ext>
            </a:extLst>
          </p:cNvPr>
          <p:cNvCxnSpPr>
            <a:cxnSpLocks/>
          </p:cNvCxnSpPr>
          <p:nvPr/>
        </p:nvCxnSpPr>
        <p:spPr>
          <a:xfrm flipH="1">
            <a:off x="1642044" y="3924932"/>
            <a:ext cx="3069872" cy="1329118"/>
          </a:xfrm>
          <a:prstGeom prst="straightConnector1">
            <a:avLst/>
          </a:prstGeom>
          <a:ln w="28575">
            <a:solidFill>
              <a:srgbClr val="C8DA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451E00B-6C40-1349-F476-EF2ACF6CA882}"/>
              </a:ext>
            </a:extLst>
          </p:cNvPr>
          <p:cNvCxnSpPr>
            <a:cxnSpLocks/>
          </p:cNvCxnSpPr>
          <p:nvPr/>
        </p:nvCxnSpPr>
        <p:spPr>
          <a:xfrm flipH="1">
            <a:off x="3871271" y="3924932"/>
            <a:ext cx="1427273" cy="1332890"/>
          </a:xfrm>
          <a:prstGeom prst="straightConnector1">
            <a:avLst/>
          </a:prstGeom>
          <a:ln w="28575">
            <a:solidFill>
              <a:srgbClr val="C8DA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4638BBF-C09D-13C5-7B46-795ED7F46143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6515480" y="3924932"/>
            <a:ext cx="519771" cy="1350507"/>
          </a:xfrm>
          <a:prstGeom prst="straightConnector1">
            <a:avLst/>
          </a:prstGeom>
          <a:ln w="28575">
            <a:solidFill>
              <a:srgbClr val="C8DA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EC122A30-3A68-9E6C-B980-5D17888917D5}"/>
              </a:ext>
            </a:extLst>
          </p:cNvPr>
          <p:cNvCxnSpPr>
            <a:cxnSpLocks/>
          </p:cNvCxnSpPr>
          <p:nvPr/>
        </p:nvCxnSpPr>
        <p:spPr>
          <a:xfrm>
            <a:off x="7458863" y="3924932"/>
            <a:ext cx="2371724" cy="1346733"/>
          </a:xfrm>
          <a:prstGeom prst="straightConnector1">
            <a:avLst/>
          </a:prstGeom>
          <a:ln w="28575">
            <a:solidFill>
              <a:srgbClr val="C8DA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126B542-5793-FE35-AB10-B37094F9EDB8}"/>
              </a:ext>
            </a:extLst>
          </p:cNvPr>
          <p:cNvSpPr txBox="1"/>
          <p:nvPr/>
        </p:nvSpPr>
        <p:spPr>
          <a:xfrm>
            <a:off x="2479323" y="4433164"/>
            <a:ext cx="1425373" cy="31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Hidden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layer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=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endParaRPr lang="en-US" altLang="ko-KR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7" name="Picture 2" descr="Hidden Layers in Neural Networks | i2tutorials">
            <a:extLst>
              <a:ext uri="{FF2B5EF4-FFF2-40B4-BE49-F238E27FC236}">
                <a16:creationId xmlns:a16="http://schemas.microsoft.com/office/drawing/2014/main" id="{24120776-A63D-DD78-5C07-0027D4CCBB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5" t="4559" r="2142" b="4108"/>
          <a:stretch/>
        </p:blipFill>
        <p:spPr bwMode="auto">
          <a:xfrm>
            <a:off x="2681451" y="5257825"/>
            <a:ext cx="2379639" cy="112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46537B7-46C6-DDE0-266E-9338C93CC2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5101" y="5275439"/>
            <a:ext cx="2960299" cy="109253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90E12E24-38FE-14B1-EED8-CFF7A84A5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412" y="5378121"/>
            <a:ext cx="2960299" cy="89573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8DF687F-9201-E888-3AD4-867CF3A05E8C}"/>
              </a:ext>
            </a:extLst>
          </p:cNvPr>
          <p:cNvSpPr txBox="1"/>
          <p:nvPr/>
        </p:nvSpPr>
        <p:spPr>
          <a:xfrm>
            <a:off x="4141058" y="4433164"/>
            <a:ext cx="1425373" cy="31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Hidden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layer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=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en-US" altLang="ko-KR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331540-A10B-70A7-4D72-47C745DCB747}"/>
              </a:ext>
            </a:extLst>
          </p:cNvPr>
          <p:cNvSpPr txBox="1"/>
          <p:nvPr/>
        </p:nvSpPr>
        <p:spPr>
          <a:xfrm>
            <a:off x="6118541" y="4433164"/>
            <a:ext cx="1425373" cy="31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Hidden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layer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=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en-US" altLang="ko-KR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15F9E1-1DD4-D539-D756-D89F92D88915}"/>
              </a:ext>
            </a:extLst>
          </p:cNvPr>
          <p:cNvSpPr txBox="1"/>
          <p:nvPr/>
        </p:nvSpPr>
        <p:spPr>
          <a:xfrm>
            <a:off x="8140755" y="4433164"/>
            <a:ext cx="1425373" cy="31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Hidden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layer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=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en-US" altLang="ko-KR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8258728F-850E-B5E1-E0ED-F6B7E00A4E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347" y="5275439"/>
            <a:ext cx="1536093" cy="12077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E8066F-BFC6-F4E2-CF39-253031CF8DCC}"/>
              </a:ext>
            </a:extLst>
          </p:cNvPr>
          <p:cNvSpPr txBox="1"/>
          <p:nvPr/>
        </p:nvSpPr>
        <p:spPr>
          <a:xfrm>
            <a:off x="1337177" y="1768221"/>
            <a:ext cx="3172854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모델 구조 수정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(hidden layer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층 변경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4188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E0BC1-CFC9-0B16-9AC1-99371C216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20E7F03-2596-844C-9F98-3B0916E08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9C4D878-A480-5ECE-ED2A-5A1D3D0D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</a:t>
            </a:r>
            <a:r>
              <a:rPr lang="en-US" altLang="ko-KR"/>
              <a:t>. Homework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A93D0E-E1AA-7617-74E3-B551ED84A8D9}"/>
              </a:ext>
            </a:extLst>
          </p:cNvPr>
          <p:cNvSpPr txBox="1"/>
          <p:nvPr/>
        </p:nvSpPr>
        <p:spPr>
          <a:xfrm>
            <a:off x="651347" y="1314792"/>
            <a:ext cx="10889306" cy="45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모델 구조 수정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(hidden layer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층 변경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9D6E4DF-A4A9-29E0-B622-BFE7F1A79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089520"/>
            <a:ext cx="11826240" cy="314583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0E404F9-1804-B35A-874C-03C9C8643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1898422"/>
            <a:ext cx="5096586" cy="933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392E36-124F-D856-6768-235629FD81DB}"/>
              </a:ext>
            </a:extLst>
          </p:cNvPr>
          <p:cNvSpPr txBox="1"/>
          <p:nvPr/>
        </p:nvSpPr>
        <p:spPr>
          <a:xfrm>
            <a:off x="470262" y="812777"/>
            <a:ext cx="11551409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오디오 모델 학습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48188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12434-C01D-0FBB-6DED-497E3EC9A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F0575EF-6222-5DE7-6CF9-D16495B7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426849F-2476-0907-2BC8-22E61618B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VSCode</a:t>
            </a:r>
            <a:r>
              <a:rPr lang="ko-KR" altLang="en-US" dirty="0"/>
              <a:t>에서 작업 폴더 열기와 파일 생성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502D873-DA14-87DC-DE63-E6B9ED36673A}"/>
              </a:ext>
            </a:extLst>
          </p:cNvPr>
          <p:cNvGrpSpPr/>
          <p:nvPr/>
        </p:nvGrpSpPr>
        <p:grpSpPr>
          <a:xfrm>
            <a:off x="470262" y="1056310"/>
            <a:ext cx="3960336" cy="2332599"/>
            <a:chOff x="470262" y="907452"/>
            <a:chExt cx="3960336" cy="233259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1A1202B-2948-46EE-CB2A-BAC44806CBFB}"/>
                </a:ext>
              </a:extLst>
            </p:cNvPr>
            <p:cNvSpPr txBox="1"/>
            <p:nvPr/>
          </p:nvSpPr>
          <p:spPr>
            <a:xfrm>
              <a:off x="470262" y="907452"/>
              <a:ext cx="3960336" cy="4178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+mj-ea"/>
                <a:buAutoNum type="circleNumDbPlain"/>
              </a:pPr>
              <a:r>
                <a:rPr lang="ko-KR" alt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상단의 </a:t>
              </a:r>
              <a:r>
                <a: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‘File’ </a:t>
              </a:r>
              <a:r>
                <a:rPr lang="ko-KR" altLang="en-US" sz="16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클릭 </a:t>
              </a:r>
              <a:r>
                <a: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 ‘Open Folder’</a:t>
              </a: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F35EB7BF-2AD9-246B-19BC-A84BEE4EC50D}"/>
                </a:ext>
              </a:extLst>
            </p:cNvPr>
            <p:cNvGrpSpPr/>
            <p:nvPr/>
          </p:nvGrpSpPr>
          <p:grpSpPr>
            <a:xfrm>
              <a:off x="933001" y="1325259"/>
              <a:ext cx="3219899" cy="1914792"/>
              <a:chOff x="470262" y="1325259"/>
              <a:chExt cx="3219899" cy="1914792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1B7F14E7-C517-6568-5094-88ACE539FC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0262" y="1325259"/>
                <a:ext cx="3219899" cy="1914792"/>
              </a:xfrm>
              <a:prstGeom prst="rect">
                <a:avLst/>
              </a:prstGeom>
            </p:spPr>
          </p:pic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C48757E4-C20A-5014-8367-FD71D8932241}"/>
                  </a:ext>
                </a:extLst>
              </p:cNvPr>
              <p:cNvSpPr/>
              <p:nvPr/>
            </p:nvSpPr>
            <p:spPr>
              <a:xfrm>
                <a:off x="835775" y="2899011"/>
                <a:ext cx="2738005" cy="21614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3C3AAB0-5AC1-439E-6018-E97822E77E8F}"/>
              </a:ext>
            </a:extLst>
          </p:cNvPr>
          <p:cNvGrpSpPr/>
          <p:nvPr/>
        </p:nvGrpSpPr>
        <p:grpSpPr>
          <a:xfrm>
            <a:off x="470262" y="3741982"/>
            <a:ext cx="4945477" cy="2874419"/>
            <a:chOff x="470262" y="3657858"/>
            <a:chExt cx="4945477" cy="287441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C3B27F-034F-C190-FBA6-D9D86DA58B17}"/>
                </a:ext>
              </a:extLst>
            </p:cNvPr>
            <p:cNvSpPr txBox="1"/>
            <p:nvPr/>
          </p:nvSpPr>
          <p:spPr>
            <a:xfrm>
              <a:off x="470262" y="3657858"/>
              <a:ext cx="396033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ea"/>
                <a:buAutoNum type="circleNumDbPlain" startAt="2"/>
              </a:pPr>
              <a:r>
                <a:rPr lang="ko-KR" altLang="en-US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바탕화면 </a:t>
              </a:r>
              <a:r>
                <a: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 </a:t>
              </a:r>
              <a:r>
                <a:rPr lang="en-US" altLang="ko-KR" sz="1600" dirty="0" err="1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deeplearning</a:t>
              </a:r>
              <a:r>
                <a: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폴더 선택 후</a:t>
              </a:r>
              <a:r>
                <a: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 Select folder </a:t>
              </a:r>
              <a:r>
                <a:rPr lang="ko-KR" altLang="en-US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클릭 </a:t>
              </a:r>
              <a:endPara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endParaRP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58665511-8CE3-EA12-28C8-30DE4C01F399}"/>
                </a:ext>
              </a:extLst>
            </p:cNvPr>
            <p:cNvGrpSpPr/>
            <p:nvPr/>
          </p:nvGrpSpPr>
          <p:grpSpPr>
            <a:xfrm>
              <a:off x="933001" y="4242633"/>
              <a:ext cx="4482738" cy="2289644"/>
              <a:chOff x="470262" y="4300285"/>
              <a:chExt cx="4482738" cy="2289644"/>
            </a:xfrm>
          </p:grpSpPr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86B67A9E-CFF5-85D4-7AF2-E0A311DBD3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0262" y="4300285"/>
                <a:ext cx="4482738" cy="2289644"/>
              </a:xfrm>
              <a:prstGeom prst="rect">
                <a:avLst/>
              </a:prstGeom>
            </p:spPr>
          </p:pic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0F29170-628C-0DDA-60F9-778048E0A6C3}"/>
                  </a:ext>
                </a:extLst>
              </p:cNvPr>
              <p:cNvSpPr/>
              <p:nvPr/>
            </p:nvSpPr>
            <p:spPr>
              <a:xfrm>
                <a:off x="1668780" y="5120886"/>
                <a:ext cx="739140" cy="82966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E4DB2F9-2A52-7BDF-612D-F0BCF6E520F3}"/>
                  </a:ext>
                </a:extLst>
              </p:cNvPr>
              <p:cNvSpPr/>
              <p:nvPr/>
            </p:nvSpPr>
            <p:spPr>
              <a:xfrm>
                <a:off x="3413760" y="6275705"/>
                <a:ext cx="739140" cy="21717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28D3A7B-E4E6-E564-4912-E7E4D22D495C}"/>
                  </a:ext>
                </a:extLst>
              </p:cNvPr>
              <p:cNvSpPr txBox="1"/>
              <p:nvPr/>
            </p:nvSpPr>
            <p:spPr>
              <a:xfrm>
                <a:off x="1387773" y="4744363"/>
                <a:ext cx="357052" cy="499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1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8ABDCA-D870-BC52-B375-C0D5E0842D45}"/>
                  </a:ext>
                </a:extLst>
              </p:cNvPr>
              <p:cNvSpPr txBox="1"/>
              <p:nvPr/>
            </p:nvSpPr>
            <p:spPr>
              <a:xfrm>
                <a:off x="3140684" y="5965168"/>
                <a:ext cx="357052" cy="499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2</a:t>
                </a:r>
              </a:p>
            </p:txBody>
          </p:sp>
        </p:grp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014DF12-8DB2-1545-6482-DE274DFB8BC8}"/>
              </a:ext>
            </a:extLst>
          </p:cNvPr>
          <p:cNvGrpSpPr/>
          <p:nvPr/>
        </p:nvGrpSpPr>
        <p:grpSpPr>
          <a:xfrm>
            <a:off x="6560382" y="3873967"/>
            <a:ext cx="4421861" cy="1793735"/>
            <a:chOff x="6442134" y="3741982"/>
            <a:chExt cx="4421861" cy="179373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40FFA89-42DC-3B15-0BFE-9B96BC6CC444}"/>
                </a:ext>
              </a:extLst>
            </p:cNvPr>
            <p:cNvSpPr txBox="1"/>
            <p:nvPr/>
          </p:nvSpPr>
          <p:spPr>
            <a:xfrm>
              <a:off x="6442134" y="3741982"/>
              <a:ext cx="4209634" cy="4182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+mj-ea"/>
                <a:buAutoNum type="circleNumDbPlain" startAt="4"/>
              </a:pPr>
              <a:r>
                <a:rPr lang="ko-KR" altLang="en-US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이름</a:t>
              </a:r>
              <a:r>
                <a: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_</a:t>
              </a:r>
              <a:r>
                <a:rPr lang="ko-KR" altLang="en-US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날짜</a:t>
              </a:r>
              <a:r>
                <a: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_audio2</a:t>
              </a:r>
              <a:r>
                <a:rPr lang="ko-KR" altLang="en-US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차시</a:t>
              </a:r>
              <a:r>
                <a: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.</a:t>
              </a:r>
              <a:r>
                <a:rPr lang="en-US" altLang="ko-KR" sz="1600" dirty="0" err="1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ipynb</a:t>
              </a:r>
              <a:r>
                <a: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입력</a:t>
              </a:r>
              <a:endPara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endParaRPr>
            </a:p>
          </p:txBody>
        </p: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42898F05-D826-D914-D1CE-D8B3BD7BE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03659" y="4144963"/>
              <a:ext cx="3960336" cy="1390754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51A91F8-33C8-8ECF-61C3-6968334ABE9C}"/>
              </a:ext>
            </a:extLst>
          </p:cNvPr>
          <p:cNvGrpSpPr/>
          <p:nvPr/>
        </p:nvGrpSpPr>
        <p:grpSpPr>
          <a:xfrm>
            <a:off x="6560382" y="1134778"/>
            <a:ext cx="4698617" cy="2451936"/>
            <a:chOff x="6442134" y="1054570"/>
            <a:chExt cx="4698617" cy="245193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7B0F6B1-6F3E-CC19-775E-DE9CCE9FE9A7}"/>
                </a:ext>
              </a:extLst>
            </p:cNvPr>
            <p:cNvSpPr txBox="1"/>
            <p:nvPr/>
          </p:nvSpPr>
          <p:spPr>
            <a:xfrm>
              <a:off x="6442134" y="1054570"/>
              <a:ext cx="469861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ea"/>
                <a:buAutoNum type="circleNumDbPlain" startAt="3"/>
              </a:pPr>
              <a:r>
                <a:rPr lang="ko-KR" altLang="en-US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좌측 파일 아이콘 클릭 </a:t>
              </a:r>
              <a:r>
                <a: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</a:t>
              </a:r>
              <a:br>
                <a: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</a:br>
              <a:r>
                <a:rPr lang="en-US" altLang="ko-KR" sz="1600" dirty="0" err="1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Deeplearning</a:t>
              </a:r>
              <a:r>
                <a: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폴더 옆에 </a:t>
              </a:r>
              <a:r>
                <a: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New File </a:t>
              </a:r>
              <a:r>
                <a:rPr lang="ko-KR" altLang="en-US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아이콘 클릭</a:t>
              </a:r>
              <a:endPara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FA07B694-D26B-A4C3-3142-3D4E4AC98958}"/>
                </a:ext>
              </a:extLst>
            </p:cNvPr>
            <p:cNvGrpSpPr/>
            <p:nvPr/>
          </p:nvGrpSpPr>
          <p:grpSpPr>
            <a:xfrm>
              <a:off x="6903659" y="1639345"/>
              <a:ext cx="3286584" cy="1867161"/>
              <a:chOff x="6238447" y="1325259"/>
              <a:chExt cx="3286584" cy="1867161"/>
            </a:xfrm>
          </p:grpSpPr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17423099-FB50-7F0F-BBF6-6FF99E89BF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38447" y="1325259"/>
                <a:ext cx="3286584" cy="1867161"/>
              </a:xfrm>
              <a:prstGeom prst="rect">
                <a:avLst/>
              </a:prstGeom>
            </p:spPr>
          </p:pic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4C20D2EF-34A3-8B7C-A15F-270F3851A65E}"/>
                  </a:ext>
                </a:extLst>
              </p:cNvPr>
              <p:cNvSpPr/>
              <p:nvPr/>
            </p:nvSpPr>
            <p:spPr>
              <a:xfrm>
                <a:off x="6238447" y="1679811"/>
                <a:ext cx="467153" cy="41780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147A94A5-7208-2105-FDA3-4E39E919EA54}"/>
                  </a:ext>
                </a:extLst>
              </p:cNvPr>
              <p:cNvSpPr/>
              <p:nvPr/>
            </p:nvSpPr>
            <p:spPr>
              <a:xfrm>
                <a:off x="8553450" y="2214409"/>
                <a:ext cx="228600" cy="235655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0F7A2CD-1313-FE2E-04CD-2A6A14B87689}"/>
              </a:ext>
            </a:extLst>
          </p:cNvPr>
          <p:cNvCxnSpPr>
            <a:cxnSpLocks/>
          </p:cNvCxnSpPr>
          <p:nvPr/>
        </p:nvCxnSpPr>
        <p:spPr>
          <a:xfrm>
            <a:off x="6096000" y="1054570"/>
            <a:ext cx="0" cy="562086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Rectangle 26">
            <a:extLst>
              <a:ext uri="{FF2B5EF4-FFF2-40B4-BE49-F238E27FC236}">
                <a16:creationId xmlns:a16="http://schemas.microsoft.com/office/drawing/2014/main" id="{B6DAE14C-1A8C-DFCA-588F-FDA2B736DC7F}"/>
              </a:ext>
            </a:extLst>
          </p:cNvPr>
          <p:cNvSpPr/>
          <p:nvPr/>
        </p:nvSpPr>
        <p:spPr>
          <a:xfrm>
            <a:off x="6457909" y="5910944"/>
            <a:ext cx="5373307" cy="499818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/>
              <a:t>⚠️</a:t>
            </a:r>
            <a:r>
              <a:rPr lang="ko-KR" altLang="en-US" sz="1600" dirty="0">
                <a:solidFill>
                  <a:srgbClr val="8B4C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수업 종료 전</a:t>
            </a:r>
            <a:r>
              <a:rPr lang="en-US" altLang="ko-KR" sz="1600" dirty="0">
                <a:solidFill>
                  <a:srgbClr val="8B4C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dirty="0">
                <a:solidFill>
                  <a:srgbClr val="8B4C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파일 저장 여부를 반드시 확인하세요</a:t>
            </a:r>
            <a:r>
              <a:rPr lang="en-US" altLang="ko-KR" sz="1600" dirty="0">
                <a:solidFill>
                  <a:srgbClr val="8B4C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947217-37F3-D6D9-F75D-870653448901}"/>
              </a:ext>
            </a:extLst>
          </p:cNvPr>
          <p:cNvSpPr txBox="1"/>
          <p:nvPr/>
        </p:nvSpPr>
        <p:spPr>
          <a:xfrm>
            <a:off x="6735148" y="1748338"/>
            <a:ext cx="357052" cy="499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A5BC42-A082-D962-39C0-089EDB32E296}"/>
              </a:ext>
            </a:extLst>
          </p:cNvPr>
          <p:cNvSpPr txBox="1"/>
          <p:nvPr/>
        </p:nvSpPr>
        <p:spPr>
          <a:xfrm>
            <a:off x="9030030" y="2296942"/>
            <a:ext cx="357052" cy="499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81299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30576A7-81F2-7E56-5991-23771CC8C6C0}"/>
              </a:ext>
            </a:extLst>
          </p:cNvPr>
          <p:cNvSpPr>
            <a:spLocks/>
          </p:cNvSpPr>
          <p:nvPr/>
        </p:nvSpPr>
        <p:spPr>
          <a:xfrm>
            <a:off x="2" y="1"/>
            <a:ext cx="12191998" cy="6857999"/>
          </a:xfrm>
          <a:prstGeom prst="rect">
            <a:avLst/>
          </a:prstGeom>
          <a:solidFill>
            <a:srgbClr val="86B7F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AC4B49-27D9-94E8-C262-384D6529C871}"/>
              </a:ext>
            </a:extLst>
          </p:cNvPr>
          <p:cNvSpPr txBox="1"/>
          <p:nvPr/>
        </p:nvSpPr>
        <p:spPr>
          <a:xfrm>
            <a:off x="4232349" y="2921168"/>
            <a:ext cx="37273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감사합니다</a:t>
            </a:r>
          </a:p>
        </p:txBody>
      </p:sp>
      <p:pic>
        <p:nvPicPr>
          <p:cNvPr id="9" name="그림 8" descr="클립아트, 아동 미술, 만화 영화, 창의성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C3E1CD5-2157-DF70-19CA-ED03116DFF7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0000">
            <a:off x="7590194" y="2216056"/>
            <a:ext cx="741684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39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7765</TotalTime>
  <Words>3290</Words>
  <Application>Microsoft Office PowerPoint</Application>
  <PresentationFormat>와이드스크린</PresentationFormat>
  <Paragraphs>675</Paragraphs>
  <Slides>32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8" baseType="lpstr">
      <vt:lpstr>Arial</vt:lpstr>
      <vt:lpstr>Calibri</vt:lpstr>
      <vt:lpstr>Noto Sans KR</vt:lpstr>
      <vt:lpstr>Wingdings</vt:lpstr>
      <vt:lpstr>맑은 고딕</vt:lpstr>
      <vt:lpstr>Office 테마</vt:lpstr>
      <vt:lpstr>PowerPoint 프레젠테이션</vt:lpstr>
      <vt:lpstr>PowerPoint 프레젠테이션</vt:lpstr>
      <vt:lpstr>1. 오디오 딥러닝 구현</vt:lpstr>
      <vt:lpstr>1. 오디오 딥러닝 구현</vt:lpstr>
      <vt:lpstr>1. 오디오 딥러닝 구현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– 데이터 전처리</vt:lpstr>
      <vt:lpstr>2. 코드 기반 실습 및 응용 – 데이터 전처리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학습 및 평가 </vt:lpstr>
      <vt:lpstr>2. 코드 기반 실습 및 응용 - 학습 및 평가 </vt:lpstr>
      <vt:lpstr>2. 코드 기반 실습 및 응용 - 학습 및 평가 </vt:lpstr>
      <vt:lpstr>3. Homework</vt:lpstr>
      <vt:lpstr>3. Homework</vt:lpstr>
      <vt:lpstr>3. Homework</vt:lpstr>
      <vt:lpstr>VSCode에서 작업 폴더 열기와 파일 생성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고봉균</cp:lastModifiedBy>
  <cp:revision>1305</cp:revision>
  <dcterms:created xsi:type="dcterms:W3CDTF">2025-07-29T08:28:03Z</dcterms:created>
  <dcterms:modified xsi:type="dcterms:W3CDTF">2026-03-18T04:10:04Z</dcterms:modified>
</cp:coreProperties>
</file>