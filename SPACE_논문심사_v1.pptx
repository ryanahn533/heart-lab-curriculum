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23"/>
  </p:notesMasterIdLst>
  <p:sldIdLst>
    <p:sldId id="501" r:id="rId2"/>
    <p:sldId id="502" r:id="rId3"/>
    <p:sldId id="528" r:id="rId4"/>
    <p:sldId id="529" r:id="rId10"/>
    <p:sldId id="530" r:id="rId11"/>
    <p:sldId id="531" r:id="rId12"/>
    <p:sldId id="532" r:id="rId13"/>
    <p:sldId id="533" r:id="rId14"/>
    <p:sldId id="534" r:id="rId15"/>
    <p:sldId id="535" r:id="rId16"/>
    <p:sldId id="536" r:id="rId17"/>
    <p:sldId id="537" r:id="rId18"/>
    <p:sldId id="53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외부상황모델" id="{7B5FA08C-4E14-41D1-81E8-F3EB6A87637B}">
          <p14:sldIdLst>
            <p14:sldId id="501"/>
            <p14:sldId id="502"/>
            <p14:sldId id="528"/>
            <p14:sldId id="531"/>
            <p14:sldId id="511"/>
            <p14:sldId id="513"/>
            <p14:sldId id="523"/>
            <p14:sldId id="516"/>
            <p14:sldId id="525"/>
            <p14:sldId id="532"/>
            <p14:sldId id="533"/>
            <p14:sldId id="524"/>
            <p14:sldId id="521"/>
            <p14:sldId id="530"/>
            <p14:sldId id="529"/>
            <p14:sldId id="512"/>
            <p14:sldId id="527"/>
            <p14:sldId id="534"/>
            <p14:sldId id="536"/>
            <p14:sldId id="535"/>
            <p14:sldId id="5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3B94"/>
    <a:srgbClr val="E7E4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6242" autoAdjust="0"/>
  </p:normalViewPr>
  <p:slideViewPr>
    <p:cSldViewPr snapToGrid="0">
      <p:cViewPr varScale="1">
        <p:scale>
          <a:sx n="150" d="100"/>
          <a:sy n="150" d="100"/>
        </p:scale>
        <p:origin x="7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BE2-FB9D-45E9-8320-BE51746B008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144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BE2-FB9D-45E9-8320-BE51746B008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541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155C-098D-A7AB-449D-EEA9ADED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C7088E-4EE8-1D2E-686E-9D60CC2BF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BC1CC5-DBF2-933C-A5D3-82CAF3170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2097D-BA21-8FE0-1113-C3E7FD385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BE2-FB9D-45E9-8320-BE51746B008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4632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/>
          <p:cNvSpPr>
            <a:spLocks noGrp="1"/>
          </p:cNvSpPr>
          <p:nvPr>
            <p:ph idx="1" hasCustomPrompt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8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3" name="제목 1"/>
          <p:cNvSpPr>
            <a:spLocks noGrp="1"/>
          </p:cNvSpPr>
          <p:nvPr>
            <p:ph type="title" hasCustomPrompt="1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" name="그림 1" descr="일렉트릭 블루, 그래픽, 디자인이(가) 표시된 사진&#10;&#10;AI가 생성한 콘텐츠는 부정확할 수 있습니다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825" y="92997"/>
            <a:ext cx="1287373" cy="5442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6B7F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624699"/>
            <a:ext cx="12192000" cy="233302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12" y="235856"/>
            <a:ext cx="1422006" cy="490592"/>
          </a:xfrm>
          <a:prstGeom prst="rect">
            <a:avLst/>
          </a:prstGeom>
        </p:spPr>
      </p:pic>
      <p:pic>
        <p:nvPicPr>
          <p:cNvPr id="11" name="그림 10" descr="사람, 예술이(가) 표시된 사진&#10;&#10;자동 생성된 설명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526" y="1569901"/>
            <a:ext cx="6889474" cy="4340369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298336" y="5195841"/>
            <a:ext cx="11609152" cy="0"/>
          </a:xfrm>
          <a:prstGeom prst="line">
            <a:avLst/>
          </a:prstGeom>
          <a:ln w="12700" cap="rnd">
            <a:solidFill>
              <a:srgbClr val="013B94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86783" y="1899315"/>
            <a:ext cx="10360728" cy="21236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/>
              <a:t>S-PACE: Sync Physiological Alignment Conditioning Embedding for Robust Multimodal Emotion Recognition</a:t>
            </a:r>
          </a:p>
        </p:txBody>
      </p:sp>
      <p:pic>
        <p:nvPicPr>
          <p:cNvPr id="2" name="그림 1" descr="일렉트릭 블루, 그래픽, 디자인이(가) 표시된 사진&#10;&#10;AI가 생성한 콘텐츠는 부정확할 수 있습니다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825" y="92997"/>
            <a:ext cx="1287373" cy="54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43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" y="1"/>
            <a:ext cx="12191998" cy="6857999"/>
          </a:xfrm>
          <a:prstGeom prst="rect">
            <a:avLst/>
          </a:prstGeom>
          <a:solidFill>
            <a:srgbClr val="86B7F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7529" y="505123"/>
            <a:ext cx="2242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975" algn="l"/>
              </a:tabLst>
            </a:pPr>
            <a:r>
              <a:rPr lang="en-US" altLang="ko-KR" sz="3600" b="1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ontents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0" y="1566952"/>
            <a:ext cx="5257800" cy="37240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buClr>
                <a:srgbClr val="013B94"/>
              </a:buClr>
            </a:pPr>
            <a:r>
              <a:rPr lang="en-US" altLang="ko-KR" sz="2800" b="1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r>
              <a:rPr lang="en-US" altLang="ko-KR" sz="2800" b="1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2400" b="1"/>
              <a:t>기존 </a:t>
            </a:r>
            <a:r>
              <a:rPr lang="en-US" altLang="ko-KR" sz="2400" b="1"/>
              <a:t>MER</a:t>
            </a:r>
            <a:endParaRPr lang="en-US" altLang="ko-KR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Clr>
                <a:srgbClr val="013B94"/>
              </a:buClr>
            </a:pPr>
            <a:endParaRPr lang="en-US" altLang="ko-KR" sz="24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Clr>
                <a:srgbClr val="013B94"/>
              </a:buClr>
            </a:pPr>
            <a:r>
              <a:rPr lang="en-US" altLang="ko-KR" sz="2800" b="1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02. </a:t>
            </a:r>
            <a:r>
              <a:rPr lang="en-US" altLang="ko-KR" sz="2400" b="1"/>
              <a:t>Reference papers</a:t>
            </a:r>
            <a:endParaRPr lang="en-US" altLang="ko-KR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Clr>
                <a:srgbClr val="013B94"/>
              </a:buClr>
            </a:pPr>
            <a:endParaRPr lang="en-US" altLang="ko-KR" sz="24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Clr>
                <a:srgbClr val="013B94"/>
              </a:buClr>
            </a:pPr>
            <a:r>
              <a:rPr lang="en-US" altLang="ko-KR" sz="2800" b="1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03. </a:t>
            </a:r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Novelty</a:t>
            </a:r>
          </a:p>
          <a:p>
            <a:pPr>
              <a:buClr>
                <a:srgbClr val="013B94"/>
              </a:buClr>
            </a:pPr>
            <a:endParaRPr lang="en-US" altLang="ko-KR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Clr>
                <a:srgbClr val="013B94"/>
              </a:buClr>
            </a:pPr>
            <a:r>
              <a:rPr lang="en-US" altLang="ko-KR" sz="2800" b="1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04. </a:t>
            </a:r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Dataset</a:t>
            </a:r>
          </a:p>
          <a:p>
            <a:pPr>
              <a:buClr>
                <a:srgbClr val="013B94"/>
              </a:buClr>
            </a:pPr>
            <a:endParaRPr lang="en-US" altLang="ko-KR" sz="2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Clr>
                <a:srgbClr val="013B94"/>
              </a:buClr>
            </a:pPr>
            <a:r>
              <a:rPr lang="en-US" altLang="ko-KR" sz="2800" b="1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05. </a:t>
            </a:r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Result</a:t>
            </a:r>
          </a:p>
        </p:txBody>
      </p:sp>
      <p:sp>
        <p:nvSpPr>
          <p:cNvPr id="6" name="직사각형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057275" cy="6858001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4848225" y="352425"/>
            <a:ext cx="0" cy="6162675"/>
          </a:xfrm>
          <a:prstGeom prst="line">
            <a:avLst/>
          </a:prstGeom>
          <a:ln w="12700" cap="rnd">
            <a:solidFill>
              <a:srgbClr val="013B94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사람, 예술이(가) 표시된 사진&#10;&#10;자동 생성된 설명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44" y="1360745"/>
            <a:ext cx="5560879" cy="413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28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F636-37A8-DBF0-2298-D52A8508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931F6D87-16FA-E091-31EB-EB4879F8C6D1}"/>
              </a:ext>
            </a:extLst>
          </p:cNvPr>
          <p:cNvSpPr txBox="1">
            <a:spLocks/>
          </p:cNvSpPr>
          <p:nvPr/>
        </p:nvSpPr>
        <p:spPr>
          <a:xfrm>
            <a:off x="420950" y="63694"/>
            <a:ext cx="10103648" cy="7093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r>
              <a:rPr lang="ko-KR" altLang="en-US"/>
              <a:t>기존 </a:t>
            </a:r>
            <a:r>
              <a:rPr lang="en-US" altLang="ko-KR"/>
              <a:t>MER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8C31B4D-C6C9-E31F-3A80-EA693822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5DC83D-CBF5-4ABB-E3DC-04FD07EFA5E9}"/>
              </a:ext>
            </a:extLst>
          </p:cNvPr>
          <p:cNvSpPr/>
          <p:nvPr/>
        </p:nvSpPr>
        <p:spPr>
          <a:xfrm>
            <a:off x="155575" y="961939"/>
            <a:ext cx="2375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/>
              <a:t>기존 </a:t>
            </a:r>
            <a:r>
              <a:rPr lang="en-US" altLang="ko-KR" b="1"/>
              <a:t>MER Workflow</a:t>
            </a:r>
          </a:p>
        </p:txBody>
      </p:sp>
      <p:sp>
        <p:nvSpPr>
          <p:cNvPr id="4" name="AutoShape 4" descr="Electroencephalography or EEG as brain activity monitoring outline diagram  스톡 벡터 - ©VectorMine 482430926">
            <a:extLst>
              <a:ext uri="{FF2B5EF4-FFF2-40B4-BE49-F238E27FC236}">
                <a16:creationId xmlns:a16="http://schemas.microsoft.com/office/drawing/2014/main" id="{DAAC1DDC-41A0-C29E-C42C-94C2355D4D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6" descr="EEG/Electroencephalogram_뇌파검사 : 네이버 블로그">
            <a:extLst>
              <a:ext uri="{FF2B5EF4-FFF2-40B4-BE49-F238E27FC236}">
                <a16:creationId xmlns:a16="http://schemas.microsoft.com/office/drawing/2014/main" id="{E96FCE66-6ED2-4D13-D968-018D2CF1CB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F69DA38-0A21-046B-1F9B-1480BF34A2E2}"/>
              </a:ext>
            </a:extLst>
          </p:cNvPr>
          <p:cNvSpPr/>
          <p:nvPr/>
        </p:nvSpPr>
        <p:spPr>
          <a:xfrm>
            <a:off x="402719" y="5891900"/>
            <a:ext cx="1158769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/>
              <a:t>Data preprocessing -&gt; Feature Extraction -&gt; Cross attention -&gt; Classification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0A66D649-670E-DE32-EED9-A03761836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272" y="1862818"/>
            <a:ext cx="8478417" cy="364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631223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핵심 아이디어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Bio-Anchored Alignment + S-PACE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Two Fundamental Challenges in Multimodal Emotion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(1) Temporal Misalignment:  행동 반응(ms) vs 생리 반응(1~5초) — bio-behavioral lag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(2) Modality Noise:  얼굴 가림, 음성 왜곡, 센서 아티팩트 — 모달리티별 신뢰도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11247120" cy="13716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3B94"/>
                </a:solidFill>
                <a:latin typeface="Noto Sans KR"/>
              </a:defRPr>
            </a:pPr>
            <a:r>
              <a:t>Our Solution: SGMT (S-PACE Gated Multimodal Transformer)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S-PACE:  Bio를 Anchor(K,V)로, Behavioral(Video,Audio)을 Query로 — cross-attention 정렬</a:t>
            </a:r>
          </a:p>
          <a:p>
            <a:pPr>
              <a:spcAft>
                <a:spcPts val="300"/>
              </a:spcAft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Quality-Aware Gate:  신호 품질 기반 동적 모달리티 가중치 (temperature annealing)</a:t>
            </a:r>
          </a:p>
          <a:p>
            <a:pPr>
              <a:spcAft>
                <a:spcPts val="300"/>
              </a:spcAft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Bio-Anchored 설계:  생리신호 = 비자발적, 항상 존재 → 안정적 fusion 기준점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기존 MER: 모달리티를 대칭적으로 처리  →  SGMT: Bio를 중심에 놓고 Behavioral이 conditioning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[SGMT Architecture Figure — sgmt_architecture_v3.pdf]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SGMT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End-to-end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12880" cy="5029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4747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[sgmt_architecture_v3.pdf — 전체 아키텍처 그림]</a:t>
            </a:r>
            <a:br/>
            <a:br/>
            <a:r>
              <a:t>Video(ResNet) + Audio(AST) + Bio(ResNet per channel, GASF/GADF/MTF)</a:t>
            </a:r>
            <a:br/>
            <a:r>
              <a:t>→ Positional + Type + Speaker Embedding</a:t>
            </a:r>
            <a:br/>
            <a:r>
              <a:t>→ S-PACE Cross-Attention (Bio=K,V / Behavioral=Q)</a:t>
            </a:r>
            <a:br/>
            <a:r>
              <a:t>→ Quality-Aware Gate (temperature annealing)</a:t>
            </a:r>
            <a:br/>
            <a:r>
              <a:t>→ Temporal Swin Transformer (hierarchical)</a:t>
            </a:r>
            <a:br/>
            <a:r>
              <a:t>→ Perceiver Fusion (learnable latent tokens)</a:t>
            </a:r>
            <a:br/>
            <a:r>
              <a:t>→ Multi-task: Binary A/V + Quadrant + Polar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S-PACE: Stimulus-Phase Alignment via Cross-modal Embedding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03520" cy="27432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3B94"/>
                </a:solidFill>
                <a:latin typeface="Noto Sans KR"/>
              </a:defRPr>
            </a:pPr>
            <a:r>
              <a:t>설계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Behavioral(Video+Audio) = Query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Bio sensor channels = Key, Value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"현재 행동 관측에 대해 어떤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생리 채널이 가장 관련있는가?"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행동이 먼저 발생 → 생리가 뒤따름</a:t>
            </a:r>
          </a:p>
          <a:p>
            <a:pPr>
              <a:spcAft>
                <a:spcPts val="300"/>
              </a:spcAft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→ Q로 행동을 쓰는 게 인과적으로 맞음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394960" cy="2743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수식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Q = W_Q [V_hat; A_hat]     (T x d)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K = W_K B                   (C x d)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V_att = W_V B               (C x d)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B_t = MLP(softmax(QK^T/sqrt(d)) V_att)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333333"/>
                </a:solidFill>
                <a:latin typeface="Noto Sans KR"/>
              </a:defRPr>
            </a:pPr>
            <a:r>
              <a:t>→ Time-aligned bio representation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1155680" cy="10972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Graceful 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Video 없을 때 (KEMDy20): V_hat = 0 → Query가 Audio-only로 자동 전환</a:t>
            </a:r>
          </a:p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Noto Sans KR"/>
              </a:defRPr>
            </a:pPr>
            <a:r>
              <a:t>Bio anchor는 항상 존재 → 아키텍처 변경 없이 modality 가감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86400"/>
            <a:ext cx="11155680" cy="73152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7150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[S-PACE attention heatmap — space_gate_heatmap.png]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Quality-Aware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Dynamic Modality Fusion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Quality Proxies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q_face = 얼굴 검출 비율 (0~1)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q_audio = spectral flatness 기반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q_bio = 채널별 dynamic range 평균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→ batch-wise z-score 정규화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949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Temperature Annealing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w = softmax(MLP([V;A;B;q]) / tau)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tau: 2.0 → 1.0 (cosine schedule)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초기: 균등 탐색 → 후기: 전문화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1155680" cy="9144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역할: interpretability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Q-Acc 기여는 미미(-0.1%)하지만, 모달리티 중요도를 사람이 읽을 수 있게 해줌 (50K params, &lt;0.05%)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11155680" cy="13716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[Gate weight comparison — gate_comparison.png]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Temporal Swin Transformer + Perceiver 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03520" cy="32004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3B94"/>
                </a:solidFill>
                <a:latin typeface="Noto Sans KR"/>
              </a:defRPr>
            </a:pPr>
            <a:r>
              <a:t>Hierarchical Temporal Swin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1D Swin Transformer adaptation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Stage 0: T=16→8 (window=4, shifted)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Stage 1: T=8→4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Stage 2: T=4 (refinement)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4개 병렬 Encoder: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  1 post-gate (fused) + 3 intra-modal</a:t>
            </a:r>
          </a:p>
          <a:p>
            <a:pPr>
              <a:spcAft>
                <a:spcPts val="3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  (video, audio, bio 각각 독립)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394960" cy="3200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Perceiver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Learnable latent tokens (L=32)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Cross-attention: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  latent queries ← multimodal tokens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→ 고정 차원 emotion embedding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→ Multi-task heads: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   Binary (A/V), Quadrant, Polar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Multi-scale temporal + heterogeneous modality → compact representation → joint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KEMDy20 + K-EmoCon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303520" cy="36576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KEMDy20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40 sessions, 80 participants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Dyadic emotional conversations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Modalities: Audio + Bio (EDA, TEMP, IBI)</a:t>
            </a:r>
          </a:p>
          <a:p>
            <a:pPr>
              <a:spcAft>
                <a:spcPts val="400"/>
              </a:spcAft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Video 없음 → skip_video=True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Arousal/Valence 5-point → binary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3-fold LOPPO CV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비교적 balanced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94960" cy="36576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Noto Sans KR"/>
              </a:defRPr>
            </a:pPr>
            <a:r>
              <a:t>K-EmoCon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32 participants, 16 pairs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Paired conversation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Noto Sans KR"/>
              </a:defRPr>
            </a:pPr>
            <a:r>
              <a:t>Modalities: Audio + Video + Bio</a:t>
            </a: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Noto Sans KR"/>
              </a:defRPr>
            </a:pPr>
            <a:r>
              <a:t>(BVP, EDA, TEMP, ACC)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Valence: 5.1% Low / 94.9% High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→ extreme class imbalance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6-fold GroupKFold CV</a:t>
            </a:r>
          </a:p>
        </p:txBody>
      </p:sp>
      <p:pic>
        <p:nvPicPr>
          <p:cNvPr id="14" name="Picture 1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0"/>
            <a:ext cx="11155680" cy="43469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Results — Main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03520" cy="27432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KEMDy20 (Audio + Bio)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B7FE"/>
                </a:solidFill>
                <a:latin typeface="Noto Sans KR"/>
              </a:defRPr>
            </a:pPr>
            <a:r>
              <a:t>3-fold LOPPO, skip-video + label smoothing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A-UAR: 68.4 ± 6.2%</a:t>
            </a:r>
          </a:p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V-UAR: 57.6 ± 4.4%</a:t>
            </a:r>
          </a:p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Q-Acc: 44.7 ± 4.8%  (chance=25%)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A-F1: 68.5%  |  V-F1: 55.4%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94960" cy="2743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K-EmoCon (Audio + Video + Bio)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Noto Sans KR"/>
              </a:defRPr>
            </a:pPr>
            <a:r>
              <a:t>6-fold GroupKFold, 25 epochs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A-UAR: 62.9 ± 10.6%</a:t>
            </a:r>
          </a:p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A-F1: 73.5%  |  V-F1: 86.1%</a:t>
            </a:r>
          </a:p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Q-Acc: 62.5 ± 12.3%  (chance=25%)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V-UAR 미보고 (5.1% minority → 불안정)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11155680" cy="914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Cross-Dataset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KEMDy20 (A+Bio): A-UAR 68.4%  |  K-EmoCon (A+V+Bio): A-UAR 62.9%</a:t>
            </a:r>
          </a:p>
          <a:p>
            <a:pPr>
              <a:spcAft>
                <a:spcPts val="300"/>
              </a:spcAft>
              <a:defRPr sz="1400" b="1">
                <a:solidFill>
                  <a:srgbClr val="333333"/>
                </a:solidFill>
                <a:latin typeface="Noto Sans KR"/>
              </a:defRPr>
            </a:pPr>
            <a:r>
              <a:t>동일 아키텍처가 modality 가감에 자동 적응 (Gate mechanism)</a:t>
            </a:r>
          </a:p>
        </p:txBody>
      </p:sp>
      <p:pic>
        <p:nvPicPr>
          <p:cNvPr id="18" name="Picture 17" descr="curves_KEMDy20_3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5486400" cy="2907056"/>
          </a:xfrm>
          <a:prstGeom prst="rect">
            <a:avLst/>
          </a:prstGeom>
        </p:spPr>
      </p:pic>
      <p:pic>
        <p:nvPicPr>
          <p:cNvPr id="19" name="Picture 18" descr="confusion_KEMDy20_3fold_aggreg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303520"/>
            <a:ext cx="5486400" cy="16576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Ablation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03520" cy="27432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KEMDy20 Architectural Ablation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013B94"/>
                </a:solidFill>
                <a:latin typeface="Noto Sans KR"/>
              </a:defRPr>
            </a:pPr>
            <a:r>
              <a:t>Audio-only:  A-UAR 71.4 / V-UAR 49.0</a:t>
            </a:r>
          </a:p>
          <a:p>
            <a:pPr>
              <a:spcAft>
                <a:spcPts val="300"/>
              </a:spcAft>
              <a:defRPr sz="1300" b="0">
                <a:solidFill>
                  <a:srgbClr val="013B94"/>
                </a:solidFill>
                <a:latin typeface="Noto Sans KR"/>
              </a:defRPr>
            </a:pPr>
            <a:r>
              <a:t>Bio-only:    A-UAR 54.2 / V-UAR 52.0</a:t>
            </a:r>
          </a:p>
          <a:p>
            <a:pPr>
              <a:spcAft>
                <a:spcPts val="300"/>
              </a:spcAft>
              <a:defRPr sz="1300" b="0">
                <a:solidFill>
                  <a:srgbClr val="013B94"/>
                </a:solidFill>
                <a:latin typeface="Noto Sans KR"/>
              </a:defRPr>
            </a:pPr>
            <a:r>
              <a:t>Concat:      A-UAR 65.9 / V-UAR 51.3</a:t>
            </a:r>
          </a:p>
          <a:p>
            <a:pPr>
              <a:spcAft>
                <a:spcPts val="300"/>
              </a:spcAft>
              <a:defRPr sz="1300" b="1">
                <a:solidFill>
                  <a:srgbClr val="013B94"/>
                </a:solidFill>
                <a:latin typeface="Noto Sans KR"/>
              </a:defRPr>
            </a:pPr>
            <a:r>
              <a:t>SGMT Full:  A-UAR 69.6 / V-UAR 52.8</a:t>
            </a:r>
          </a:p>
          <a:p>
            <a:pPr>
              <a:spcAft>
                <a:spcPts val="300"/>
              </a:spcAft>
              <a:defRPr sz="13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013B94"/>
                </a:solidFill>
                <a:latin typeface="Noto Sans KR"/>
              </a:defRPr>
            </a:pPr>
            <a:r>
              <a:t>Audio가 arousal 높지만 valence 최약</a:t>
            </a:r>
          </a:p>
          <a:p>
            <a:pPr>
              <a:spcAft>
                <a:spcPts val="300"/>
              </a:spcAft>
              <a:defRPr sz="1300" b="1">
                <a:solidFill>
                  <a:srgbClr val="013B94"/>
                </a:solidFill>
                <a:latin typeface="Noto Sans KR"/>
              </a:defRPr>
            </a:pPr>
            <a:r>
              <a:t>→ SGMT = 가장 높은 composite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394960" cy="27432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Noto Sans KR"/>
              </a:defRPr>
            </a:pPr>
            <a:r>
              <a:t>K-EmoCon Component Ablation (6-fold)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SGMT Full:      Q-Acc 63.2%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- Binary Head:   Q-Acc 59.0% (Δ-4.2)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- Polar Head:    Q-Acc 60.7% (Δ-2.5)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- Gate Anneal:   Q-Acc 61.1% (Δ-2.1)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- Speaker Emb:   Q-Acc 61.8% (Δ-1.4)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- Quality Gate:  Q-Acc 63.1% (Δ-0.1)</a:t>
            </a:r>
          </a:p>
          <a:p>
            <a:pPr>
              <a:spcAft>
                <a:spcPts val="3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333333"/>
                </a:solidFill>
                <a:latin typeface="Noto Sans KR"/>
              </a:defRPr>
            </a:pPr>
            <a:r>
              <a:t>Binary head이 가장 critical (+4.2%)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1155680" cy="1645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Key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  <a:latin typeface="Noto Sans KR"/>
              </a:defRPr>
            </a:pPr>
            <a:r>
              <a:t>Bio contribution:  Bio 추가 시 V-UAR +3.8%p (audio-only 49.0 → SGMT 52.8) — valence에서 보완적</a:t>
            </a:r>
          </a:p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  <a:latin typeface="Noto Sans KR"/>
              </a:defRPr>
            </a:pPr>
            <a:r>
              <a:t>Gated &gt; Concat:  A-UAR +3.7%p (65.9 → 69.6) — cross-attention + gating의 효과</a:t>
            </a:r>
          </a:p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  <a:latin typeface="Noto Sans KR"/>
              </a:defRPr>
            </a:pPr>
            <a:r>
              <a:t>SkipVideo:  video encoder 비활성화 시 +1.4% — zero-value noise 제거 효과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Gate Weight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Adaptive Modality 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K-EmoCon (with Video)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Video: ~95.2%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Audio: ~3.0%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Bio: ~1.8%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얼굴 표정이 가장 informative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9496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KEMDy20 (no Video)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Video: ~1.6% (zero tokens)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Audio: ~89.7%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Bio: ~8.7%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Video 없으면 Audio로 자동 전환</a:t>
            </a:r>
          </a:p>
        </p:txBody>
      </p:sp>
      <p:pic>
        <p:nvPicPr>
          <p:cNvPr id="14" name="Picture 13" descr="ga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5486400" cy="2137828"/>
          </a:xfrm>
          <a:prstGeom prst="rect">
            <a:avLst/>
          </a:prstGeom>
        </p:spPr>
      </p:pic>
      <p:pic>
        <p:nvPicPr>
          <p:cNvPr id="15" name="Picture 14" descr="space_gat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5486400" cy="40754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2179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Noto Sans KR"/>
              </a:defRPr>
            </a:pPr>
            <a:r>
              <a:t>Temporal dynamics: t=1에서 audio 57% + bio 13% → t≥4에서 video 96% (초기 acoustic context → steady-state visual tracking)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Conclusion &amp; 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155680" cy="27432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1. S-PACE:  bio-behavioral temporal lag를 cross-attention으로 정렬 (bio=anchor)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2. Quality-Aware Gate:  temperature annealing으로 modality 신뢰도 기반 동적 fusion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3. Unified Architecture:  modality 가감에 아키텍처 변경 없이 적응 (KEMDy20 ↔ K-EmoCon)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4. Gate Analysis:  supervision 없이 modality selection 학습 (video 95% ↔ audio 90%)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303520" cy="201168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Bio gate weight ~2% → bio representation 개선 필요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K-EmoCon valence 94.9% skew → UAR 불안정</a:t>
            </a:r>
          </a:p>
          <a:p>
            <a:pPr>
              <a:spcAft>
                <a:spcPts val="400"/>
              </a:spcAft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Single-fold ablation의 일반화 한계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94960" cy="20116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NormWear (wearable foundation model)로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bio encoder 교체 → representation 개선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DEAP 데이터셋 일반화 검증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Bio signal → LLM token space 직접 주입 (BioToken)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9790</TotalTime>
  <Words>2715</Words>
  <Application>Microsoft Office PowerPoint</Application>
  <PresentationFormat>와이드스크린</PresentationFormat>
  <Paragraphs>193</Paragraphs>
  <Slides>21</Slides>
  <Notes>21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Junyoung An</cp:lastModifiedBy>
  <cp:revision>380</cp:revision>
  <dcterms:created xsi:type="dcterms:W3CDTF">2025-10-22T13:46:56Z</dcterms:created>
  <dcterms:modified xsi:type="dcterms:W3CDTF">2026-03-22T06:51:37Z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