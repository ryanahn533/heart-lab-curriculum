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3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3B94"/>
    <a:srgbClr val="F4D862"/>
    <a:srgbClr val="F9E79D"/>
    <a:srgbClr val="D2C8EE"/>
    <a:srgbClr val="BBD4EF"/>
    <a:srgbClr val="F0A2A8"/>
    <a:srgbClr val="90B8E4"/>
    <a:srgbClr val="A0C2E8"/>
    <a:srgbClr val="AE9CE0"/>
    <a:srgbClr val="FDF7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5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0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2C6C57-A6D6-4DE1-9466-2D69169593DE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21BE2-FB9D-45E9-8320-BE51746B00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9730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83F52A4-4167-BE6C-0C34-FBFE1AF2522D}"/>
              </a:ext>
            </a:extLst>
          </p:cNvPr>
          <p:cNvSpPr/>
          <p:nvPr userDrawn="1"/>
        </p:nvSpPr>
        <p:spPr>
          <a:xfrm>
            <a:off x="0" y="0"/>
            <a:ext cx="12192000" cy="818804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F948175-77A1-04C6-D1FD-F48619C880D6}"/>
              </a:ext>
            </a:extLst>
          </p:cNvPr>
          <p:cNvSpPr/>
          <p:nvPr userDrawn="1"/>
        </p:nvSpPr>
        <p:spPr>
          <a:xfrm>
            <a:off x="0" y="773085"/>
            <a:ext cx="12192000" cy="45719"/>
          </a:xfrm>
          <a:prstGeom prst="rect">
            <a:avLst/>
          </a:prstGeom>
          <a:solidFill>
            <a:srgbClr val="0042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2103F0D4-40E7-1246-3E3D-783D4633D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136342"/>
            <a:ext cx="11353800" cy="5305586"/>
          </a:xfrm>
        </p:spPr>
        <p:txBody>
          <a:bodyPr>
            <a:normAutofit/>
          </a:bodyPr>
          <a:lstStyle>
            <a:lvl1pPr marL="228600" indent="-228600">
              <a:buFont typeface="Arial" panose="020B0604020202020204" pitchFamily="34" charset="0"/>
              <a:buChar char="•"/>
              <a:defRPr sz="20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  <a:lvl2pPr>
              <a:defRPr sz="1600">
                <a:latin typeface="Noto Sans KR" panose="020B0200000000000000" pitchFamily="50" charset="-127"/>
                <a:ea typeface="Noto Sans KR" panose="020B0200000000000000" pitchFamily="50" charset="-127"/>
              </a:defRPr>
            </a:lvl2pPr>
            <a:lvl3pPr>
              <a:defRPr sz="1400">
                <a:latin typeface="Noto Sans KR" panose="020B0200000000000000" pitchFamily="50" charset="-127"/>
                <a:ea typeface="Noto Sans KR" panose="020B0200000000000000" pitchFamily="50" charset="-127"/>
              </a:defRPr>
            </a:lvl3pPr>
            <a:lvl4pPr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4pPr>
            <a:lvl5pPr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A85064-D7E3-7404-2274-65B5EEEC2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>
            <a:lvl1pPr>
              <a:defRPr sz="1800" b="1"/>
            </a:lvl1pPr>
          </a:lstStyle>
          <a:p>
            <a:fld id="{2D073BAB-F947-4405-BF35-5CE8AFC7B1D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62609C4A-6649-54C7-258F-2DC633C70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950" y="63694"/>
            <a:ext cx="10103648" cy="709391"/>
          </a:xfrm>
        </p:spPr>
        <p:txBody>
          <a:bodyPr>
            <a:normAutofit/>
          </a:bodyPr>
          <a:lstStyle>
            <a:lvl1pPr>
              <a:defRPr sz="2800" b="1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A7C4AD4-F5ED-0AAC-1A1E-C9AF1C0A33F8}"/>
              </a:ext>
            </a:extLst>
          </p:cNvPr>
          <p:cNvGrpSpPr/>
          <p:nvPr userDrawn="1"/>
        </p:nvGrpSpPr>
        <p:grpSpPr>
          <a:xfrm>
            <a:off x="10524598" y="235856"/>
            <a:ext cx="1382890" cy="308295"/>
            <a:chOff x="10524598" y="236977"/>
            <a:chExt cx="1382890" cy="30829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9E69938-5676-E435-A658-4C406829F560}"/>
                </a:ext>
              </a:extLst>
            </p:cNvPr>
            <p:cNvSpPr txBox="1"/>
            <p:nvPr/>
          </p:nvSpPr>
          <p:spPr>
            <a:xfrm>
              <a:off x="10809110" y="236977"/>
              <a:ext cx="10983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rgbClr val="013B9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HEART Lab</a:t>
              </a:r>
              <a:endParaRPr lang="ko-KR" altLang="en-US" sz="1400" dirty="0">
                <a:solidFill>
                  <a:srgbClr val="013B94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21" name="Picture 6">
              <a:extLst>
                <a:ext uri="{FF2B5EF4-FFF2-40B4-BE49-F238E27FC236}">
                  <a16:creationId xmlns:a16="http://schemas.microsoft.com/office/drawing/2014/main" id="{680A0C3F-4CFE-71AC-AF77-E7C60C440DA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duotone>
                <a:prstClr val="black"/>
                <a:srgbClr val="5D78A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6" r="91943" b="18256"/>
            <a:stretch>
              <a:fillRect/>
            </a:stretch>
          </p:blipFill>
          <p:spPr bwMode="auto">
            <a:xfrm>
              <a:off x="10524598" y="259861"/>
              <a:ext cx="334713" cy="2854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80978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C2AD7C-D5CC-DEDC-1E74-880CABFD33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68C3CAA-0AAB-4106-A42E-66B41FEFD5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2F3899-C826-B199-4093-C2E82AFAA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7B4072-FD41-EBC2-EF25-C9A86B866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C72C32-A0E2-28CF-D3EF-28F4E5A89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279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8AD1F0-8939-BA3A-34A9-349554873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4E9E97-6B6D-36A1-B8E5-87F5CB46C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685327-6A8B-7398-1545-78C96F14A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2767B7-4D3E-6CBB-8833-D589BFAF8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A85064-D7E3-7404-2274-65B5EEEC2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6054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BA2876-06A8-43D3-9AB3-1FA1E1362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A10778-0F73-94D7-A6FC-2526EE39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F6B77C-C40E-6BBF-A188-8859E8A9B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7249E6-A4B6-56AE-2F87-210C997F7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A41139-FAD5-C8E2-590F-2C34428C7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5879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65C0CF-570B-FAD4-6DDC-161414AB7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77B021-E3A7-88AD-F2C4-E8F9A77439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9FB538-5B2E-915D-F292-9C3A7D6E5D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C85514-70A8-EE8D-D38A-25A090F9F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A39419-7469-B93B-A530-6423CC2F6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F88CF6-26A3-8ABE-B37E-3DD66202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499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BF985A-752C-5533-78F0-2966D3393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813A11-8624-9483-86CA-BDDB35145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7E0471-E237-8490-D749-D52F62A45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49FCB37-A237-2625-5013-D40ACB911B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A16E00D-4019-12FB-DCC5-30B9C95B01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1DE5F86-046A-E54B-62FF-7784A6D62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B237855-DF4D-2403-6322-04F38F0F0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4C7A5A9-FEA3-B117-6153-4C30C0796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570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67B565-AEEB-3A72-3CCF-31F7507AC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8D5FB16-844E-59CC-9D90-4B6D0EA74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B1B32D9-EDA5-9A90-ED4B-C45416482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E1CB97-DADF-76D0-ED98-76F232B8E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48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38EA502-A711-62E3-ECD2-AE9BA3788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39969E2-F331-BBBF-92B5-73468F1C4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AFE645-14D3-DF75-EE27-1DC537013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901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C8AC59-1580-F3AF-D5C4-24575B24B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496DA0-621E-7368-C54A-C08F4757B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2553C9-98FE-B6B9-A86F-A359B92D4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51FA90-5889-FC3B-587E-892E9B7AA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8D7A89-78DE-EF34-D013-91D88C416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53FAEA-788E-13FD-BBF4-AE84A8B45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6597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974901-D00D-E8C4-FD77-FA7896FA2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DDBA276-C3B8-54D3-5607-7069F9D9B3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2D4F79-D0C9-AEEF-7604-8C828B1E9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9F3861-148A-3BEE-6A70-EECEC1A31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87C410-A446-6F41-7902-2084E4FCC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8B4C10-61CA-E84F-FB62-64795544D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9204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907BB7-AA90-7550-2DEC-25CB5278D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5E4F7F4-6378-1F8C-3DFE-D36DABCEF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49C5C2-4072-ED4D-D21C-5E74D6B5E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FF3088-5582-1690-94AF-BA59ED39F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8BB330-ADA6-5F3C-1EE9-C86F9516A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305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3745AD7-0275-1507-264B-EB4EA470B5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F84FA7-C90C-1974-88BA-253DB43D0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8AC28D-616D-1CBB-D765-3C203E4E6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978735-343F-19AA-29B4-5D670C0EC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BBB36F-0F42-5531-EB11-095C3E5D8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38087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0A365E-AC0E-4D2E-8CDF-506843DA1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9E58F7-B9A7-195D-E63B-F2956E401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2BCCAD-67CA-F2C4-93B2-09344CC8F9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FB35E7-2609-0BF1-3A65-F13305A572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1FF3D9-5BBD-E7B8-2B94-93F5667FC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DE6838D-7298-0263-413F-B9986AA0E298}"/>
              </a:ext>
            </a:extLst>
          </p:cNvPr>
          <p:cNvGrpSpPr/>
          <p:nvPr userDrawn="1"/>
        </p:nvGrpSpPr>
        <p:grpSpPr>
          <a:xfrm>
            <a:off x="10524598" y="235856"/>
            <a:ext cx="1382890" cy="308295"/>
            <a:chOff x="10524598" y="236977"/>
            <a:chExt cx="1382890" cy="30829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E06ED09-7217-57E5-5A7C-320B4359B648}"/>
                </a:ext>
              </a:extLst>
            </p:cNvPr>
            <p:cNvSpPr txBox="1"/>
            <p:nvPr/>
          </p:nvSpPr>
          <p:spPr>
            <a:xfrm>
              <a:off x="10809110" y="236977"/>
              <a:ext cx="10983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rgbClr val="013B9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HEART Lab</a:t>
              </a:r>
              <a:endParaRPr lang="ko-KR" altLang="en-US" sz="1400" dirty="0">
                <a:solidFill>
                  <a:srgbClr val="013B94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12" name="Picture 6">
              <a:extLst>
                <a:ext uri="{FF2B5EF4-FFF2-40B4-BE49-F238E27FC236}">
                  <a16:creationId xmlns:a16="http://schemas.microsoft.com/office/drawing/2014/main" id="{40FC96E2-F531-A2ED-3BD5-F90CA881138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4">
              <a:duotone>
                <a:prstClr val="black"/>
                <a:srgbClr val="5D78A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6" r="91943" b="18256"/>
            <a:stretch>
              <a:fillRect/>
            </a:stretch>
          </p:blipFill>
          <p:spPr bwMode="auto">
            <a:xfrm>
              <a:off x="10524598" y="259861"/>
              <a:ext cx="334713" cy="2854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04618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92608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13B94"/>
                </a:solidFill>
                <a:latin typeface="Noto Sans KR"/>
              </a:defRPr>
            </a:pPr>
            <a:r>
              <a:t>2026-1학기 딥러닝실습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Noto Sans KR"/>
              </a:defRPr>
            </a:pPr>
            <a:r>
              <a:t>딥러닝 실습, 왜 하는 걸까?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D5FF"/>
                </a:solidFill>
                <a:latin typeface="Noto Sans KR"/>
              </a:defRPr>
            </a:pPr>
            <a:r>
              <a:t>대학, 취업, 그리고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13B94"/>
                </a:solidFill>
                <a:latin typeface="Noto Sans KR"/>
              </a:defRPr>
            </a:pPr>
            <a:r>
              <a:t>안준영  |  세종대학교 HEART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고등학교 vs 대학교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029200" cy="347472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666666"/>
                </a:solidFill>
                <a:latin typeface="Noto Sans KR"/>
              </a:defRPr>
            </a:pPr>
            <a:r>
              <a:t>고등학교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666666"/>
                </a:solidFill>
                <a:latin typeface="Noto Sans KR"/>
              </a:defRPr>
            </a:pPr>
            <a:r>
              <a:t>교복을 입는다</a:t>
            </a:r>
          </a:p>
          <a:p>
            <a:pPr>
              <a:spcAft>
                <a:spcPts val="1000"/>
              </a:spcAft>
              <a:defRPr sz="1800" b="0">
                <a:solidFill>
                  <a:srgbClr val="666666"/>
                </a:solidFill>
                <a:latin typeface="Noto Sans KR"/>
              </a:defRPr>
            </a:pPr>
            <a:r>
              <a:t>선생님이 다 챙겨준다</a:t>
            </a:r>
          </a:p>
          <a:p>
            <a:pPr>
              <a:spcAft>
                <a:spcPts val="1000"/>
              </a:spcAft>
              <a:defRPr sz="1800" b="0">
                <a:solidFill>
                  <a:srgbClr val="666666"/>
                </a:solidFill>
                <a:latin typeface="Noto Sans KR"/>
              </a:defRPr>
            </a:pPr>
            <a:r>
              <a:t>보호받는 공간</a:t>
            </a:r>
          </a:p>
          <a:p>
            <a:pPr>
              <a:spcAft>
                <a:spcPts val="1000"/>
              </a:spcAft>
              <a:defRPr sz="1800" b="0">
                <a:solidFill>
                  <a:srgbClr val="666666"/>
                </a:solidFill>
                <a:latin typeface="Noto Sans KR"/>
              </a:defRPr>
            </a:pPr>
          </a:p>
          <a:p>
            <a:pPr>
              <a:spcAft>
                <a:spcPts val="1000"/>
              </a:spcAft>
              <a:defRPr sz="1800" b="1">
                <a:solidFill>
                  <a:srgbClr val="666666"/>
                </a:solidFill>
                <a:latin typeface="Noto Sans KR"/>
              </a:defRPr>
            </a:pPr>
            <a:r>
              <a:t>→ 미성년자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74320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13B94"/>
                </a:solidFill>
                <a:latin typeface="Noto Sans KR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371600"/>
            <a:ext cx="5029200" cy="347472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463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13B94"/>
                </a:solidFill>
                <a:latin typeface="Noto Sans KR"/>
              </a:defRPr>
            </a:pPr>
            <a:r>
              <a:t>대학교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19456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13B94"/>
                </a:solidFill>
                <a:latin typeface="Noto Sans KR"/>
              </a:defRPr>
            </a:pPr>
            <a:r>
              <a:t>교복이 없다</a:t>
            </a:r>
          </a:p>
          <a:p>
            <a:pPr>
              <a:spcAft>
                <a:spcPts val="1000"/>
              </a:spcAft>
              <a:defRPr sz="1800" b="0">
                <a:solidFill>
                  <a:srgbClr val="013B94"/>
                </a:solidFill>
                <a:latin typeface="Noto Sans KR"/>
              </a:defRPr>
            </a:pPr>
            <a:r>
              <a:t>스스로 해야 한다</a:t>
            </a:r>
          </a:p>
          <a:p>
            <a:pPr>
              <a:spcAft>
                <a:spcPts val="1000"/>
              </a:spcAft>
              <a:defRPr sz="1800" b="0">
                <a:solidFill>
                  <a:srgbClr val="013B94"/>
                </a:solidFill>
                <a:latin typeface="Noto Sans KR"/>
              </a:defRPr>
            </a:pPr>
            <a:r>
              <a:t>보호가 없다</a:t>
            </a:r>
          </a:p>
          <a:p>
            <a:pPr>
              <a:spcAft>
                <a:spcPts val="1000"/>
              </a:spcAft>
              <a:defRPr sz="1800" b="0">
                <a:solidFill>
                  <a:srgbClr val="013B94"/>
                </a:solidFill>
                <a:latin typeface="Noto Sans KR"/>
              </a:defRPr>
            </a:pPr>
          </a:p>
          <a:p>
            <a:pPr>
              <a:spcAft>
                <a:spcPts val="1000"/>
              </a:spcAft>
              <a:defRPr sz="1800" b="1">
                <a:solidFill>
                  <a:srgbClr val="013B94"/>
                </a:solidFill>
                <a:latin typeface="Noto Sans KR"/>
              </a:defRPr>
            </a:pPr>
            <a:r>
              <a:t>→ 성인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5303520"/>
            <a:ext cx="7589520" cy="73152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539496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Noto Sans KR"/>
              </a:defRPr>
            </a:pPr>
            <a:r>
              <a:t>대학교는 결국 취업을 준비하는 공간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그래서 이 수업을 왜 듣는가?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333333"/>
                </a:solidFill>
                <a:latin typeface="Noto Sans KR"/>
              </a:defRPr>
            </a:pPr>
            <a:r>
              <a:t>딥러닝 실습 — 코드를 돌리고, 프로젝트를 하고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666666"/>
                </a:solidFill>
                <a:latin typeface="Noto Sans KR"/>
              </a:defRPr>
            </a:pPr>
            <a:r>
              <a:t>학점?  재미?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10698480" cy="128016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794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Noto Sans KR"/>
              </a:defRPr>
            </a:pPr>
            <a:r>
              <a:t>"나는 이걸 할 수 있습니다"를 증명하는 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D5FF"/>
                </a:solidFill>
                <a:latin typeface="Noto Sans KR"/>
              </a:defRPr>
            </a:pPr>
            <a:r>
              <a:t>이 수업의 프로젝트 = 취업 준비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인공지능 취업, 크게 두 가지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03520" cy="274320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13B94"/>
                </a:solidFill>
                <a:latin typeface="Noto Sans KR"/>
              </a:defRPr>
            </a:pPr>
            <a:r>
              <a:t>기업 개발자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333333"/>
                </a:solidFill>
                <a:latin typeface="Noto Sans KR"/>
              </a:defRPr>
            </a:pPr>
            <a:r>
              <a:t>각 회사의 도메인이 다름</a:t>
            </a:r>
          </a:p>
          <a:p>
            <a:pPr>
              <a:spcAft>
                <a:spcPts val="500"/>
              </a:spcAft>
              <a:defRPr sz="1500" b="0">
                <a:solidFill>
                  <a:srgbClr val="333333"/>
                </a:solidFill>
                <a:latin typeface="Noto Sans KR"/>
              </a:defRPr>
            </a:pPr>
            <a:r>
              <a:t>(반도체, 자동차, 의학, 금융, 로봇...)</a:t>
            </a:r>
          </a:p>
          <a:p>
            <a:pPr>
              <a:spcAft>
                <a:spcPts val="500"/>
              </a:spcAft>
              <a:defRPr sz="1500" b="0">
                <a:solidFill>
                  <a:srgbClr val="333333"/>
                </a:solidFill>
                <a:latin typeface="Noto Sans KR"/>
              </a:defRPr>
            </a:pPr>
          </a:p>
          <a:p>
            <a:pPr>
              <a:spcAft>
                <a:spcPts val="500"/>
              </a:spcAft>
              <a:defRPr sz="1500" b="0">
                <a:solidFill>
                  <a:srgbClr val="333333"/>
                </a:solidFill>
                <a:latin typeface="Noto Sans KR"/>
              </a:defRPr>
            </a:pPr>
            <a:r>
              <a:t>도메인에 맞는 서비스(제품)를 만드는 사람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657600"/>
            <a:ext cx="1097280" cy="548640"/>
          </a:xfrm>
          <a:prstGeom prst="rect">
            <a:avLst/>
          </a:prstGeom>
          <a:solidFill>
            <a:srgbClr val="F8F8F8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[삼성 로고]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3657600"/>
            <a:ext cx="1097280" cy="548640"/>
          </a:xfrm>
          <a:prstGeom prst="rect">
            <a:avLst/>
          </a:prstGeom>
          <a:solidFill>
            <a:srgbClr val="F8F8F8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37947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[네이버 로고]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3657600"/>
            <a:ext cx="1097280" cy="548640"/>
          </a:xfrm>
          <a:prstGeom prst="rect">
            <a:avLst/>
          </a:prstGeom>
          <a:solidFill>
            <a:srgbClr val="F8F8F8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37947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[카카오 로고]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280160"/>
            <a:ext cx="5303520" cy="2743200"/>
          </a:xfrm>
          <a:prstGeom prst="roundRect">
            <a:avLst/>
          </a:prstGeom>
          <a:solidFill>
            <a:srgbClr val="FE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6B35"/>
                </a:solidFill>
                <a:latin typeface="Noto Sans KR"/>
              </a:defRPr>
            </a:pPr>
            <a:r>
              <a:t>연구소 (연구원)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9202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333333"/>
                </a:solidFill>
                <a:latin typeface="Noto Sans KR"/>
              </a:defRPr>
            </a:pPr>
            <a:r>
              <a:t>기업 연구소, 국책 연구소, 대학원</a:t>
            </a:r>
          </a:p>
          <a:p>
            <a:pPr>
              <a:spcAft>
                <a:spcPts val="500"/>
              </a:spcAft>
              <a:defRPr sz="1500" b="0">
                <a:solidFill>
                  <a:srgbClr val="333333"/>
                </a:solidFill>
                <a:latin typeface="Noto Sans KR"/>
              </a:defRPr>
            </a:pPr>
            <a:r>
              <a:t>트렌드에 맞춰 기술 발전을 리드</a:t>
            </a:r>
          </a:p>
          <a:p>
            <a:pPr>
              <a:spcAft>
                <a:spcPts val="500"/>
              </a:spcAft>
              <a:defRPr sz="1500" b="0">
                <a:solidFill>
                  <a:srgbClr val="333333"/>
                </a:solidFill>
                <a:latin typeface="Noto Sans KR"/>
              </a:defRPr>
            </a:pPr>
            <a:r>
              <a:t>논문, 특허, 기술 이전</a:t>
            </a:r>
          </a:p>
          <a:p>
            <a:pPr>
              <a:spcAft>
                <a:spcPts val="500"/>
              </a:spcAft>
              <a:defRPr sz="1500" b="0">
                <a:solidFill>
                  <a:srgbClr val="333333"/>
                </a:solidFill>
                <a:latin typeface="Noto Sans KR"/>
              </a:defRPr>
            </a:pPr>
          </a:p>
          <a:p>
            <a:pPr>
              <a:spcAft>
                <a:spcPts val="500"/>
              </a:spcAft>
              <a:defRPr sz="1500" b="1">
                <a:solidFill>
                  <a:srgbClr val="333333"/>
                </a:solidFill>
                <a:latin typeface="Noto Sans KR"/>
              </a:defRPr>
            </a:pPr>
            <a:r>
              <a:t>연구소는 국책과제(정부 과제)로 운영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4480560"/>
            <a:ext cx="9418320" cy="64008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45262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KR"/>
              </a:defRPr>
            </a:pPr>
            <a:r>
              <a:t>공통:  AI로 문제를 풀 수 있는 사람이 필요하다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우리에게 중요한 능력은?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1064240" cy="91440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Noto Sans KR"/>
              </a:defRPr>
            </a:pPr>
            <a:r>
              <a:t>서비스 = Question (문제)  →  "이 문제를 어떻게 풀 수 있는가?"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Noto Sans KR"/>
              </a:defRPr>
            </a:pPr>
            <a:r>
              <a:t>어떤 데이터로,  어떤 모델로,  어떤 기술로?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2651760" cy="228600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3192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Noto Sans KR"/>
              </a:defRPr>
            </a:pPr>
            <a:r>
              <a:t>ChatGPT, Claude</a:t>
            </a:r>
            <a:br/>
            <a:r>
              <a:t>대화형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3108960"/>
            <a:ext cx="2651760" cy="22860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3291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AI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93192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Noto Sans KR"/>
              </a:defRPr>
            </a:pPr>
            <a:r>
              <a:t>자율적으로 일하는 AI</a:t>
            </a:r>
            <a:br/>
            <a:r>
              <a:t>도구 사용, 의사결정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3108960"/>
            <a:ext cx="2651760" cy="22860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3291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멀티모달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393192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Noto Sans KR"/>
              </a:defRPr>
            </a:pPr>
            <a:r>
              <a:t>영상 + 음성 + 텍스트</a:t>
            </a:r>
            <a:br/>
            <a:r>
              <a:t>여러 데이터를 결합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19" y="3108960"/>
            <a:ext cx="2651760" cy="2286000"/>
          </a:xfrm>
          <a:prstGeom prst="round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19" y="3291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Physical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19" y="393192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Noto Sans KR"/>
              </a:defRPr>
            </a:pPr>
            <a:r>
              <a:t>로봇, 자율주행</a:t>
            </a:r>
            <a:br/>
            <a:r>
              <a:t>물리 세계의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13B94"/>
                </a:solidFill>
                <a:latin typeface="Noto Sans KR"/>
              </a:defRPr>
            </a:pPr>
            <a:r>
              <a:t>이걸 조합해서 실제 서비스를 구현할 수 있는 능력 = 핵심 경쟁력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그런데 요즘 취업시장 현실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3566160" cy="2194560"/>
          </a:xfrm>
          <a:prstGeom prst="round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Noto Sans KR"/>
              </a:defRPr>
            </a:pPr>
            <a:r>
              <a:t>53.5% → 37.4%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Noto Sans KR"/>
              </a:defRPr>
            </a:pPr>
            <a:r>
              <a:t>SW 신입 채용 비중</a:t>
            </a:r>
            <a:br/>
            <a:r>
              <a:t>2년 만에 16.1%p 급감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80160"/>
            <a:ext cx="3566160" cy="2194560"/>
          </a:xfrm>
          <a:prstGeom prst="round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4630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Noto Sans KR"/>
              </a:defRPr>
            </a:pPr>
            <a:r>
              <a:t>12.4%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8600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Noto Sans KR"/>
              </a:defRPr>
            </a:pPr>
            <a:r>
              <a:t>2026년 전체 채용 중</a:t>
            </a:r>
            <a:br/>
            <a:r>
              <a:t>신입 비율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280160"/>
            <a:ext cx="3566160" cy="2194560"/>
          </a:xfrm>
          <a:prstGeom prst="round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4630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Noto Sans KR"/>
              </a:defRPr>
            </a:pPr>
            <a:r>
              <a:t>21만 1천 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28600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Noto Sans KR"/>
              </a:defRPr>
            </a:pPr>
            <a:r>
              <a:t>ChatGPT 이후 3년간</a:t>
            </a:r>
            <a:br/>
            <a:r>
              <a:t>청년 일자리 증발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57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Noto Sans KR"/>
              </a:defRPr>
            </a:pPr>
            <a:r>
              <a:t>출처: 서울신문 2026.01 / ZDNet 2025.12 / 한국은행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206240"/>
            <a:ext cx="9418320" cy="137160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4297680"/>
            <a:ext cx="8503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FFFFFF"/>
                </a:solidFill>
                <a:latin typeface="Noto Sans KR"/>
              </a:defRPr>
            </a:pPr>
            <a:r>
              <a:t>기업이 원하는 건:  바로 투입 가능한 사람</a:t>
            </a:r>
          </a:p>
          <a:p>
            <a:pPr>
              <a:spcAft>
                <a:spcPts val="600"/>
              </a:spcAft>
              <a:defRPr sz="2000" b="0">
                <a:solidFill>
                  <a:srgbClr val="FFFFFF"/>
                </a:solidFill>
                <a:latin typeface="Noto Sans KR"/>
              </a:defRPr>
            </a:pPr>
          </a:p>
          <a:p>
            <a:pPr>
              <a:spcAft>
                <a:spcPts val="600"/>
              </a:spcAft>
              <a:defRPr sz="2000" b="0">
                <a:solidFill>
                  <a:srgbClr val="FFFFFF"/>
                </a:solidFill>
                <a:latin typeface="Noto Sans KR"/>
              </a:defRPr>
            </a:pPr>
            <a:r>
              <a:t>스펙이 아니라,  실제로 문제를 풀어본 경험이 있는 사람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바로 투입 가능한 사람 = Top-down 사고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486400" cy="38404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2560320" cy="1463040"/>
          </a:xfrm>
          <a:prstGeom prst="rect">
            <a:avLst/>
          </a:prstGeom>
          <a:solidFill>
            <a:srgbClr val="F8F8F8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[일론 머스크 사진]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Noto Sans KR"/>
              </a:defRPr>
            </a:pPr>
            <a:r>
              <a:t>First Principles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828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Noto Sans KR"/>
              </a:defRPr>
            </a:pPr>
            <a:r>
              <a:t>Thinking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286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Noto Sans KR"/>
              </a:defRPr>
            </a:pPr>
            <a:r>
              <a:t>— Elon Musk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004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333333"/>
                </a:solidFill>
                <a:latin typeface="Noto Sans KR"/>
              </a:defRPr>
            </a:pPr>
            <a:r>
              <a:t>문제를 분자 단위로 분해한다</a:t>
            </a:r>
          </a:p>
          <a:p>
            <a:pPr>
              <a:spcAft>
                <a:spcPts val="500"/>
              </a:spcAft>
              <a:defRPr sz="1400" b="0">
                <a:solidFill>
                  <a:srgbClr val="333333"/>
                </a:solidFill>
                <a:latin typeface="Noto Sans KR"/>
              </a:defRPr>
            </a:pPr>
            <a:r>
              <a:t>기존 방식을 의심, 근본부터 다시 생각</a:t>
            </a:r>
          </a:p>
          <a:p>
            <a:pPr>
              <a:spcAft>
                <a:spcPts val="500"/>
              </a:spcAft>
              <a:defRPr sz="1400" b="0">
                <a:solidFill>
                  <a:srgbClr val="333333"/>
                </a:solidFill>
                <a:latin typeface="Noto Sans KR"/>
              </a:defRPr>
            </a:pPr>
          </a:p>
          <a:p>
            <a:pPr>
              <a:spcAft>
                <a:spcPts val="500"/>
              </a:spcAft>
              <a:defRPr sz="1400" b="0">
                <a:solidFill>
                  <a:srgbClr val="333333"/>
                </a:solidFill>
                <a:latin typeface="Noto Sans KR"/>
              </a:defRPr>
            </a:pPr>
            <a:r>
              <a:t>로켓 $65M → 원자재 = 2% → SpaceX 10배 절감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280160"/>
            <a:ext cx="5212080" cy="384048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3716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13B94"/>
                </a:solidFill>
                <a:latin typeface="Noto Sans KR"/>
              </a:defRPr>
            </a:pPr>
            <a:r>
              <a:t>AI에서도 똑같다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2103120"/>
            <a:ext cx="4389120" cy="347472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21031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Noto Sans KR"/>
              </a:defRPr>
            </a:pPr>
            <a:r>
              <a:t>문제가 뭐지?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2514600"/>
            <a:ext cx="4389120" cy="347472"/>
          </a:xfrm>
          <a:prstGeom prst="roundRect">
            <a:avLst/>
          </a:prstGeom>
          <a:solidFill>
            <a:srgbClr val="C0D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251460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13B94"/>
                </a:solidFill>
                <a:latin typeface="Noto Sans KR"/>
              </a:defRPr>
            </a:pPr>
            <a:r>
              <a:t>→ 데이터는?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2926079"/>
            <a:ext cx="4389120" cy="347472"/>
          </a:xfrm>
          <a:prstGeom prst="roundRect">
            <a:avLst/>
          </a:prstGeom>
          <a:solidFill>
            <a:srgbClr val="C0D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2926079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13B94"/>
                </a:solidFill>
                <a:latin typeface="Noto Sans KR"/>
              </a:defRPr>
            </a:pPr>
            <a:r>
              <a:t>  → 전처리는?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3337560"/>
            <a:ext cx="4389120" cy="347472"/>
          </a:xfrm>
          <a:prstGeom prst="roundRect">
            <a:avLst/>
          </a:prstGeom>
          <a:solidFill>
            <a:srgbClr val="C0D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33375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13B94"/>
                </a:solidFill>
                <a:latin typeface="Noto Sans KR"/>
              </a:defRPr>
            </a:pPr>
            <a:r>
              <a:t>    → 모델은?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3749039"/>
            <a:ext cx="4389120" cy="347472"/>
          </a:xfrm>
          <a:prstGeom prst="roundRect">
            <a:avLst/>
          </a:prstGeom>
          <a:solidFill>
            <a:srgbClr val="C0D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3749039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13B94"/>
                </a:solidFill>
                <a:latin typeface="Noto Sans KR"/>
              </a:defRPr>
            </a:pPr>
            <a:r>
              <a:t>      → 평가는?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38912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13B94"/>
                </a:solidFill>
                <a:latin typeface="Noto Sans KR"/>
              </a:defRPr>
            </a:pPr>
            <a:r>
              <a:t>이 사고가 바로 나오는 사람</a:t>
            </a:r>
            <a:br/>
            <a:r>
              <a:t>= 바로 투입 가능한 사람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71600" y="5486400"/>
            <a:ext cx="9418320" cy="64008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55321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Noto Sans KR"/>
              </a:defRPr>
            </a:pPr>
            <a:r>
              <a:t>연구를 위한 연구 X,  문제를 정의하고 풀어내는 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나는 취업하려고 이걸 만들었다 — K-MER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1064240" cy="256032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13B94"/>
                </a:solidFill>
                <a:latin typeface="Noto Sans KR"/>
              </a:defRPr>
            </a:pPr>
            <a:r>
              <a:t>K-MER  |  차량 내 운전자 감정인식 시스템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333333"/>
                </a:solidFill>
                <a:latin typeface="Noto Sans KR"/>
              </a:defRPr>
            </a:pPr>
            <a:r>
              <a:t>산업부 수십억 규모 국책과제</a:t>
            </a:r>
          </a:p>
          <a:p>
            <a:pPr>
              <a:spcAft>
                <a:spcPts val="500"/>
              </a:spcAft>
              <a:defRPr sz="1600" b="0">
                <a:solidFill>
                  <a:srgbClr val="333333"/>
                </a:solidFill>
                <a:latin typeface="Noto Sans KR"/>
              </a:defRPr>
            </a:pPr>
            <a:r>
              <a:t>카메라 + 음성 + 생체신호  →  운전자 감정 상태를 실시간 판단</a:t>
            </a:r>
          </a:p>
          <a:p>
            <a:pPr>
              <a:spcAft>
                <a:spcPts val="500"/>
              </a:spcAft>
              <a:defRPr sz="1600" b="0">
                <a:solidFill>
                  <a:srgbClr val="333333"/>
                </a:solidFill>
                <a:latin typeface="Noto Sans KR"/>
              </a:defRPr>
            </a:pPr>
            <a:r>
              <a:t>연구를 위한 연구 X  →  실제 차량에 실증하는 기술</a:t>
            </a:r>
          </a:p>
          <a:p>
            <a:pPr>
              <a:spcAft>
                <a:spcPts val="500"/>
              </a:spcAft>
              <a:defRPr sz="1600" b="0">
                <a:solidFill>
                  <a:srgbClr val="333333"/>
                </a:solidFill>
                <a:latin typeface="Noto Sans KR"/>
              </a:defRPr>
            </a:pPr>
            <a:r>
              <a:t>졸업할 때 "이거 만들었습니다" 하고 보여줄 수 있는 포트폴리오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11064240" cy="2011680"/>
          </a:xfrm>
          <a:prstGeom prst="roundRect">
            <a:avLst/>
          </a:prstGeom>
          <a:solidFill>
            <a:srgbClr val="F8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114800"/>
            <a:ext cx="1106424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6634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6B35"/>
                </a:solidFill>
                <a:latin typeface="Noto Sans KR"/>
              </a:defRPr>
            </a:pPr>
            <a:r>
              <a:t>[ K-MER 시연 영상 삽입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Noto Sans KR"/>
              </a:defRPr>
            </a:pPr>
            <a:r>
              <a:t>여기에 영상 또는 스크린샷 넣기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이걸 어디서 만들었냐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1064240" cy="137160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13B94"/>
                </a:solidFill>
                <a:latin typeface="Noto Sans KR"/>
              </a:defRPr>
            </a:pPr>
            <a:r>
              <a:t>HEART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Noto Sans KR"/>
              </a:defRPr>
            </a:pPr>
            <a:r>
              <a:t>Human Emotion  and  Intelligent Agent  Research  for  Future Transformation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13B94"/>
                </a:solidFill>
                <a:latin typeface="Noto Sans KR"/>
              </a:defRPr>
            </a:pPr>
            <a:r>
              <a:t>사람의 감정  +  지능형 에이전트  +  미래 기술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Noto Sans KR"/>
              </a:defRPr>
            </a:pPr>
            <a:r>
              <a:t>이 분야가 취업이 되는 이유 — 우리 말을 NVIDIA가 반증한다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3566160" cy="228600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5661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KR"/>
              </a:defRPr>
            </a:pPr>
            <a:r>
              <a:t>NVIDIA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1480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Noto Sans KR"/>
              </a:defRPr>
            </a:pPr>
            <a:r>
              <a:t>Audio2Face: 오디오에서</a:t>
            </a:r>
            <a:br/>
            <a:r>
              <a:t>감정을 분석하여 표정 생성</a:t>
            </a:r>
            <a:br/>
            <a:r>
              <a:t>Auto Emotion 기술 개발</a:t>
            </a:r>
            <a:br/>
            <a:r>
              <a:t>GTC 2026 Affective Care Drive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474720"/>
            <a:ext cx="3566160" cy="22860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35661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KR"/>
              </a:defRPr>
            </a:pPr>
            <a:r>
              <a:t>Affectiva (Smart Eye)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11480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Noto Sans KR"/>
              </a:defRPr>
            </a:pPr>
            <a:r>
              <a:t>감정 AI 글로벌 1위</a:t>
            </a:r>
            <a:br/>
            <a:r>
              <a:t>차량 내 감정인식 이미 상용화</a:t>
            </a:r>
            <a:br/>
            <a:r>
              <a:t>$73.5M에 인수</a:t>
            </a:r>
            <a:br/>
            <a:r>
              <a:t>90개국 1000만+ 얼굴 데이터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474720"/>
            <a:ext cx="3566160" cy="2286000"/>
          </a:xfrm>
          <a:prstGeom prst="round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35661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KR"/>
              </a:defRPr>
            </a:pPr>
            <a:r>
              <a:t>Top Conference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11480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Noto Sans KR"/>
              </a:defRPr>
            </a:pPr>
            <a:r>
              <a:t>감정 인식 논문이</a:t>
            </a:r>
            <a:br/>
            <a:r>
              <a:t>CVPR, AAAI, INTERSPEECH</a:t>
            </a:r>
            <a:br/>
            <a:r>
              <a:t>등에서 가장 활발한 주제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486400"/>
            <a:ext cx="3200400" cy="731520"/>
          </a:xfrm>
          <a:prstGeom prst="rect">
            <a:avLst/>
          </a:prstGeom>
          <a:solidFill>
            <a:srgbClr val="F8F8F8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715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[CES2024 NVIDIA 감정기술 캡처]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5486400"/>
            <a:ext cx="3200400" cy="731520"/>
          </a:xfrm>
          <a:prstGeom prst="rect">
            <a:avLst/>
          </a:prstGeom>
          <a:solidFill>
            <a:srgbClr val="F8F8F8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5715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[GTC2026 Affective Care Drive 캡처]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5486400"/>
            <a:ext cx="3200400" cy="731520"/>
          </a:xfrm>
          <a:prstGeom prst="rect">
            <a:avLst/>
          </a:prstGeom>
          <a:solidFill>
            <a:srgbClr val="F8F8F8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5715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[Affectiva In-Cabin 캡처]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이 능력을 어떻게 키우냐?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Noto Sans KR"/>
              </a:defRPr>
            </a:pPr>
            <a:r>
              <a:t>카카오 AI 부트캠프, 비트캠프 경험 → 취업 목적 교육은 구조가 다르다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Noto Sans KR"/>
              </a:defRPr>
            </a:pPr>
            <a:r>
              <a:t>그 경험을 바탕으로 교수님과 함께 HEART Lab 교육 커리큘럼을 개선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13B94"/>
                </a:solidFill>
                <a:latin typeface="Noto Sans KR"/>
              </a:defRPr>
            </a:pPr>
            <a:r>
              <a:t>목표:  문제를 던지면 해결할 수 있는 AI 개발자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34640"/>
            <a:ext cx="3566160" cy="274320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DDFF"/>
                </a:solidFill>
                <a:latin typeface="Noto Sans KR"/>
              </a:defRPr>
            </a:pPr>
            <a:r>
              <a:t>1단계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KR"/>
              </a:defRPr>
            </a:pPr>
            <a:r>
              <a:t>문제 해결 사고 훈련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Noto Sans KR"/>
              </a:defRPr>
            </a:pPr>
            <a:r>
              <a:t>"이 문제 어떻게 풀래?"</a:t>
            </a:r>
            <a:br/>
            <a:r>
              <a:t>가 바로 떠오를 때까지</a:t>
            </a:r>
            <a:br/>
            <a:r>
              <a:t>반복 훈련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834640"/>
            <a:ext cx="3566160" cy="2743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9260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DDFF"/>
                </a:solidFill>
                <a:latin typeface="Noto Sans KR"/>
              </a:defRPr>
            </a:pPr>
            <a:r>
              <a:t>2단계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2918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KR"/>
              </a:defRPr>
            </a:pPr>
            <a:r>
              <a:t>모델을 도구로 쓰는 능력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9319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Noto Sans KR"/>
              </a:defRPr>
            </a:pPr>
            <a:r>
              <a:t>"YOLO 써봤습니다" X</a:t>
            </a:r>
            <a:br/>
            <a:r>
              <a:t>"이 문제에 왜 YOLO인지"</a:t>
            </a:r>
            <a:br/>
            <a:r>
              <a:t>설명할 수 있는 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834640"/>
            <a:ext cx="3566160" cy="2743200"/>
          </a:xfrm>
          <a:prstGeom prst="round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9260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DDFF"/>
                </a:solidFill>
                <a:latin typeface="Noto Sans KR"/>
              </a:defRPr>
            </a:pPr>
            <a:r>
              <a:t>3단계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2918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KR"/>
              </a:defRPr>
            </a:pPr>
            <a:r>
              <a:t>서비스를 만드는 능력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9319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Noto Sans KR"/>
              </a:defRPr>
            </a:pPr>
            <a:r>
              <a:t>챗봇 웹사이트</a:t>
            </a:r>
            <a:br/>
            <a:r>
              <a:t>실시간 객체 탐지</a:t>
            </a:r>
            <a:br/>
            <a:r>
              <a:t>12주면 혼자 구현 가능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5852160"/>
            <a:ext cx="8503920" cy="4572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58521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Noto Sans KR"/>
              </a:defRPr>
            </a:pPr>
            <a:r>
              <a:t>부트캠프 6개월 → 12주 압축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HEART Lab + 학석사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03520" cy="109728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1년을 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DDFF"/>
                </a:solidFill>
                <a:latin typeface="Noto Sans KR"/>
              </a:defRPr>
            </a:pPr>
            <a:r>
              <a:t>학부 4년 + 석사 2년 = 6년   →   학석사 = 5년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51760"/>
            <a:ext cx="5303520" cy="1554480"/>
          </a:xfrm>
          <a:prstGeom prst="round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돈 받으면서 다닌다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918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학석사:  월 130만원</a:t>
            </a:r>
          </a:p>
          <a:p>
            <a:pPr>
              <a:spcAft>
                <a:spcPts val="300"/>
              </a:spcAft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석사 과정:  월 230만원</a:t>
            </a:r>
          </a:p>
          <a:p>
            <a:pPr>
              <a:spcAft>
                <a:spcPts val="300"/>
              </a:spcAft>
              <a:defRPr sz="1600" b="1">
                <a:solidFill>
                  <a:srgbClr val="FFFFFF"/>
                </a:solidFill>
                <a:latin typeface="Noto Sans KR"/>
              </a:defRPr>
            </a:pPr>
            <a:r>
              <a:t>지원금 최대 지급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389120"/>
            <a:ext cx="5303520" cy="109728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4805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oto Sans KR"/>
              </a:defRPr>
            </a:pPr>
            <a:r>
              <a:t>바로 취업 = 신입  →  학석사 = 주니어급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83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Noto Sans KR"/>
              </a:defRPr>
            </a:pPr>
            <a:r>
              <a:t>시간 낭비가 아니라 가장 효율적인 투자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371600"/>
            <a:ext cx="5394960" cy="411480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13B94"/>
                </a:solidFill>
                <a:latin typeface="Noto Sans KR"/>
              </a:defRPr>
            </a:pPr>
            <a:r>
              <a:t>궁금하면?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194560"/>
            <a:ext cx="4480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13B94"/>
                </a:solidFill>
                <a:latin typeface="Noto Sans KR"/>
              </a:defRPr>
            </a:pPr>
            <a:r>
              <a:t>연구실 견학 한번 와보세요</a:t>
            </a:r>
          </a:p>
          <a:p>
            <a:pPr>
              <a:spcAft>
                <a:spcPts val="600"/>
              </a:spcAft>
              <a:defRPr sz="1700" b="0">
                <a:solidFill>
                  <a:srgbClr val="013B94"/>
                </a:solidFill>
                <a:latin typeface="Noto Sans KR"/>
              </a:defRPr>
            </a:pPr>
            <a:r>
              <a:t>실제로 뭘 하는지 보면 감이 옵니다</a:t>
            </a:r>
          </a:p>
          <a:p>
            <a:pPr>
              <a:spcAft>
                <a:spcPts val="600"/>
              </a:spcAft>
              <a:defRPr sz="1700" b="0">
                <a:solidFill>
                  <a:srgbClr val="013B94"/>
                </a:solidFill>
                <a:latin typeface="Noto Sans KR"/>
              </a:defRPr>
            </a:pPr>
          </a:p>
          <a:p>
            <a:pPr>
              <a:spcAft>
                <a:spcPts val="600"/>
              </a:spcAft>
              <a:defRPr sz="1700" b="1">
                <a:solidFill>
                  <a:srgbClr val="013B94"/>
                </a:solidFill>
                <a:latin typeface="Noto Sans KR"/>
              </a:defRPr>
            </a:pPr>
            <a:r>
              <a:t>학부연구생으로 한 학기 해보고</a:t>
            </a:r>
          </a:p>
          <a:p>
            <a:pPr>
              <a:spcAft>
                <a:spcPts val="600"/>
              </a:spcAft>
              <a:defRPr sz="1700" b="0">
                <a:solidFill>
                  <a:srgbClr val="013B94"/>
                </a:solidFill>
                <a:latin typeface="Noto Sans KR"/>
              </a:defRPr>
            </a:pPr>
            <a:r>
              <a:t>결정해도 됩니다</a:t>
            </a:r>
          </a:p>
          <a:p>
            <a:pPr>
              <a:spcAft>
                <a:spcPts val="600"/>
              </a:spcAft>
              <a:defRPr sz="1700" b="0">
                <a:solidFill>
                  <a:srgbClr val="013B94"/>
                </a:solidFill>
                <a:latin typeface="Noto Sans KR"/>
              </a:defRPr>
            </a:pPr>
          </a:p>
          <a:p>
            <a:pPr>
              <a:spcAft>
                <a:spcPts val="600"/>
              </a:spcAft>
              <a:defRPr sz="1700" b="0">
                <a:solidFill>
                  <a:srgbClr val="013B94"/>
                </a:solidFill>
                <a:latin typeface="Noto Sans KR"/>
              </a:defRPr>
            </a:pPr>
          </a:p>
          <a:p>
            <a:pPr>
              <a:spcAft>
                <a:spcPts val="600"/>
              </a:spcAft>
              <a:defRPr sz="1700" b="0">
                <a:solidFill>
                  <a:srgbClr val="013B94"/>
                </a:solidFill>
                <a:latin typeface="Noto Sans KR"/>
              </a:defRPr>
            </a:pPr>
            <a:r>
              <a:t>(연락처 / QR코드)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Noto Sans KR"/>
              </a:defRPr>
            </a:pPr>
            <a:r>
              <a:t>문제를 던지면 해결할 수 있는 사람이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Noto Sans KR"/>
              </a:defRPr>
            </a:pPr>
            <a:r>
              <a:t>살아남는다.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931920"/>
            <a:ext cx="3931920" cy="27432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6B7FE"/>
                </a:solidFill>
                <a:latin typeface="Noto Sans KR"/>
              </a:defRPr>
            </a:pPr>
            <a:r>
              <a:t>HEART Lab  |  세종대학교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77AA"/>
                </a:solidFill>
                <a:latin typeface="Noto Sans KR"/>
              </a:defRPr>
            </a:pPr>
            <a:r>
              <a:t>Human Emotion and Intelligent Agent Research for Future Transformation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7765</TotalTime>
  <Words>3290</Words>
  <Application>Microsoft Office PowerPoint</Application>
  <PresentationFormat>와이드스크린</PresentationFormat>
  <Paragraphs>675</Paragraphs>
  <Slides>32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8" baseType="lpstr">
      <vt:lpstr>Arial</vt:lpstr>
      <vt:lpstr>Calibri</vt:lpstr>
      <vt:lpstr>Noto Sans KR</vt:lpstr>
      <vt:lpstr>Wingdings</vt:lpstr>
      <vt:lpstr>맑은 고딕</vt:lpstr>
      <vt:lpstr>Office 테마</vt:lpstr>
      <vt:lpstr>PowerPoint 프레젠테이션</vt:lpstr>
      <vt:lpstr>PowerPoint 프레젠테이션</vt:lpstr>
      <vt:lpstr>1. 오디오 딥러닝 구현</vt:lpstr>
      <vt:lpstr>1. 오디오 딥러닝 구현</vt:lpstr>
      <vt:lpstr>1. 오디오 딥러닝 구현</vt:lpstr>
      <vt:lpstr>2. 코드 기반 실습 및 응용 - 데이터 준비 </vt:lpstr>
      <vt:lpstr>2. 코드 기반 실습 및 응용 - 데이터 준비 </vt:lpstr>
      <vt:lpstr>2. 코드 기반 실습 및 응용 - 데이터 준비 </vt:lpstr>
      <vt:lpstr>2. 코드 기반 실습 및 응용 - 데이터 준비 </vt:lpstr>
      <vt:lpstr>2. 코드 기반 실습 및 응용 - 데이터 준비 </vt:lpstr>
      <vt:lpstr>2. 코드 기반 실습 및 응용 - 데이터 준비 </vt:lpstr>
      <vt:lpstr>2. 코드 기반 실습 및 응용 - 데이터 전처리 </vt:lpstr>
      <vt:lpstr>2. 코드 기반 실습 및 응용 - 데이터 전처리 </vt:lpstr>
      <vt:lpstr>2. 코드 기반 실습 및 응용 - 데이터 전처리 </vt:lpstr>
      <vt:lpstr>2. 코드 기반 실습 및 응용 - 데이터 전처리 </vt:lpstr>
      <vt:lpstr>2. 코드 기반 실습 및 응용 - 데이터 전처리 </vt:lpstr>
      <vt:lpstr>2. 코드 기반 실습 및 응용 - 데이터 전처리 </vt:lpstr>
      <vt:lpstr>2. 코드 기반 실습 및 응용 – 데이터 전처리</vt:lpstr>
      <vt:lpstr>2. 코드 기반 실습 및 응용 – 데이터 전처리</vt:lpstr>
      <vt:lpstr>2. 코드 기반 실습 및 응용 - 모델 구현 </vt:lpstr>
      <vt:lpstr>2. 코드 기반 실습 및 응용 - 모델 구현 </vt:lpstr>
      <vt:lpstr>2. 코드 기반 실습 및 응용 - 모델 구현 </vt:lpstr>
      <vt:lpstr>2. 코드 기반 실습 및 응용 - 모델 구현 </vt:lpstr>
      <vt:lpstr>2. 코드 기반 실습 및 응용 - 모델 구현 </vt:lpstr>
      <vt:lpstr>2. 코드 기반 실습 및 응용 - 학습 및 평가 </vt:lpstr>
      <vt:lpstr>2. 코드 기반 실습 및 응용 - 학습 및 평가 </vt:lpstr>
      <vt:lpstr>2. 코드 기반 실습 및 응용 - 학습 및 평가 </vt:lpstr>
      <vt:lpstr>3. Homework</vt:lpstr>
      <vt:lpstr>3. Homework</vt:lpstr>
      <vt:lpstr>3. Homework</vt:lpstr>
      <vt:lpstr>VSCode에서 작업 폴더 열기와 파일 생성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고봉균</cp:lastModifiedBy>
  <cp:revision>1305</cp:revision>
  <dcterms:created xsi:type="dcterms:W3CDTF">2025-07-29T08:28:03Z</dcterms:created>
  <dcterms:modified xsi:type="dcterms:W3CDTF">2026-03-18T04:10:04Z</dcterms:modified>
</cp:coreProperties>
</file>