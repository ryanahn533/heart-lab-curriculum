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6A300"/>
    <a:srgbClr val="406259"/>
    <a:srgbClr val="AC8300"/>
    <a:srgbClr val="5A8A7D"/>
    <a:srgbClr val="FFFF00"/>
    <a:srgbClr val="A0AEC0"/>
    <a:srgbClr val="257993"/>
    <a:srgbClr val="F4D862"/>
    <a:srgbClr val="F9E7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3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C6C57-A6D6-4DE1-9466-2D69169593DE}" type="datetimeFigureOut">
              <a:rPr lang="ko-KR" altLang="en-US" smtClean="0"/>
              <a:t>2026-03-22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21BE2-FB9D-45E9-8320-BE51746B0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730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383F52A4-4167-BE6C-0C34-FBFE1AF2522D}"/>
              </a:ext>
            </a:extLst>
          </p:cNvPr>
          <p:cNvSpPr/>
          <p:nvPr userDrawn="1"/>
        </p:nvSpPr>
        <p:spPr>
          <a:xfrm>
            <a:off x="0" y="0"/>
            <a:ext cx="12192000" cy="818804"/>
          </a:xfrm>
          <a:prstGeom prst="rect">
            <a:avLst/>
          </a:prstGeom>
          <a:solidFill>
            <a:srgbClr val="F6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948175-77A1-04C6-D1FD-F48619C880D6}"/>
              </a:ext>
            </a:extLst>
          </p:cNvPr>
          <p:cNvSpPr/>
          <p:nvPr userDrawn="1"/>
        </p:nvSpPr>
        <p:spPr>
          <a:xfrm>
            <a:off x="0" y="773085"/>
            <a:ext cx="12192000" cy="45719"/>
          </a:xfrm>
          <a:prstGeom prst="rect">
            <a:avLst/>
          </a:prstGeom>
          <a:solidFill>
            <a:srgbClr val="0042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2103F0D4-40E7-1246-3E3D-783D4633D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136342"/>
            <a:ext cx="11353800" cy="5305586"/>
          </a:xfrm>
        </p:spPr>
        <p:txBody>
          <a:bodyPr>
            <a:normAutofit/>
          </a:bodyPr>
          <a:lstStyle>
            <a:lvl1pPr marL="228600" indent="-228600">
              <a:buFont typeface="Arial" panose="020B0604020202020204" pitchFamily="34" charset="0"/>
              <a:buChar char="•"/>
              <a:defRPr sz="20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>
              <a:defRPr sz="1600">
                <a:latin typeface="Noto Sans KR" panose="020B0200000000000000" pitchFamily="50" charset="-127"/>
                <a:ea typeface="Noto Sans KR" panose="020B0200000000000000" pitchFamily="50" charset="-127"/>
              </a:defRPr>
            </a:lvl2pPr>
            <a:lvl3pPr>
              <a:defRPr sz="1400">
                <a:latin typeface="Noto Sans KR" panose="020B0200000000000000" pitchFamily="50" charset="-127"/>
                <a:ea typeface="Noto Sans KR" panose="020B0200000000000000" pitchFamily="50" charset="-127"/>
              </a:defRPr>
            </a:lvl3pPr>
            <a:lvl4pPr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4pPr>
            <a:lvl5pPr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85064-D7E3-7404-2274-65B5EEEC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>
              <a:defRPr sz="1800" b="1"/>
            </a:lvl1pPr>
          </a:lstStyle>
          <a:p>
            <a:fld id="{2D073BAB-F947-4405-BF35-5CE8AFC7B1D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62609C4A-6649-54C7-258F-2DC633C70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950" y="63694"/>
            <a:ext cx="10103648" cy="709391"/>
          </a:xfrm>
        </p:spPr>
        <p:txBody>
          <a:bodyPr>
            <a:normAutofit/>
          </a:bodyPr>
          <a:lstStyle>
            <a:lvl1pPr>
              <a:defRPr sz="2800" b="1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A7C4AD4-F5ED-0AAC-1A1E-C9AF1C0A33F8}"/>
              </a:ext>
            </a:extLst>
          </p:cNvPr>
          <p:cNvGrpSpPr/>
          <p:nvPr userDrawn="1"/>
        </p:nvGrpSpPr>
        <p:grpSpPr>
          <a:xfrm>
            <a:off x="10524598" y="235856"/>
            <a:ext cx="1382890" cy="308295"/>
            <a:chOff x="10524598" y="236977"/>
            <a:chExt cx="1382890" cy="30829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9E69938-5676-E435-A658-4C406829F560}"/>
                </a:ext>
              </a:extLst>
            </p:cNvPr>
            <p:cNvSpPr txBox="1"/>
            <p:nvPr/>
          </p:nvSpPr>
          <p:spPr>
            <a:xfrm>
              <a:off x="10809110" y="236977"/>
              <a:ext cx="1098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13B9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HEART Lab</a:t>
              </a:r>
              <a:endParaRPr lang="ko-KR" altLang="en-US" sz="1400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21" name="Picture 6">
              <a:extLst>
                <a:ext uri="{FF2B5EF4-FFF2-40B4-BE49-F238E27FC236}">
                  <a16:creationId xmlns:a16="http://schemas.microsoft.com/office/drawing/2014/main" id="{680A0C3F-4CFE-71AC-AF77-E7C60C440D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duotone>
                <a:prstClr val="black"/>
                <a:srgbClr val="5D78A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" r="91943" b="18256"/>
            <a:stretch>
              <a:fillRect/>
            </a:stretch>
          </p:blipFill>
          <p:spPr bwMode="auto">
            <a:xfrm>
              <a:off x="10524598" y="259861"/>
              <a:ext cx="334713" cy="285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8097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2AD7C-D5CC-DEDC-1E74-880CABFD3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68C3CAA-0AAB-4106-A42E-66B41FEFD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F3899-C826-B199-4093-C2E82AFA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7B4072-FD41-EBC2-EF25-C9A86B866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C72C32-A0E2-28CF-D3EF-28F4E5A89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27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8AD1F0-8939-BA3A-34A9-349554873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4E9E97-6B6D-36A1-B8E5-87F5CB46C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85327-6A8B-7398-1545-78C96F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2767B7-4D3E-6CBB-8833-D589BFAF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85064-D7E3-7404-2274-65B5EEEC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054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A2876-06A8-43D3-9AB3-1FA1E1362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A10778-0F73-94D7-A6FC-2526EE39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F6B77C-C40E-6BBF-A188-8859E8A9B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7249E6-A4B6-56AE-2F87-210C997F7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A41139-FAD5-C8E2-590F-2C34428C7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879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5C0CF-570B-FAD4-6DDC-161414AB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77B021-E3A7-88AD-F2C4-E8F9A7743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9FB538-5B2E-915D-F292-9C3A7D6E5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C85514-70A8-EE8D-D38A-25A090F9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A39419-7469-B93B-A530-6423CC2F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F88CF6-26A3-8ABE-B37E-3DD66202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49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F985A-752C-5533-78F0-2966D3393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813A11-8624-9483-86CA-BDDB35145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7E0471-E237-8490-D749-D52F62A45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9FCB37-A237-2625-5013-D40ACB911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16E00D-4019-12FB-DCC5-30B9C95B0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DE5F86-046A-E54B-62FF-7784A6D62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237855-DF4D-2403-6322-04F38F0F0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4C7A5A9-FEA3-B117-6153-4C30C0796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570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67B565-AEEB-3A72-3CCF-31F7507AC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D5FB16-844E-59CC-9D90-4B6D0EA74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B1B32D9-EDA5-9A90-ED4B-C45416482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E1CB97-DADF-76D0-ED98-76F232B8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4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38EA502-A711-62E3-ECD2-AE9BA3788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9969E2-F331-BBBF-92B5-73468F1C4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AFE645-14D3-DF75-EE27-1DC537013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901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8AC59-1580-F3AF-D5C4-24575B24B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496DA0-621E-7368-C54A-C08F4757B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2553C9-98FE-B6B9-A86F-A359B92D4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51FA90-5889-FC3B-587E-892E9B7AA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8D7A89-78DE-EF34-D013-91D88C41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53FAEA-788E-13FD-BBF4-AE84A8B45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597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974901-D00D-E8C4-FD77-FA7896FA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DDBA276-C3B8-54D3-5607-7069F9D9B3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2D4F79-D0C9-AEEF-7604-8C828B1E9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F3861-148A-3BEE-6A70-EECEC1A31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87C410-A446-6F41-7902-2084E4FC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8B4C10-61CA-E84F-FB62-64795544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204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07BB7-AA90-7550-2DEC-25CB5278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E4F7F4-6378-1F8C-3DFE-D36DABCEF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49C5C2-4072-ED4D-D21C-5E74D6B5E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FF3088-5582-1690-94AF-BA59ED39F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8BB330-ADA6-5F3C-1EE9-C86F9516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305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745AD7-0275-1507-264B-EB4EA470B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F84FA7-C90C-1974-88BA-253DB43D0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8AC28D-616D-1CBB-D765-3C203E4E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978735-343F-19AA-29B4-5D670C0EC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BBB36F-0F42-5531-EB11-095C3E5D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8087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0A365E-AC0E-4D2E-8CDF-506843DA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9E58F7-B9A7-195D-E63B-F2956E401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2BCCAD-67CA-F2C4-93B2-09344CC8F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FB35E7-2609-0BF1-3A65-F13305A57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1FF3D9-5BBD-E7B8-2B94-93F5667FC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73BAB-F947-4405-BF35-5CE8AFC7B1D6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DE6838D-7298-0263-413F-B9986AA0E298}"/>
              </a:ext>
            </a:extLst>
          </p:cNvPr>
          <p:cNvGrpSpPr/>
          <p:nvPr userDrawn="1"/>
        </p:nvGrpSpPr>
        <p:grpSpPr>
          <a:xfrm>
            <a:off x="10524598" y="235856"/>
            <a:ext cx="1382890" cy="308295"/>
            <a:chOff x="10524598" y="236977"/>
            <a:chExt cx="1382890" cy="30829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E06ED09-7217-57E5-5A7C-320B4359B648}"/>
                </a:ext>
              </a:extLst>
            </p:cNvPr>
            <p:cNvSpPr txBox="1"/>
            <p:nvPr/>
          </p:nvSpPr>
          <p:spPr>
            <a:xfrm>
              <a:off x="10809110" y="236977"/>
              <a:ext cx="10983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013B94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HEART Lab</a:t>
              </a:r>
              <a:endParaRPr lang="ko-KR" altLang="en-US" sz="1400" dirty="0">
                <a:solidFill>
                  <a:srgbClr val="013B94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2" name="Picture 6">
              <a:extLst>
                <a:ext uri="{FF2B5EF4-FFF2-40B4-BE49-F238E27FC236}">
                  <a16:creationId xmlns:a16="http://schemas.microsoft.com/office/drawing/2014/main" id="{40FC96E2-F531-A2ED-3BD5-F90CA88113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duotone>
                <a:prstClr val="black"/>
                <a:srgbClr val="5D78A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" r="91943" b="18256"/>
            <a:stretch>
              <a:fillRect/>
            </a:stretch>
          </p:blipFill>
          <p:spPr bwMode="auto">
            <a:xfrm>
              <a:off x="10524598" y="259861"/>
              <a:ext cx="334713" cy="285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0461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800000"/>
            <a:ext cx="97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HEART Lab AI Curriculum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3240000"/>
            <a:ext cx="9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  <a:latin typeface="맑은 고딕"/>
              </a:defRPr>
            </a:pPr>
            <a:r>
              <a:t>신입 연구원 AI 교육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4320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맑은 고딕"/>
              </a:defRPr>
            </a:pPr>
            <a:r>
              <a:t>안준영  |  세종대학교 HEART Lab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8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BE3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맑은 고딕"/>
              </a:defRPr>
            </a:pPr>
            <a:r>
              <a:t>교육 이념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D5BE3"/>
                </a:solidFill>
                <a:latin typeface="맑은 고딕"/>
              </a:defRPr>
            </a:pPr>
            <a:r>
              <a:t>"AI로 문제를 풀 수 있는 사람을 만든다"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160000"/>
            <a:ext cx="468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  <a:latin typeface="맑은 고딕"/>
              </a:defRPr>
            </a:pPr>
            <a:r>
              <a:t>시장 현실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AI 경력직 요구: 54% → 80.6%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2026년 신입 채용: 12.4%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기업은 바로 투입 가능한 사람만 원함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0" y="2160000"/>
            <a:ext cx="468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BE3"/>
                </a:solidFill>
                <a:latin typeface="맑은 고딕"/>
              </a:defRPr>
            </a:pPr>
            <a:r>
              <a:t>바로 투입이란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"YOLO 써봤습니다" X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"왜 YOLO인지 설명 + 설계 + 구현" O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코딩은 기본, 뭘 만들지 아는 것까지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8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BE3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맑은 고딕"/>
              </a:defRPr>
            </a:pPr>
            <a:r>
              <a:t>Top-Down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First Principles — 근본으로 돌아가서 문제를 재정의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980000"/>
            <a:ext cx="468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BE3"/>
                </a:solidFill>
                <a:latin typeface="맑은 고딕"/>
              </a:defRPr>
            </a:pPr>
            <a:r>
              <a:t>연구에서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기존 DMS: 졸음 감지, 주시 이탈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→ "왜 졸음만 보지?"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→ 근본 원인 = 감정 변화 누적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→ Frustration 기반 재정의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→ 현대차와 협업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0" y="1980000"/>
            <a:ext cx="468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BE3"/>
                </a:solidFill>
                <a:latin typeface="맑은 고딕"/>
              </a:defRPr>
            </a:pPr>
            <a:r>
              <a:t>교육에서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수학부터 X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일단 돌려보고 결과 확인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→ "왜 이렇게 되지?" 파고듦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→ 필요한 이론을 역추적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→ 이해한 후 다시 코드로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8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BE3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맑은 고딕"/>
              </a:defRPr>
            </a:pPr>
            <a:r>
              <a:t>3단계 성장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260000"/>
            <a:ext cx="324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BE3"/>
                </a:solidFill>
                <a:latin typeface="맑은 고딕"/>
              </a:defRPr>
            </a:pPr>
            <a:r>
              <a:t>1단계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문제 해결 사고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"이 문제 어떻게 풀래?"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바로 떠오를 때까지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반복 훈련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Phase 2~3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0" y="1260000"/>
            <a:ext cx="324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BE3"/>
                </a:solidFill>
                <a:latin typeface="맑은 고딕"/>
              </a:defRPr>
            </a:pPr>
            <a:r>
              <a:t>2단계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모델을 도구로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"이 문제에 왜 이 모델?"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설명할 수 있는 것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Phase 4~8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0" y="1260000"/>
            <a:ext cx="324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BE3"/>
                </a:solidFill>
                <a:latin typeface="맑은 고딕"/>
              </a:defRPr>
            </a:pPr>
            <a:r>
              <a:t>3단계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서비스 구현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챗봇, 실시간 탐지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혼자 만들 수 있는 것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Phase 9~10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8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BE3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맑은 고딕"/>
              </a:defRPr>
            </a:pPr>
            <a:r>
              <a:t>코드 5대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126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BE3"/>
                </a:solidFill>
                <a:latin typeface="맑은 고딕"/>
              </a:defRPr>
            </a:pPr>
            <a:r>
              <a:t>구조 통일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0" y="126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모든 코드가 #0→#1→#2→#3→#4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052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BE3"/>
                </a:solidFill>
                <a:latin typeface="맑은 고딕"/>
              </a:defRPr>
            </a:pPr>
            <a:r>
              <a:t>하나만 바뀐다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0000" y="2052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이전 코드에서 변경은 항상 1개 섹션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2844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BE3"/>
                </a:solidFill>
                <a:latin typeface="맑은 고딕"/>
              </a:defRPr>
            </a:pPr>
            <a:r>
              <a:t>같은 데이터, 다른 기법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0000" y="2844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5개 데이터셋 끝까지 반복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3636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BE3"/>
                </a:solidFill>
                <a:latin typeface="맑은 고딕"/>
              </a:defRPr>
            </a:pPr>
            <a:r>
              <a:t>간결하게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0000" y="3636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TF2/Keras 간결한 API만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4428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BE3"/>
                </a:solidFill>
                <a:latin typeface="맑은 고딕"/>
              </a:defRPr>
            </a:pPr>
            <a:r>
              <a:t>60~120줄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0000" y="4428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맑은 고딕"/>
              </a:defRPr>
            </a:pPr>
            <a:r>
              <a:t>파일당 최대 120줄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8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BE3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맑은 고딕"/>
              </a:defRPr>
            </a:pPr>
            <a:r>
              <a:t>코드 뼈대 — 모든 파일이 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1080000"/>
            <a:ext cx="93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#0. 라이브러리</a:t>
            </a:r>
            <a:br/>
            <a:r>
              <a:t>    from tensorflow.keras.models import Sequential</a:t>
            </a:r>
            <a:br/>
            <a:r>
              <a:t>    from sklearn.model_selection import train_test_split</a:t>
            </a:r>
            <a:br/>
            <a:br/>
            <a:r>
              <a:t>#1. 데이터</a:t>
            </a:r>
            <a:br/>
            <a:r>
              <a:t>    x, y = load_boston().data, load_boston().target</a:t>
            </a:r>
            <a:br/>
            <a:br/>
            <a:r>
              <a:t>#2. 데이터 전처리 및 분할</a:t>
            </a:r>
            <a:br/>
            <a:r>
              <a:t>    x_train, x_test = train_test_split(...)</a:t>
            </a:r>
            <a:br/>
            <a:r>
              <a:t>    scaler.fit_transform(x_train)</a:t>
            </a:r>
            <a:br/>
            <a:br/>
            <a:r>
              <a:t>#3. 모델</a:t>
            </a:r>
            <a:br/>
            <a:r>
              <a:t>    model = Sequential()</a:t>
            </a:r>
            <a:br/>
            <a:r>
              <a:t>    model.add(Dense(64, activation='relu'))</a:t>
            </a:r>
            <a:br/>
            <a:r>
              <a:t>    model.compile(loss='mse', optimizer='adam')</a:t>
            </a:r>
            <a:br/>
            <a:r>
              <a:t>    model.fit(x_train, y_train, epochs=100)</a:t>
            </a:r>
            <a:br/>
            <a:br/>
            <a:r>
              <a:t>#4. 평가</a:t>
            </a:r>
            <a:br/>
            <a:r>
              <a:t>    loss = model.evaluate(x_test, y_test)</a:t>
            </a:r>
            <a:br/>
            <a:r>
              <a:t>    y_pred = model.predict(x_test)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8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BE3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맑은 고딕"/>
              </a:defRPr>
            </a:pPr>
            <a:r>
              <a:t>전체 로드맵 — Phase 0~10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맑은 고딕"/>
              </a:defRPr>
            </a:pPr>
            <a:r>
              <a:t>Phase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0000" y="108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맑은 고딕"/>
              </a:defRPr>
            </a:pPr>
            <a:r>
              <a:t>왜 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80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66"/>
                </a:solidFill>
                <a:latin typeface="맑은 고딕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180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맑은 고딕"/>
              </a:defRPr>
            </a:pPr>
            <a:r>
              <a:t>통계/수학 기초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52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BE3"/>
                </a:solidFill>
                <a:latin typeface="맑은 고딕"/>
              </a:defRPr>
            </a:pPr>
            <a: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0000" y="252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맑은 고딕"/>
              </a:defRPr>
            </a:pPr>
            <a:r>
              <a:t>돌려봐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24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BE3"/>
                </a:solidFill>
                <a:latin typeface="맑은 고딕"/>
              </a:defRPr>
            </a:pPr>
            <a:r>
              <a:t>Phase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0000" y="324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맑은 고딕"/>
              </a:defRPr>
            </a:pPr>
            <a:r>
              <a:t>왜 안 되지?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96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BE3"/>
                </a:solidFill>
                <a:latin typeface="맑은 고딕"/>
              </a:defRPr>
            </a:pPr>
            <a:r>
              <a:t>Phase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0000" y="396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맑은 고딕"/>
              </a:defRPr>
            </a:pPr>
            <a:r>
              <a:t>저장,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468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BE3"/>
                </a:solidFill>
                <a:latin typeface="맑은 고딕"/>
              </a:defRPr>
            </a:pPr>
            <a:r>
              <a:t>Phase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0000" y="468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맑은 고딕"/>
              </a:defRPr>
            </a:pPr>
            <a:r>
              <a:t>이미지 (CNN)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0" y="108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BE3"/>
                </a:solidFill>
                <a:latin typeface="맑은 고딕"/>
              </a:defRPr>
            </a:pPr>
            <a:r>
              <a:t>Phase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0" y="108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맑은 고딕"/>
              </a:defRPr>
            </a:pPr>
            <a:r>
              <a:t>시계열 (RNN)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0000" y="180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BE3"/>
                </a:solidFill>
                <a:latin typeface="맑은 고딕"/>
              </a:defRPr>
            </a:pPr>
            <a:r>
              <a:t>Phase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0" y="180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맑은 고딕"/>
              </a:defRPr>
            </a:pPr>
            <a:r>
              <a:t>NLP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0000" y="252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BE3"/>
                </a:solidFill>
                <a:latin typeface="맑은 고딕"/>
              </a:defRPr>
            </a:pPr>
            <a:r>
              <a:t>Phase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0" y="252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맑은 고딕"/>
              </a:defRPr>
            </a:pPr>
            <a:r>
              <a:t>성능 올리기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0000" y="324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BE3"/>
                </a:solidFill>
                <a:latin typeface="맑은 고딕"/>
              </a:defRPr>
            </a:pPr>
            <a:r>
              <a:t>Phase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0000" y="324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맑은 고딕"/>
              </a:defRPr>
            </a:pPr>
            <a:r>
              <a:t>ML 기본기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0" y="3960000"/>
            <a:ext cx="1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5BE3"/>
                </a:solidFill>
                <a:latin typeface="맑은 고딕"/>
              </a:defRPr>
            </a:pPr>
            <a:r>
              <a:t>Phase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0000" y="396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맑은 고딕"/>
              </a:defRPr>
            </a:pPr>
            <a:r>
              <a:t>PyTorch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" y="558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TF2/Keras (Phase 0~8)  →  sklearn (Phase 9)  →  PyTorch (Phase 10)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8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BE3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맑은 고딕"/>
              </a:defRPr>
            </a:pPr>
            <a:r>
              <a:t>"하나만 바뀐다" — 학습의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BE3"/>
                </a:solidFill>
                <a:latin typeface="맑은 고딕"/>
              </a:defRPr>
            </a:pPr>
            <a:r>
              <a:t>02 기본 회귀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0000" y="1080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#0~#4 뼈대 자체를 익힘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40000" y="1080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3333"/>
                </a:solidFill>
                <a:latin typeface="맑은 고딕"/>
              </a:defRPr>
            </a:pPr>
            <a: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692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BE3"/>
                </a:solidFill>
                <a:latin typeface="맑은 고딕"/>
              </a:defRPr>
            </a:pPr>
            <a:r>
              <a:t>03 다중입력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0000" y="1692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#3에 레이어 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0" y="1692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3333"/>
                </a:solidFill>
                <a:latin typeface="맑은 고딕"/>
              </a:defRPr>
            </a:pPr>
            <a:r>
              <a:t>#3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304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BE3"/>
                </a:solidFill>
                <a:latin typeface="맑은 고딕"/>
              </a:defRPr>
            </a:pPr>
            <a:r>
              <a:t>04 train/test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0000" y="2304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#2에 split 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0000" y="2304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3333"/>
                </a:solidFill>
                <a:latin typeface="맑은 고딕"/>
              </a:defRPr>
            </a:pPr>
            <a:r>
              <a:t>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2916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BE3"/>
                </a:solidFill>
                <a:latin typeface="맑은 고딕"/>
              </a:defRPr>
            </a:pPr>
            <a:r>
              <a:t>06 EarlyStopping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0000" y="2916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#3에 콜백 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0000" y="2916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3333"/>
                </a:solidFill>
                <a:latin typeface="맑은 고딕"/>
              </a:defRPr>
            </a:pPr>
            <a:r>
              <a:t>#3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3528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BE3"/>
                </a:solidFill>
                <a:latin typeface="맑은 고딕"/>
              </a:defRPr>
            </a:pPr>
            <a:r>
              <a:t>07 이진분류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0000" y="3528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#3에 sigmoid + loss 변경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0000" y="3528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3333"/>
                </a:solidFill>
                <a:latin typeface="맑은 고딕"/>
              </a:defRPr>
            </a:pPr>
            <a:r>
              <a:t>#3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140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BE3"/>
                </a:solidFill>
                <a:latin typeface="맑은 고딕"/>
              </a:defRPr>
            </a:pPr>
            <a:r>
              <a:t>09 Scaler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0000" y="4140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#2에 StandardScaler 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0000" y="4140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3333"/>
                </a:solidFill>
                <a:latin typeface="맑은 고딕"/>
              </a:defRPr>
            </a:pPr>
            <a:r>
              <a:t>#2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4752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BE3"/>
                </a:solidFill>
                <a:latin typeface="맑은 고딕"/>
              </a:defRPr>
            </a:pPr>
            <a:r>
              <a:t>13 CNN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0000" y="4752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#1 이미지, #2 reshape, #3 Conv2D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0000" y="4752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3333"/>
                </a:solidFill>
                <a:latin typeface="맑은 고딕"/>
              </a:defRPr>
            </a:pPr>
            <a:r>
              <a:t>#1,#2,#3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00" y="5364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5BE3"/>
                </a:solidFill>
                <a:latin typeface="맑은 고딕"/>
              </a:defRPr>
            </a:pPr>
            <a:r>
              <a:t>17 LSTM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0000" y="5364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맑은 고딕"/>
              </a:defRPr>
            </a:pPr>
            <a:r>
              <a:t>#3에 RNN → LSTM 교체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0000" y="5364000"/>
            <a:ext cx="1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C3333"/>
                </a:solidFill>
                <a:latin typeface="맑은 고딕"/>
              </a:defRPr>
            </a:pPr>
            <a:r>
              <a:t>#3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8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BE3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맑은 고딕"/>
              </a:defRPr>
            </a:pPr>
            <a:r>
              <a:t>이론 학습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5BE3"/>
                </a:solidFill>
                <a:latin typeface="맑은 고딕"/>
              </a:defRPr>
            </a:pPr>
            <a:r>
              <a:t>영상 (직관)  →  블로그 리뷰 (정리)  →  논문 (원본)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80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C3333"/>
                </a:solidFill>
                <a:latin typeface="맑은 고딕"/>
              </a:defRPr>
            </a:pPr>
            <a:r>
              <a:t>절대 논문부터 읽지 마라.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324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5BE3"/>
                </a:solidFill>
                <a:latin typeface="맑은 고딕"/>
              </a:defRPr>
            </a:pPr>
            <a:r>
              <a:t>1순위: 3Blue1Brown</a:t>
            </a: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  <a:r>
              <a:t>시각적 직관 최강</a:t>
            </a: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  <a:r>
              <a:t>한글자막 있음</a:t>
            </a: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  <a:r>
              <a:t>이해 안 되면 여기부터</a:t>
            </a: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  <a:r>
              <a:t>Neural Networks</a:t>
            </a: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  <a:r>
              <a:t>Linear Algebra</a:t>
            </a: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  <a:r>
              <a:t>Calculus</a:t>
            </a: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  <a:r>
              <a:t>Transformers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2520000"/>
            <a:ext cx="324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5BE3"/>
                </a:solidFill>
                <a:latin typeface="맑은 고딕"/>
              </a:defRPr>
            </a:pPr>
            <a:r>
              <a:t>2순위: 구글 검색</a:t>
            </a: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  <a:r>
              <a:t>"[주제] 논문 리뷰" 검색</a:t>
            </a: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  <a:r>
              <a:t>예시:</a:t>
            </a: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  <a:r>
              <a:t>"LSTM 논문 리뷰"</a:t>
            </a: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  <a:r>
              <a:t>"ResNet 논문 리뷰"</a:t>
            </a: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  <a:r>
              <a:t>"Word2Vec 논문 리뷰"</a:t>
            </a: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  <a:r>
              <a:t>한국어 블로그 2~3개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0" y="2520000"/>
            <a:ext cx="324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5BE3"/>
                </a:solidFill>
                <a:latin typeface="맑은 고딕"/>
              </a:defRPr>
            </a:pPr>
            <a:r>
              <a:t>3순위: 추천 채널</a:t>
            </a: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  <a:r>
              <a:t>codingopera</a:t>
            </a: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(Transformer 정리)</a:t>
            </a: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  <a:r>
              <a:t>StatQuest</a:t>
            </a: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(통계/ML, 영어)</a:t>
            </a: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  <a:r>
              <a:t>혁펜하임</a:t>
            </a:r>
          </a:p>
          <a:p>
            <a:pPr>
              <a:spcBef>
                <a:spcPts val="300"/>
              </a:spcBef>
              <a:defRPr sz="1000">
                <a:solidFill>
                  <a:srgbClr val="1A1A2E"/>
                </a:solidFill>
                <a:latin typeface="맑은 고딕"/>
              </a:defRPr>
            </a:pPr>
            <a:r>
              <a:t>  (한국어 DL)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8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BE3"/>
                </a:solidFill>
                <a:latin typeface="맑은 고딕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맑은 고딕"/>
              </a:defRPr>
            </a:pPr>
            <a:r>
              <a:t>배우는 것이 어디에 쓰이는가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260000"/>
            <a:ext cx="324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BE3"/>
                </a:solidFill>
                <a:latin typeface="맑은 고딕"/>
              </a:defRPr>
            </a:pPr>
            <a:r>
              <a:t>현대자동차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차량 감정인식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멀티모달 센싱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→ 운전자 감정 → 안전운전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Phase 5~7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(CNN, RNN, NLP)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0" y="1260000"/>
            <a:ext cx="324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BE3"/>
                </a:solidFill>
                <a:latin typeface="맑은 고딕"/>
              </a:defRPr>
            </a:pPr>
            <a:r>
              <a:t>두산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협동로봇 AI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VLM/VLA + AI SoC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+ 강화학습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Phase 8~10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(전이학습, PyTorch)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0" y="1260000"/>
            <a:ext cx="3240000" cy="3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5BE3"/>
                </a:solidFill>
                <a:latin typeface="맑은 고딕"/>
              </a:defRPr>
            </a:pPr>
            <a:r>
              <a:t>토론토대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국제공동 과제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EV 배터리 디지털 트윈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+ AI Agent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Phase 10</a:t>
            </a:r>
          </a:p>
          <a:p>
            <a:pPr>
              <a:spcBef>
                <a:spcPts val="300"/>
              </a:spcBef>
              <a:defRPr sz="1100">
                <a:solidFill>
                  <a:srgbClr val="1A1A2E"/>
                </a:solidFill>
                <a:latin typeface="맑은 고딕"/>
              </a:defRPr>
            </a:pPr>
            <a:r>
              <a:t>(논문 재현)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8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BE3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8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맑은 고딕"/>
              </a:defRPr>
            </a:pPr>
            <a:r>
              <a:t>운영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468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BE3"/>
                </a:solidFill>
                <a:latin typeface="맑은 고딕"/>
              </a:defRPr>
            </a:pPr>
            <a:r>
              <a:t>단일 트랙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학부/석사 구분 없음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전부 같은 트랙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아는 사람은 스킵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모르면 처음부터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스킵 기준: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30분 안에 혼자 짤 수 있으면 넘어감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0000" y="1080000"/>
            <a:ext cx="468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BE3"/>
                </a:solidFill>
                <a:latin typeface="맑은 고딕"/>
              </a:defRPr>
            </a:pPr>
            <a:r>
              <a:t>평가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체크포인트 1: Phase 3 끝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  (회귀/분류 체화)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체크포인트 2: Phase 6 끝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  (CNN/RNN 체화)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최종 발표: Phase 10 끝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  (논문 재현 프로젝트)</a:t>
            </a: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</a:p>
          <a:p>
            <a:pPr>
              <a:spcBef>
                <a:spcPts val="300"/>
              </a:spcBef>
              <a:defRPr sz="1200">
                <a:solidFill>
                  <a:srgbClr val="1A1A2E"/>
                </a:solidFill>
                <a:latin typeface="맑은 고딕"/>
              </a:defRPr>
            </a:pPr>
            <a:r>
              <a:t>매월 월간 발표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1440000"/>
            <a:ext cx="97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2E"/>
                </a:solidFill>
                <a:latin typeface="맑은 고딕"/>
              </a:defRPr>
            </a:pPr>
            <a:r>
              <a:t>#0→#1→#2→#3→#4 뼈대를 몸에 익히고,</a:t>
            </a:r>
            <a:br/>
            <a:br/>
            <a:r>
              <a:t>한 번에 하나씩만 바꿔가며,</a:t>
            </a:r>
            <a:br/>
            <a:br/>
            <a:r>
              <a:t>같은 데이터에 다른 기법을 적용하면서,</a:t>
            </a:r>
            <a:br/>
            <a:br/>
            <a:r>
              <a:t>3Blue1Brown과 논문 리뷰로 "왜"를 이해하고,</a:t>
            </a:r>
            <a:br/>
            <a:br/>
            <a:r>
              <a:t>HEART Lab의 실제 과제에 투입될 수 있는</a:t>
            </a:r>
            <a:br/>
            <a:r>
              <a:t>연구원을 만든다.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520000"/>
            <a:ext cx="97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맑은 고딕"/>
              </a:defRPr>
            </a:pPr>
            <a: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7518</TotalTime>
  <Words>865</Words>
  <Application>Microsoft Office PowerPoint</Application>
  <PresentationFormat>와이드스크린</PresentationFormat>
  <Paragraphs>161</Paragraphs>
  <Slides>13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Noto Sans KR</vt:lpstr>
      <vt:lpstr>맑은 고딕</vt:lpstr>
      <vt:lpstr>Arial</vt:lpstr>
      <vt:lpstr>Office 테마</vt:lpstr>
      <vt:lpstr>PowerPoint 프레젠테이션</vt:lpstr>
      <vt:lpstr>인공지능 취업, 크게 두 가지</vt:lpstr>
      <vt:lpstr>AI 취업시장 현실</vt:lpstr>
      <vt:lpstr>왜 신입을 안 뽑는가?</vt:lpstr>
      <vt:lpstr>바로 투입 = 문제 해결 능력</vt:lpstr>
      <vt:lpstr>세계는 지금 어디로 가고 있냐</vt:lpstr>
      <vt:lpstr>현재 진행중인 과제 – 현대자동차</vt:lpstr>
      <vt:lpstr>현재 진행중인 과제 - 두산</vt:lpstr>
      <vt:lpstr>현재 진행중인 과제 - 국제공동</vt:lpstr>
      <vt:lpstr>이런 과제들을 할수 있는 이유 – Top-Down</vt:lpstr>
      <vt:lpstr>HEART Lab - 커리큘럼</vt:lpstr>
      <vt:lpstr>AI 취업시장 현실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Junyoung An</cp:lastModifiedBy>
  <cp:revision>1025</cp:revision>
  <dcterms:created xsi:type="dcterms:W3CDTF">2025-07-29T08:28:03Z</dcterms:created>
  <dcterms:modified xsi:type="dcterms:W3CDTF">2026-03-22T10:40:08Z</dcterms:modified>
</cp:coreProperties>
</file>