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HEART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88AAFF"/>
                </a:solidFill>
                <a:latin typeface="맑은 고딕"/>
              </a:defRPr>
            </a:pPr>
            <a:r>
              <a:t>AI Education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맑은 고딕"/>
              </a:defRPr>
            </a:pPr>
            <a:r>
              <a:t>학석사 신입 연구원을 위한 AI 교육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맑은 고딕"/>
              </a:defRPr>
            </a:pPr>
            <a:r>
              <a:t>세종대학교 HEART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인공지능이란?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188720"/>
          </a:xfrm>
          <a:prstGeom prst="roundRect">
            <a:avLst>
              <a:gd name="adj" fmla="val 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626" y="1745428"/>
            <a:ext cx="11374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52F0"/>
                </a:solidFill>
                <a:latin typeface="맑은 고딕"/>
              </a:defRPr>
            </a:pPr>
            <a:r>
              <a:rPr sz="2400"/>
              <a:t>Prediction(예측)과 Ground Truth(실제값)의 오차를 줄여나가는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모든 AI 모델의 뼈대: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554480" cy="731520"/>
          </a:xfrm>
          <a:prstGeom prst="roundRect">
            <a:avLst>
              <a:gd name="adj" fmla="val 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657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3566160"/>
            <a:ext cx="1554480" cy="731520"/>
          </a:xfrm>
          <a:prstGeom prst="roundRect">
            <a:avLst>
              <a:gd name="adj" fmla="val 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39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657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566160"/>
            <a:ext cx="1554480" cy="731520"/>
          </a:xfrm>
          <a:prstGeom prst="roundRect">
            <a:avLst>
              <a:gd name="adj" fmla="val 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657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566160"/>
            <a:ext cx="1554480" cy="731520"/>
          </a:xfrm>
          <a:prstGeom prst="roundRect">
            <a:avLst>
              <a:gd name="adj" fmla="val 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79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3657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566160"/>
            <a:ext cx="1554480" cy="731520"/>
          </a:xfrm>
          <a:prstGeom prst="roundRect">
            <a:avLst>
              <a:gd name="adj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Backward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657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3566160"/>
            <a:ext cx="1554480" cy="731520"/>
          </a:xfrm>
          <a:prstGeom prst="roundRect">
            <a:avLst>
              <a:gd name="adj" fmla="val 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0412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ChatGPT도, 자율주행도, YOLO도, 감정인식도 — 전부 이 파이프라인이다.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52F0"/>
                </a:solidFill>
                <a:latin typeface="맑은 고딕"/>
              </a:defRPr>
            </a:pPr>
            <a:r>
              <a:t>이걸 이해하면 어떤 새 모델이 나와도 결국 같은 뼈대라는 걸 알게 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AI를 잘한다는 건?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맑은 고딕"/>
              </a:defRPr>
            </a:pPr>
            <a:r>
              <a:t>모델 이름 많이 아는 게 실력이 아니다.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914400"/>
          </a:xfrm>
          <a:prstGeom prst="roundRect">
            <a:avLst>
              <a:gd name="adj" fmla="val 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652F0"/>
                </a:solidFill>
                <a:latin typeface="맑은 고딕"/>
              </a:defRPr>
            </a:pPr>
            <a:r>
              <a:t>진짜 실력 = 문제를 보고 풀이 방법이 바로 떠오르는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920240" cy="2011680"/>
          </a:xfrm>
          <a:prstGeom prst="roundRect">
            <a:avLst>
              <a:gd name="adj" fmla="val 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2617" y="3336215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1. 문제가 뭐지?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출력 정의 → Loss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840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200400"/>
            <a:ext cx="1920240" cy="2011680"/>
          </a:xfrm>
          <a:prstGeom prst="roundRect">
            <a:avLst>
              <a:gd name="adj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3347435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2. 데이터가 뭐지?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형태, 양, 라벨 유무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40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200400"/>
            <a:ext cx="1920240" cy="2011680"/>
          </a:xfrm>
          <a:prstGeom prst="roundRect">
            <a:avLst>
              <a:gd name="adj" fmla="val 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3383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3. 전처리는?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스케일링, 토크나이징, resize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840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200400"/>
            <a:ext cx="1920240" cy="2011680"/>
          </a:xfrm>
          <a:prstGeom prst="roundRect">
            <a:avLst>
              <a:gd name="adj" fmla="val 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3383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4. 어떤 모델?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문제+데이터+양 →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840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3200400"/>
            <a:ext cx="1920240" cy="2011680"/>
          </a:xfrm>
          <a:prstGeom prst="roundRect">
            <a:avLst>
              <a:gd name="adj" fmla="val 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3383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5. 평가는?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MSE, F1,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52F0"/>
                </a:solidFill>
                <a:latin typeface="맑은 고딕"/>
              </a:defRPr>
            </a:pPr>
            <a:r>
              <a:t>이 사고가 자동으로 되면, 뭘 시켜도 할 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교육 과정 전체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52F0"/>
                </a:solidFill>
                <a:latin typeface="맑은 고딕"/>
              </a:defRPr>
            </a:pPr>
            <a:r>
              <a:t>학석사 신입생 (12주)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W1~2: AI 정의 + ANN (손계산)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W3: CNN (이미지)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W4: RNN + LSTM (시계열)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W5: Phase 1 시험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W6~7: Seq2Seq → Attention → Transformer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W8: BERT 텍스트 분류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W9: API 챗봇 웹사이트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W10: YOLO 실시간 탐지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W11: Phase 2 실전 테스트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W12: 최종 발표 + 과제 투입 판단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맑은 고딕"/>
              </a:defRPr>
            </a:pPr>
            <a:r>
              <a:t>석사 Condition (3개월)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Month 1: 논문 읽기 + 재현 기초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논문 3편 요약, ResNet 재현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wandb 실험 환경, Ablation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★ 1차 월간 발표 (15분)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Month 2: 논문 재현 + 커스터마이징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도메인 논문 5편 서베이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- 1편 전체 재현 + 변형 3가지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★ 2차 월간 발표 (20분)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Month 3: 독립 연구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주제 설정 → 실험 → 논문 초고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- ★ 3차 월간 발표 (25분) = 최종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474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학석사 커리큘럼 — 모델 발전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각 모델은 이전 모델의 한계를 해결하기 위해 등장했다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y = wx+b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선형회귀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" y="2886715"/>
            <a:ext cx="1508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가장 단순한 형태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19072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19072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ANN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2860953"/>
            <a:ext cx="1280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비선형 문제 해결</a:t>
            </a:r>
            <a:br/>
            <a:r>
              <a:t>(층을 쌓자)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63824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63824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합성곱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904565"/>
            <a:ext cx="1280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이미지 공간 특징</a:t>
            </a:r>
            <a:br/>
            <a:r>
              <a:t>MLP는 위치 모름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8576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08576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RNN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순환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904564"/>
            <a:ext cx="13533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순서/시계열</a:t>
            </a:r>
            <a:br/>
            <a:r>
              <a:t>CNN은 순서 모름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016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53328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LSTM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2834640"/>
            <a:ext cx="118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Vanishing Gradient</a:t>
            </a:r>
            <a:br/>
            <a:r>
              <a:t>RNN은 앞 정보 잊음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0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Seq2Seq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Enc-Dec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2262" y="2875771"/>
            <a:ext cx="13500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입출력 길이 다름</a:t>
            </a:r>
            <a:br/>
            <a:r>
              <a:t>LSTM은 고정 길이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42832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42832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Attention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2832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QKV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2834640"/>
            <a:ext cx="118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Context 병목</a:t>
            </a:r>
            <a:br/>
            <a:r>
              <a:t>Seq2Seq는 압축 손실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72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87584" y="1828800"/>
            <a:ext cx="1280160" cy="3200400"/>
          </a:xfrm>
          <a:prstGeom prst="roundRect">
            <a:avLst>
              <a:gd name="adj" fmla="val 5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87584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Transformer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7584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FF"/>
                </a:solidFill>
                <a:latin typeface="맑은 고딕"/>
              </a:defRPr>
            </a:pPr>
            <a:r>
              <a:t>Self-Attn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0152" y="2886715"/>
            <a:ext cx="13990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RNN 없이 병렬화</a:t>
            </a:r>
            <a:br/>
            <a:r>
              <a:t>Attention만으로!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52F0"/>
                </a:solidFill>
                <a:latin typeface="맑은 고딕"/>
              </a:defRPr>
            </a:pPr>
            <a:r>
              <a:t>Phase 1: 손계산 (W1~5)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53"/>
                </a:solidFill>
                <a:latin typeface="맑은 고딕"/>
              </a:defRPr>
            </a:pPr>
            <a:r>
              <a:t>Phase 1: 데이터별 모델 (W3~5)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Phase 2: 현대 (W6~7)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E3E"/>
                </a:solidFill>
                <a:latin typeface="맑은 고딕"/>
              </a:defRPr>
            </a:pPr>
            <a:r>
              <a:t>Transformer (W7)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맑은 고딕"/>
              </a:defRPr>
            </a:pPr>
            <a:r>
              <a:t>+ 실전: BERT 분류 (W8) → API 챗봇 웹 (W9) → YOLO 실시간 탐지 (W10)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교육 방법 — Top-down + 손계산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이 모델이 풀려는 문제가 뭔지?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691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이전 모델의 한계 → 이 모델의 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40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39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231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데모: 동작하는 모습 먼저 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8891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79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717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핵심 수식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3755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20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손계산 (종이, 3~10 epoch)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86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numpy 손코딩 (검증)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34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Keras / PyTorch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83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다양한 데이터셋 실험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532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79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7149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체크포인트 확인 + 연습장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28016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맑은 고딕"/>
              </a:defRPr>
            </a:pPr>
            <a:r>
              <a:t>손계산 규칙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9202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1. 새 모델마다 종이에 forward → loss → backward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   최소 3 epoch 직접 계산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2. Chain Rule을 수식으로 완전히 전개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3. 10 epoch까지 w, b 값 추적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   → "학습이 되는 과정" 을 숫자로 체감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4. numpy로 구현 → 손계산과 일치 확인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5. 그 후에야 프레임워크(Keras/PyTorch)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평가 체계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8463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52F0"/>
                </a:solidFill>
                <a:latin typeface="맑은 고딕"/>
              </a:defRPr>
            </a:pPr>
            <a:r>
              <a:t>학석사 신입생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[매주] 숙제 제출 + 체크리스트 점검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[매월] 월간 발표 (10분)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[W5] Phase 1 시험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손코딩 5문제 (45분)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코딩 3문제 (80분)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[W11] Phase 2 실전 테스트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BERT 30분 / 챗봇 1시간 / YOLO 2시간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[W12] 최종 발표 (10분)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→ A: 즉시 투입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→ B: 선배와 페어 투입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→ C: 보충 후 재평가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846320"/>
          </a:xfrm>
          <a:prstGeom prst="roundRect">
            <a:avLst>
              <a:gd name="adj" fmla="val 3000"/>
            </a:avLst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  <a:latin typeface="맑은 고딕"/>
              </a:defRPr>
            </a:pPr>
            <a:r>
              <a:t>석사 Condition (3개월)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[매월] 월간 발표 (평가 포함)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[M1] 1차 발표 (15분)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논문 3편 요약 + 1편 재현 + Ablation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통과: 50점 이상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[M2] 2차 발표 (20분)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도메인 5편 + 전체 재현 + 커스터마이징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통과: 50점 이상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[M3] 3차 발표 (25분+Q&amp;A)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독립 연구 + 논문 초고 + 과제 기여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→ S: 독립 연구자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→ A: 과제 독립 담당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→ B: 선배 지도 하 참여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맑은 고딕"/>
              </a:defRPr>
            </a:pPr>
            <a:r>
              <a:t>  → C: 보충 후 재평가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목표 수치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손계산 =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40" y="1463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소수점 4자리 일치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Chain Rule 전개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안 보고 10분 이내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CNN 출력 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108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5문제 전부 정답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MNIST 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acc ≥ 97%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CIFAR-10 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754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acc ≥ 75%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sin 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5577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MSE ≤ 0.01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37160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Transformer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463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안 보고 그리기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19456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IMDB BERT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acc ≥ 88%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01752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3108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챗봇 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108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1시간 내 완성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84048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3931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커스텀 YOLO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931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mAP50 ≥ 0.7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66344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4754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문제풀이 15제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754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≥ 12개 정답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월간 발표 제도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학부/석사 모두 매달 랩미팅에서 발표. Condition 이후에도 계속.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548640"/>
          </a:xfrm>
          <a:prstGeom prst="roundRect">
            <a:avLst>
              <a:gd name="adj" fmla="val 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560320" cy="548640"/>
          </a:xfrm>
          <a:prstGeom prst="roundRect">
            <a:avLst>
              <a:gd name="adj" fmla="val 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발표 시간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560320" cy="548640"/>
          </a:xfrm>
          <a:prstGeom prst="roundRect">
            <a:avLst>
              <a:gd name="adj" fmla="val 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560320" cy="548640"/>
          </a:xfrm>
          <a:prstGeom prst="roundRect">
            <a:avLst>
              <a:gd name="adj" fmla="val 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신입생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56032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10분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학습 현황 + 결과물 + 다음 달 계획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56032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피드백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석사 M1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200400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15분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논문 3편 + 재현 + Ablation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200400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점수 (50점↑)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40479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석사 M2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840479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66160" y="3931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20분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40479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3931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도메인 서베이 + 재현 + 커스터마이징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840479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0" y="3931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점수 (50점↑)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480559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57199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석사 M3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4480559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57199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25분+QA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480559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57199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독립 연구 + 논문 초고 + 과제 기여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4480559"/>
            <a:ext cx="2560320" cy="594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457199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최종 평가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12064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5212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정식 연구원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512064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66160" y="5212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15분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12064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9360" y="5212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실험 결과 + 이슈 + 다음 달 계획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5120640"/>
            <a:ext cx="2560320" cy="5943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52560" y="5212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피드백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우리가 하는 일 &amp; 진로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5603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52F0"/>
                </a:solidFill>
                <a:latin typeface="맑은 고딕"/>
              </a:defRPr>
            </a:pPr>
            <a:r>
              <a:t>현재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산업부 차량 과제 (RS-2024-00487049)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차량 내 멀티모달 감정인식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카메라(얼굴/제스처) + 음성 + 생체신호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→ 운전자 감정 판단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너희가 배우는 것 = 이 과제에 쓰이는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5603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맑은 고딕"/>
              </a:defRPr>
            </a:pPr>
            <a:r>
              <a:t>국책과제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정부 공모 → 제안서 → 선정 → 연구비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매년 연차보고서 → 평가 → 통과해야 계속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연구비 = 장비 + 인건비 + 학회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맑은 고딕"/>
              </a:defRPr>
            </a:pPr>
            <a:r>
              <a:t>학생이 실제 개발/실험/논문 담당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2011680"/>
          </a:xfrm>
          <a:prstGeom prst="roundRect">
            <a:avLst>
              <a:gd name="adj" fmla="val 3000"/>
            </a:avLst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맑은 고딕"/>
              </a:defRPr>
            </a:pPr>
            <a:r>
              <a:t>AI 하면 어디로 가는가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53"/>
                </a:solidFill>
                <a:latin typeface="맑은 고딕"/>
              </a:defRPr>
            </a:pPr>
            <a:r>
              <a:t>기업 연구소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삼성, LG, 네이버, 카카오, 현대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53"/>
                </a:solidFill>
                <a:latin typeface="맑은 고딕"/>
              </a:defRPr>
            </a:pPr>
            <a:r>
              <a:t>AI 스타트업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394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의료AI, 자율주행, 로봇, 생성AI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53"/>
                </a:solidFill>
                <a:latin typeface="맑은 고딕"/>
              </a:defRPr>
            </a:pPr>
            <a:r>
              <a:t>연구소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94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KAIST, ETRI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53"/>
                </a:solidFill>
                <a:latin typeface="맑은 고딕"/>
              </a:defRPr>
            </a:pPr>
            <a:r>
              <a:t>해외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394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Google, Meta, NVIDIA, OpenAI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시작합시다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743200"/>
            <a:ext cx="8503920" cy="2286000"/>
          </a:xfrm>
          <a:prstGeom prst="roundRect">
            <a:avLst>
              <a:gd name="adj" fmla="val 3000"/>
            </a:avLst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8AAFF"/>
                </a:solidFill>
                <a:latin typeface="맑은 고딕"/>
              </a:defRPr>
            </a:pPr>
            <a:r>
              <a:t>문제가 뭐지? → 데이터는? → 전처리는? → 모델은? → 평가는?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이 사고가 자동으로 되면, 뭘 시켜도 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2976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맑은 고딕"/>
              </a:defRPr>
            </a:pPr>
            <a:r>
              <a:t>12주 후, 과제에 투입됩니다.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맑은 고딕"/>
              </a:defRPr>
            </a:pPr>
            <a:r>
              <a:t>github.com/RyanAhn533/HEART-Lab-Curriculum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1136</Words>
  <Application>Microsoft Office PowerPoint</Application>
  <PresentationFormat>와이드스크린</PresentationFormat>
  <Paragraphs>242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Junyoung An</cp:lastModifiedBy>
  <cp:revision>7</cp:revision>
  <dcterms:created xsi:type="dcterms:W3CDTF">2013-01-27T09:14:16Z</dcterms:created>
  <dcterms:modified xsi:type="dcterms:W3CDTF">2026-03-18T05:19:10Z</dcterms:modified>
  <cp:category/>
</cp:coreProperties>
</file>