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B94"/>
    <a:srgbClr val="F4D862"/>
    <a:srgbClr val="F9E79D"/>
    <a:srgbClr val="D2C8EE"/>
    <a:srgbClr val="BBD4EF"/>
    <a:srgbClr val="F0A2A8"/>
    <a:srgbClr val="90B8E4"/>
    <a:srgbClr val="A0C2E8"/>
    <a:srgbClr val="AE9CE0"/>
    <a:srgbClr val="FDF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92608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2026-1학기 딥러닝실습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t>딥러닝 실습, 왜 하는 걸까?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5FF"/>
                </a:solidFill>
                <a:latin typeface="Noto Sans KR"/>
              </a:defRPr>
            </a:pPr>
            <a:r>
              <a:t>대학, 취업, 그리고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안준영  |  세종대학교 HEART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AI 취업시장 현실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[사람인 AI 채용공고 캡처]</a:t>
            </a:r>
            <a:br/>
            <a:r>
              <a:t>경력 3년↑ 위주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80160"/>
            <a:ext cx="5669280" cy="109728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AI 경력직 요구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2020년 54%  →  2024년 80.6%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560320"/>
            <a:ext cx="5669280" cy="91440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2026년 채용:  4~7년차 49.7%  vs  신입 12.4%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657600"/>
            <a:ext cx="5669280" cy="91440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SW 신입 비중:  53.5% → 37.4%  (2년 만에 16.1%p↓)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6634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출처: ZDNet 2025.12 / 서울신문 2026.01 / 한국은행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현실:  신입으로는 취업이 안 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5FF"/>
                </a:solidFill>
                <a:latin typeface="Noto Sans KR"/>
              </a:defRPr>
            </a:pPr>
            <a:r>
              <a:t>기업이 원하는 건:  바로 투입 가능한 사람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그래서 이 수업을 왜 듣는가?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Noto Sans KR"/>
              </a:defRPr>
            </a:pPr>
            <a:r>
              <a:t>딥러닝 실습 — 코드를 돌리고, 프로젝트를 하고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66666"/>
                </a:solidFill>
                <a:latin typeface="Noto Sans KR"/>
              </a:defRPr>
            </a:pPr>
            <a:r>
              <a:t>학점?  재미?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128016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KR"/>
              </a:defRPr>
            </a:pPr>
            <a:r>
              <a:t>"나는 이걸 할 수 있습니다"를 증명하는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5FF"/>
                </a:solidFill>
                <a:latin typeface="Noto Sans KR"/>
              </a:defRPr>
            </a:pPr>
            <a:r>
              <a:t>이 수업의 프로젝트 = 취업 준비  |  대학 = 취업을 준비하는 공간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인공지능 취업, 크게 두 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27432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13B94"/>
                </a:solidFill>
                <a:latin typeface="Noto Sans KR"/>
              </a:defRPr>
            </a:pPr>
            <a:r>
              <a:t>기업 개발자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각 회사의 도메인이 다름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(반도체, 자동차, 의학, 금융, 로봇...)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도메인에 맞는 서비스(제품)를 만드는 사람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1097280" cy="54864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[삼성]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657600"/>
            <a:ext cx="1097280" cy="54864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[네이버]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657600"/>
            <a:ext cx="1097280" cy="54864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[카카오]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5303520" cy="27432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  <a:latin typeface="Noto Sans KR"/>
              </a:defRPr>
            </a:pPr>
            <a:r>
              <a:t>연구소 (연구원)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기업 연구소, 국책 연구소, 대학원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트렌드에 맞춰 기술 발전을 리드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논문, 특허, 기술 이전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500" b="1">
                <a:solidFill>
                  <a:srgbClr val="333333"/>
                </a:solidFill>
                <a:latin typeface="Noto Sans KR"/>
              </a:defRPr>
            </a:pPr>
            <a:r>
              <a:t>연구소는 국책과제(정부 과제)로 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480560"/>
            <a:ext cx="9418320" cy="640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526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공통:  AI로 문제를 풀 수 있는 사람이 필요하다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우리에게 중요한 능력은?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9144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Noto Sans KR"/>
              </a:defRPr>
            </a:pPr>
            <a:r>
              <a:t>서비스 = Question (문제)  →  "이 문제를 어떻게 풀 수 있는가?"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Noto Sans KR"/>
              </a:defRPr>
            </a:pPr>
            <a:r>
              <a:t>어떤 데이터로,  어떤 모델로,  어떤 기술로?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65176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ChatGPT, Claude</a:t>
            </a:r>
            <a:br/>
            <a:r>
              <a:t>대화형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108960"/>
            <a:ext cx="265176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자율적으로 일하는 AI</a:t>
            </a:r>
            <a:br/>
            <a:r>
              <a:t>도구 사용, 의사결정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108960"/>
            <a:ext cx="2651760" cy="2286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멀티모달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영상 + 음성 + 텍스트</a:t>
            </a:r>
            <a:br/>
            <a:r>
              <a:t>여러 데이터를 결합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3108960"/>
            <a:ext cx="2651760" cy="22860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Physical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로봇, 자율주행</a:t>
            </a:r>
            <a:br/>
            <a:r>
              <a:t>물리 세계의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바로 투입 가능한 사람 = 이걸 조합해서 실제 서비스를 구현할 수 있는 사람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Top-down 사고 — HEART Lab이 과제를 따낸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22860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3B94"/>
                </a:solidFill>
                <a:latin typeface="Noto Sans KR"/>
              </a:defRPr>
            </a:pPr>
            <a:r>
              <a:t>HEART Lab의 Top-down 사고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문제를 보고 → 방향을 제시하고 → 해결</a:t>
            </a:r>
          </a:p>
          <a:p>
            <a:pPr>
              <a:spcAft>
                <a:spcPts val="6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이 사고로 과제를 따냈다 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3566160" cy="16459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현대자동차 미래기술 공모전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우리가 하던 감정인식 기술로 선정</a:t>
            </a:r>
            <a:br/>
            <a:r>
              <a:t>→ 기술력이 반증됨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40480"/>
            <a:ext cx="3566160" cy="1645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931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두산 로보틱스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389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역사상 가장 큰 금액 규모의</a:t>
            </a:r>
            <a:br/>
            <a:r>
              <a:t>R&amp;D 과제 수행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40480"/>
            <a:ext cx="3566160" cy="16459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931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산업부 국책과제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389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수십억 규모</a:t>
            </a:r>
            <a:br/>
            <a:r>
              <a:t>K-MER 감정인식 실증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280160"/>
            <a:ext cx="521208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371600"/>
            <a:ext cx="1828800" cy="100584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[일론 머스크 사진]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Noto Sans KR"/>
              </a:defRPr>
            </a:pPr>
            <a:r>
              <a:t>First Principles Thinking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Noto Sans KR"/>
              </a:defRPr>
            </a:pPr>
            <a:r>
              <a:t>— Elon Musk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Noto Sans KR"/>
              </a:defRPr>
            </a:pPr>
            <a:r>
              <a:t>문제를 분자 단위로 분해, 근본부터 다시 생각</a:t>
            </a:r>
          </a:p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Noto Sans KR"/>
              </a:defRPr>
            </a:pPr>
            <a:r>
              <a:t>HEART Lab의 Top-down = First Principles와 같은 논리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문제가 뭐지? → 데이터는? → 전처리는? → 모델은? → 평가는?  =  바로 투입 가능한 사람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나는 취업하려고 이걸 만들었다 — K-MER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25603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K-MER  |  차량 내 운전자 감정인식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333333"/>
                </a:solidFill>
                <a:latin typeface="Noto Sans KR"/>
              </a:defRPr>
            </a:pPr>
            <a:r>
              <a:t>산업부 수십억 규모 국책과제</a:t>
            </a:r>
          </a:p>
          <a:p>
            <a:pPr>
              <a:spcAft>
                <a:spcPts val="5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카메라 + 음성 + 생체신호  →  운전자 감정 상태를 실시간 판단</a:t>
            </a:r>
          </a:p>
          <a:p>
            <a:pPr>
              <a:spcAft>
                <a:spcPts val="5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연구를 위한 연구 X  →  실제 차량에 실증하는 기술</a:t>
            </a:r>
          </a:p>
          <a:p>
            <a:pPr>
              <a:spcAft>
                <a:spcPts val="5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졸업할 때 "이거 만들었습니다" 하고 보여줄 수 있는 포트폴리오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2011680"/>
          </a:xfrm>
          <a:prstGeom prst="round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110642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  <a:latin typeface="Noto Sans KR"/>
              </a:defRPr>
            </a:pPr>
            <a:r>
              <a:t>[ K-MER 시연 영상 삽입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Noto Sans KR"/>
              </a:defRPr>
            </a:pPr>
            <a:r>
              <a:t>여기에 영상 또는 스크린샷 넣기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이걸 어디서 만들었냐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3716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HEART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Noto Sans KR"/>
              </a:defRPr>
            </a:pPr>
            <a:r>
              <a:t>Human Emotion  and  Intelligent Agent  Research  for  Future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사람의 감정  +  지능형 에이전트  +  미래 기술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이 분야가 취업이 되는 이유 — 우리 말을 NVIDIA가 반증한다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356616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NVIDIA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Audio2Face: 오디오에서</a:t>
            </a:r>
            <a:br/>
            <a:r>
              <a:t>감정 분석 → 표정 생성</a:t>
            </a:r>
            <a:br/>
            <a:r>
              <a:t>Auto Emotion 기술</a:t>
            </a:r>
            <a:br/>
            <a:r>
              <a:t>GTC 2026 Affective Care Drive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474720"/>
            <a:ext cx="356616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Affectiva (Smart Eye)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감정 AI 글로벌 1위</a:t>
            </a:r>
            <a:br/>
            <a:r>
              <a:t>차량 감정인식 이미 상용화</a:t>
            </a:r>
            <a:br/>
            <a:r>
              <a:t>$73.5M에 인수</a:t>
            </a:r>
            <a:br/>
            <a:r>
              <a:t>90개국 1000만+ 얼굴 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474720"/>
            <a:ext cx="3566160" cy="22860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Top Conference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114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감정 인식 논문이</a:t>
            </a:r>
            <a:br/>
            <a:r>
              <a:t>CVPR, AAAI, INTERSPEECH</a:t>
            </a:r>
            <a:br/>
            <a:r>
              <a:t>등에서 가장 활발한 주제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3200400" cy="73152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[CES2024 NVIDIA 감정기술 캡처]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486400"/>
            <a:ext cx="3200400" cy="73152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[GTC2026 Affective Care Drive]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5486400"/>
            <a:ext cx="3200400" cy="73152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[Affectiva In-Cabin 캡처]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이 능력을 어떻게 키우냐?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카카오 AI 부트캠프, 비트캠프 경험 → 취업 목적 교육은 구조가 다르다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그 경험을 바탕으로 교수님과 함께 HEART Lab 교육 커리큘럼을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3B94"/>
                </a:solidFill>
                <a:latin typeface="Noto Sans KR"/>
              </a:defRPr>
            </a:pPr>
            <a:r>
              <a:t>목표:  문제를 던지면 해결할 수 있는 AI 개발자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566160" cy="27432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문제 해결 사고 훈련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"이 문제 어떻게 풀래?"</a:t>
            </a:r>
            <a:br/>
            <a:r>
              <a:t>가 바로 떠오를 때까지</a:t>
            </a:r>
            <a:br/>
            <a:r>
              <a:t>반복 훈련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834640"/>
            <a:ext cx="3566160" cy="2743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2단계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모델을 도구로 쓰는 능력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"YOLO 써봤습니다" X</a:t>
            </a:r>
            <a:br/>
            <a:r>
              <a:t>"이 문제에 왜 YOLO인지"</a:t>
            </a:r>
            <a:br/>
            <a:r>
              <a:t>설명할 수 있는 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834640"/>
            <a:ext cx="3566160" cy="27432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3단계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서비스를 만드는 능력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챗봇 웹사이트</a:t>
            </a:r>
            <a:br/>
            <a:r>
              <a:t>실시간 객체 탐지</a:t>
            </a:r>
            <a:br/>
            <a:r>
              <a:t>12주면 혼자 구현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852160"/>
            <a:ext cx="8503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부트캠프 6개월 → 12주 압축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어떻게 시작하냐 — 인턴 → 학석사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3716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부담 없이 시작:  인턴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월 20만원 받으면서 3개월간 교육 과정 체험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맞다 싶으면 그때 학석사로 전환  |  아니면 그만둬도 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303520" cy="13716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학석사:  월 130만원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학부 4년 + 석사 2년 = 6년  →  학석사 = 5년 (1년 단축)</a:t>
            </a:r>
          </a:p>
          <a:p>
            <a:pPr>
              <a:spcAft>
                <a:spcPts val="400"/>
              </a:spcAft>
              <a:defRPr sz="1400" b="1">
                <a:solidFill>
                  <a:srgbClr val="BBDDFF"/>
                </a:solidFill>
                <a:latin typeface="Noto Sans KR"/>
              </a:defRPr>
            </a:pPr>
            <a:r>
              <a:t>단, 1년 빨리 졸업은 잘하는 학생에 한해서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5394960" cy="13716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석사 과정:  월 230만원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학부 졸업 후 석사 진학 시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Noto Sans KR"/>
              </a:defRPr>
            </a:pPr>
            <a:r>
              <a:t>지원금 최대 지급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5303520" cy="9144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바로 취업 = 신입  →  학석사 = 주니어급 대우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시간 낭비가 아니라 가장 효율적인 투자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5394960" cy="16459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궁금하면?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12064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13B94"/>
                </a:solidFill>
                <a:latin typeface="Noto Sans KR"/>
              </a:defRPr>
            </a:pPr>
            <a:r>
              <a:t>연구실 견학 한번 와보세요</a:t>
            </a:r>
          </a:p>
          <a:p>
            <a:pPr>
              <a:spcAft>
                <a:spcPts val="400"/>
              </a:spcAft>
              <a:defRPr sz="1500" b="1">
                <a:solidFill>
                  <a:srgbClr val="013B94"/>
                </a:solidFill>
                <a:latin typeface="Noto Sans KR"/>
              </a:defRPr>
            </a:pPr>
            <a:r>
              <a:t>인턴으로 한 학기 해보고 결정해도 됩니다</a:t>
            </a:r>
          </a:p>
          <a:p>
            <a:pPr>
              <a:spcAft>
                <a:spcPts val="400"/>
              </a:spcAft>
              <a:defRPr sz="15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013B94"/>
                </a:solidFill>
                <a:latin typeface="Noto Sans KR"/>
              </a:defRPr>
            </a:pPr>
            <a:r>
              <a:t>(연락처 / QR코드)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KR"/>
              </a:defRPr>
            </a:pPr>
            <a:r>
              <a:t>문제를 던지면 해결할 수 있는 사람이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t>살아남는다.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31920" cy="27432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6B7FE"/>
                </a:solidFill>
                <a:latin typeface="Noto Sans KR"/>
              </a:defRPr>
            </a:pPr>
            <a:r>
              <a:t>HEART Lab  |  세종대학교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77AA"/>
                </a:solidFill>
                <a:latin typeface="Noto Sans KR"/>
              </a:defRPr>
            </a:pPr>
            <a:r>
              <a:t>Human Emotion and Intelligent Agent Research for Future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3290</Words>
  <Application>Microsoft Office PowerPoint</Application>
  <PresentationFormat>와이드스크린</PresentationFormat>
  <Paragraphs>675</Paragraphs>
  <Slides>32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Arial</vt:lpstr>
      <vt:lpstr>Calibri</vt:lpstr>
      <vt:lpstr>Noto Sans KR</vt:lpstr>
      <vt:lpstr>Wingdings</vt:lpstr>
      <vt:lpstr>맑은 고딕</vt:lpstr>
      <vt:lpstr>Office 테마</vt:lpstr>
      <vt:lpstr>PowerPoint 프레젠테이션</vt:lpstr>
      <vt:lpstr>PowerPoint 프레젠테이션</vt:lpstr>
      <vt:lpstr>1. 오디오 딥러닝 구현</vt:lpstr>
      <vt:lpstr>1. 오디오 딥러닝 구현</vt:lpstr>
      <vt:lpstr>1. 오디오 딥러닝 구현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– 데이터 전처리</vt:lpstr>
      <vt:lpstr>2. 코드 기반 실습 및 응용 – 데이터 전처리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학습 및 평가 </vt:lpstr>
      <vt:lpstr>2. 코드 기반 실습 및 응용 - 학습 및 평가 </vt:lpstr>
      <vt:lpstr>2. 코드 기반 실습 및 응용 - 학습 및 평가 </vt:lpstr>
      <vt:lpstr>3. Homework</vt:lpstr>
      <vt:lpstr>3. Homework</vt:lpstr>
      <vt:lpstr>3. Homework</vt:lpstr>
      <vt:lpstr>VSCode에서 작업 폴더 열기와 파일 생성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고봉균</cp:lastModifiedBy>
  <cp:revision>1305</cp:revision>
  <dcterms:created xsi:type="dcterms:W3CDTF">2025-07-29T08:28:03Z</dcterms:created>
  <dcterms:modified xsi:type="dcterms:W3CDTF">2026-03-18T04:10:04Z</dcterms:modified>
</cp:coreProperties>
</file>