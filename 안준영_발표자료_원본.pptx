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5"/>
  </p:notesMasterIdLst>
  <p:sldIdLst>
    <p:sldId id="256" r:id="rId2"/>
    <p:sldId id="1441" r:id="rId3"/>
    <p:sldId id="1440" r:id="rId4"/>
    <p:sldId id="1442" r:id="rId5"/>
    <p:sldId id="1443" r:id="rId6"/>
    <p:sldId id="1444" r:id="rId7"/>
    <p:sldId id="1445" r:id="rId8"/>
    <p:sldId id="1447" r:id="rId9"/>
    <p:sldId id="1450" r:id="rId10"/>
    <p:sldId id="1446" r:id="rId11"/>
    <p:sldId id="1449" r:id="rId12"/>
    <p:sldId id="1448" r:id="rId13"/>
    <p:sldId id="262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6A300"/>
    <a:srgbClr val="406259"/>
    <a:srgbClr val="AC8300"/>
    <a:srgbClr val="5A8A7D"/>
    <a:srgbClr val="FFFF00"/>
    <a:srgbClr val="A0AEC0"/>
    <a:srgbClr val="257993"/>
    <a:srgbClr val="F4D862"/>
    <a:srgbClr val="F9E7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7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50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C6C57-A6D6-4DE1-9466-2D69169593D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1BE2-FB9D-45E9-8320-BE51746B0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73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3F52A4-4167-BE6C-0C34-FBFE1AF2522D}"/>
              </a:ext>
            </a:extLst>
          </p:cNvPr>
          <p:cNvSpPr/>
          <p:nvPr userDrawn="1"/>
        </p:nvSpPr>
        <p:spPr>
          <a:xfrm>
            <a:off x="0" y="0"/>
            <a:ext cx="12192000" cy="818804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948175-77A1-04C6-D1FD-F48619C880D6}"/>
              </a:ext>
            </a:extLst>
          </p:cNvPr>
          <p:cNvSpPr/>
          <p:nvPr userDrawn="1"/>
        </p:nvSpPr>
        <p:spPr>
          <a:xfrm>
            <a:off x="0" y="773085"/>
            <a:ext cx="12192000" cy="45719"/>
          </a:xfrm>
          <a:prstGeom prst="rect">
            <a:avLst/>
          </a:prstGeom>
          <a:solidFill>
            <a:srgbClr val="004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103F0D4-40E7-1246-3E3D-783D4633D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36342"/>
            <a:ext cx="11353800" cy="5305586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defRPr sz="1600"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D073BAB-F947-4405-BF35-5CE8AFC7B1D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2609C4A-6649-54C7-258F-2DC633C7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>
            <a:lvl1pPr>
              <a:defRPr sz="2800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A7C4AD4-F5ED-0AAC-1A1E-C9AF1C0A33F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E69938-5676-E435-A658-4C406829F560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680A0C3F-4CFE-71AC-AF77-E7C60C440D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097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AD7C-D5CC-DEDC-1E74-880CABFD3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8C3CAA-0AAB-4106-A42E-66B41FEFD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F3899-C826-B199-4093-C2E82AFA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7B4072-FD41-EBC2-EF25-C9A86B86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72C32-A0E2-28CF-D3EF-28F4E5A8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27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AD1F0-8939-BA3A-34A9-34955487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E9E97-6B6D-36A1-B8E5-87F5CB46C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85327-6A8B-7398-1545-78C96F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767B7-4D3E-6CBB-8833-D589BFAF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05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A2876-06A8-43D3-9AB3-1FA1E136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10778-0F73-94D7-A6FC-2526EE39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F6B77C-C40E-6BBF-A188-8859E8A9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249E6-A4B6-56AE-2F87-210C997F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41139-FAD5-C8E2-590F-2C34428C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7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5C0CF-570B-FAD4-6DDC-161414AB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B021-E3A7-88AD-F2C4-E8F9A7743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9FB538-5B2E-915D-F292-9C3A7D6E5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85514-70A8-EE8D-D38A-25A090F9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39419-7469-B93B-A530-6423CC2F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F88CF6-26A3-8ABE-B37E-3DD66202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F985A-752C-5533-78F0-2966D33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13A11-8624-9483-86CA-BDDB35145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E0471-E237-8490-D749-D52F62A4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9FCB37-A237-2625-5013-D40ACB911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6E00D-4019-12FB-DCC5-30B9C95B0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DE5F86-046A-E54B-62FF-7784A6D6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237855-DF4D-2403-6322-04F38F0F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7A5A9-FEA3-B117-6153-4C30C079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57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7B565-AEEB-3A72-3CCF-31F7507A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5FB16-844E-59CC-9D90-4B6D0EA7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1B32D9-EDA5-9A90-ED4B-C4541648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1CB97-DADF-76D0-ED98-76F232B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8EA502-A711-62E3-ECD2-AE9BA378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9969E2-F331-BBBF-92B5-73468F1C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FE645-14D3-DF75-EE27-1DC5370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9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8AC59-1580-F3AF-D5C4-24575B24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96DA0-621E-7368-C54A-C08F4757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2553C9-98FE-B6B9-A86F-A359B92D4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51FA90-5889-FC3B-587E-892E9B7A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D7A89-78DE-EF34-D013-91D88C4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3FAEA-788E-13FD-BBF4-AE84A8B4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9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74901-D00D-E8C4-FD77-FA7896FA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DBA276-C3B8-54D3-5607-7069F9D9B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2D4F79-D0C9-AEEF-7604-8C828B1E9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F3861-148A-3BEE-6A70-EECEC1A3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7C410-A446-6F41-7902-2084E4FC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8B4C10-61CA-E84F-FB62-64795544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07BB7-AA90-7550-2DEC-25CB5278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E4F7F4-6378-1F8C-3DFE-D36DABCEF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C5C2-4072-ED4D-D21C-5E74D6B5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F3088-5582-1690-94AF-BA59ED39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BB330-ADA6-5F3C-1EE9-C86F951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0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745AD7-0275-1507-264B-EB4EA470B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F84FA7-C90C-1974-88BA-253DB43D0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AC28D-616D-1CBB-D765-3C203E4E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78735-343F-19AA-29B4-5D670C0E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BB36F-0F42-5531-EB11-095C3E5D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80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0A365E-AC0E-4D2E-8CDF-506843DA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9E58F7-B9A7-195D-E63B-F2956E40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BCCAD-67CA-F2C4-93B2-09344CC8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B35E7-2609-0BF1-3A65-F13305A57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FF3D9-5BBD-E7B8-2B94-93F5667FC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E6838D-7298-0263-413F-B9986AA0E29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06ED09-7217-57E5-5A7C-320B4359B648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40FC96E2-F531-A2ED-3BD5-F90CA88113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46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C8B4BD2-319E-33FF-FB96-E68311CF8B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86B7F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82D914-FE61-0E6C-D4D7-28E22FEB55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624699"/>
            <a:ext cx="12192000" cy="233302"/>
          </a:xfrm>
          <a:prstGeom prst="rect">
            <a:avLst/>
          </a:prstGeom>
          <a:solidFill>
            <a:srgbClr val="013B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27041A-EBC8-428C-307D-C79330D85C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12" y="235856"/>
            <a:ext cx="1422006" cy="4905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867C56-1744-041D-F773-914E4E8D82D3}"/>
              </a:ext>
            </a:extLst>
          </p:cNvPr>
          <p:cNvSpPr txBox="1"/>
          <p:nvPr/>
        </p:nvSpPr>
        <p:spPr>
          <a:xfrm>
            <a:off x="574862" y="1662158"/>
            <a:ext cx="9455327" cy="7694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대학</a:t>
            </a:r>
            <a:r>
              <a:rPr lang="en-US" altLang="ko-KR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취업</a:t>
            </a:r>
            <a:r>
              <a:rPr lang="en-US" altLang="ko-KR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그리고 </a:t>
            </a:r>
            <a:r>
              <a:rPr lang="en-US" altLang="ko-KR" sz="4400" b="1" spc="-150"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endParaRPr lang="en-US" altLang="ko-KR" sz="4400" b="1" spc="-1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 descr="사람, 예술이(가) 표시된 사진&#10;&#10;자동 생성된 설명">
            <a:extLst>
              <a:ext uri="{FF2B5EF4-FFF2-40B4-BE49-F238E27FC236}">
                <a16:creationId xmlns:a16="http://schemas.microsoft.com/office/drawing/2014/main" id="{E5236A04-D43A-89D6-F605-2D95852F28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526" y="1569901"/>
            <a:ext cx="6889474" cy="4340369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F9123AB-80D3-0182-AB4D-773BB4638EF0}"/>
              </a:ext>
            </a:extLst>
          </p:cNvPr>
          <p:cNvCxnSpPr>
            <a:cxnSpLocks/>
          </p:cNvCxnSpPr>
          <p:nvPr/>
        </p:nvCxnSpPr>
        <p:spPr>
          <a:xfrm>
            <a:off x="298336" y="5195841"/>
            <a:ext cx="11609152" cy="0"/>
          </a:xfrm>
          <a:prstGeom prst="line">
            <a:avLst/>
          </a:prstGeom>
          <a:ln w="12700" cap="rnd">
            <a:solidFill>
              <a:srgbClr val="013B94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3165F9F-A411-022C-C2CA-4CDAD6C01EB9}"/>
              </a:ext>
            </a:extLst>
          </p:cNvPr>
          <p:cNvSpPr txBox="1"/>
          <p:nvPr/>
        </p:nvSpPr>
        <p:spPr>
          <a:xfrm>
            <a:off x="3044825" y="572560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13B94"/>
                </a:solidFill>
                <a:latin typeface="Noto Sans KR"/>
              </a:defRPr>
            </a:pPr>
            <a:r>
              <a:rPr lang="ko-KR" altLang="en-US" b="1"/>
              <a:t>안준영  </a:t>
            </a:r>
            <a:r>
              <a:rPr lang="en-US" altLang="ko-KR" b="1"/>
              <a:t>|  </a:t>
            </a:r>
            <a:r>
              <a:rPr lang="ko-KR" altLang="en-US" b="1"/>
              <a:t>세종대학교 </a:t>
            </a:r>
            <a:r>
              <a:rPr lang="en-US" altLang="ko-KR" b="1"/>
              <a:t>HEART Lab</a:t>
            </a:r>
          </a:p>
        </p:txBody>
      </p:sp>
    </p:spTree>
    <p:extLst>
      <p:ext uri="{BB962C8B-B14F-4D97-AF65-F5344CB8AC3E}">
        <p14:creationId xmlns:p14="http://schemas.microsoft.com/office/powerpoint/2010/main" val="2078163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79C11-2779-79F7-4F3B-F6FB5B12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CC45FD6-A14B-0309-77EC-757CBAA7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281593E-C7DE-5849-B6E7-5690478A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인공지능 취업</a:t>
            </a:r>
            <a:r>
              <a:rPr lang="en-US" altLang="ko-KR"/>
              <a:t>, </a:t>
            </a:r>
            <a:r>
              <a:rPr lang="ko-KR" altLang="en-US"/>
              <a:t>크게 두 가지</a:t>
            </a:r>
            <a:endParaRPr lang="ko-KR" altLang="en-US" dirty="0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C2A088FB-8774-1196-C297-8AC968CC2F76}"/>
              </a:ext>
            </a:extLst>
          </p:cNvPr>
          <p:cNvSpPr/>
          <p:nvPr/>
        </p:nvSpPr>
        <p:spPr>
          <a:xfrm>
            <a:off x="561340" y="1463675"/>
            <a:ext cx="5303520" cy="41148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F3DC0-9B2B-5E76-F60C-CF18FF3607E8}"/>
              </a:ext>
            </a:extLst>
          </p:cNvPr>
          <p:cNvSpPr txBox="1"/>
          <p:nvPr/>
        </p:nvSpPr>
        <p:spPr>
          <a:xfrm>
            <a:off x="561340" y="1555115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13B94"/>
                </a:solidFill>
                <a:latin typeface="Noto Sans KR"/>
              </a:defRPr>
            </a:pPr>
            <a:r>
              <a:t>기업 개발자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7DE5DC-9CD5-1118-D1A8-088F31692617}"/>
              </a:ext>
            </a:extLst>
          </p:cNvPr>
          <p:cNvSpPr txBox="1"/>
          <p:nvPr/>
        </p:nvSpPr>
        <p:spPr>
          <a:xfrm>
            <a:off x="927100" y="2286635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삼성, 현대, LG, 네이버, 카카오...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각 회사의 도메인이 다름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(반도체, 자동차, 의학, 금융, 로봇...)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333333"/>
                </a:solidFill>
                <a:latin typeface="Noto Sans KR"/>
              </a:defRPr>
            </a:pPr>
            <a:r>
              <a:t>도메인에 맞는 서비스(제품)를</a:t>
            </a:r>
          </a:p>
          <a:p>
            <a:pPr>
              <a:spcAft>
                <a:spcPts val="500"/>
              </a:spcAft>
              <a:defRPr sz="1700" b="1">
                <a:solidFill>
                  <a:srgbClr val="333333"/>
                </a:solidFill>
                <a:latin typeface="Noto Sans KR"/>
              </a:defRPr>
            </a:pPr>
            <a:r>
              <a:t>만드는 사람</a:t>
            </a: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993EE2FD-F797-A603-0B69-D76B69971A18}"/>
              </a:ext>
            </a:extLst>
          </p:cNvPr>
          <p:cNvSpPr/>
          <p:nvPr/>
        </p:nvSpPr>
        <p:spPr>
          <a:xfrm>
            <a:off x="6322060" y="1463675"/>
            <a:ext cx="5303520" cy="4114800"/>
          </a:xfrm>
          <a:prstGeom prst="roundRect">
            <a:avLst/>
          </a:prstGeom>
          <a:solidFill>
            <a:srgbClr val="FE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93D313-B5FA-1F62-CE42-F0EA5B696712}"/>
              </a:ext>
            </a:extLst>
          </p:cNvPr>
          <p:cNvSpPr txBox="1"/>
          <p:nvPr/>
        </p:nvSpPr>
        <p:spPr>
          <a:xfrm>
            <a:off x="6322060" y="1555115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6B35"/>
                </a:solidFill>
                <a:latin typeface="Noto Sans KR"/>
              </a:defRPr>
            </a:pPr>
            <a:r>
              <a:t>연구소 (연구원)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CE4CE3-10CA-58E2-7715-AC64627547AF}"/>
              </a:ext>
            </a:extLst>
          </p:cNvPr>
          <p:cNvSpPr txBox="1"/>
          <p:nvPr/>
        </p:nvSpPr>
        <p:spPr>
          <a:xfrm>
            <a:off x="6687820" y="2286635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기업 연구소, 국책 연구소, 대학원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트렌드에 맞춰 기술 발전을 리드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r>
              <a:t>논문, 특허, 기술 이전</a:t>
            </a:r>
          </a:p>
          <a:p>
            <a:pPr>
              <a:spcAft>
                <a:spcPts val="500"/>
              </a:spcAft>
              <a:defRPr sz="1700" b="0">
                <a:solidFill>
                  <a:srgbClr val="333333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333333"/>
                </a:solidFill>
                <a:latin typeface="Noto Sans KR"/>
              </a:defRPr>
            </a:pPr>
            <a:r>
              <a:t>연구소는 국책과제(정부 과제)로 운영</a:t>
            </a: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E1958993-7599-860C-F44F-FCF10139F435}"/>
              </a:ext>
            </a:extLst>
          </p:cNvPr>
          <p:cNvSpPr/>
          <p:nvPr/>
        </p:nvSpPr>
        <p:spPr>
          <a:xfrm>
            <a:off x="1841500" y="5852795"/>
            <a:ext cx="8503920" cy="6400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B79A4C-B618-8D1F-A93F-46CD02E10AD9}"/>
              </a:ext>
            </a:extLst>
          </p:cNvPr>
          <p:cNvSpPr txBox="1"/>
          <p:nvPr/>
        </p:nvSpPr>
        <p:spPr>
          <a:xfrm>
            <a:off x="1841500" y="5898515"/>
            <a:ext cx="8503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공통:  AI로 문제를 풀 수 있는 사람이 필요</a:t>
            </a:r>
          </a:p>
        </p:txBody>
      </p:sp>
      <p:pic>
        <p:nvPicPr>
          <p:cNvPr id="20" name="그림 19" descr="폰트, 로고, 그래픽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5A5C28-E85A-76CA-CB8B-269F799DD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4638907"/>
            <a:ext cx="1374140" cy="824499"/>
          </a:xfrm>
          <a:prstGeom prst="rect">
            <a:avLst/>
          </a:prstGeom>
        </p:spPr>
      </p:pic>
      <p:pic>
        <p:nvPicPr>
          <p:cNvPr id="22" name="그림 21" descr="로고, 상징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53D271-F8E0-845D-E384-B28923E4D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840" y="4636213"/>
            <a:ext cx="1457960" cy="878414"/>
          </a:xfrm>
          <a:prstGeom prst="rect">
            <a:avLst/>
          </a:prstGeom>
        </p:spPr>
      </p:pic>
      <p:pic>
        <p:nvPicPr>
          <p:cNvPr id="24" name="그림 23" descr="폰트, 노랑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8E9050-C745-C6B8-7306-9D997BEAB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460" y="4611949"/>
            <a:ext cx="1457960" cy="878414"/>
          </a:xfrm>
          <a:prstGeom prst="rect">
            <a:avLst/>
          </a:prstGeom>
        </p:spPr>
      </p:pic>
      <p:pic>
        <p:nvPicPr>
          <p:cNvPr id="26" name="그림 25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194268-89A6-CFF1-B0E5-5D2D289D6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538" y="4481195"/>
            <a:ext cx="1961187" cy="792959"/>
          </a:xfrm>
          <a:prstGeom prst="rect">
            <a:avLst/>
          </a:prstGeom>
        </p:spPr>
      </p:pic>
      <p:pic>
        <p:nvPicPr>
          <p:cNvPr id="28" name="그림 27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746728-0B69-5344-0EA4-7E6E1F7477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8559" y="4460270"/>
            <a:ext cx="1961187" cy="8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12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DDCE-2F34-07B7-8836-8F39D0B6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09068E-0B26-7659-63DA-ACF7AA87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3F1C1F4-7C2D-FCC9-D9D7-0F6173CE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AI </a:t>
            </a:r>
            <a:r>
              <a:rPr lang="ko-KR" altLang="en-US"/>
              <a:t>취업시장 현실</a:t>
            </a:r>
            <a:endParaRPr lang="ko-KR" altLang="en-US" dirty="0"/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887FC85C-DE60-6564-D716-69191F8A9ED1}"/>
              </a:ext>
            </a:extLst>
          </p:cNvPr>
          <p:cNvSpPr/>
          <p:nvPr/>
        </p:nvSpPr>
        <p:spPr>
          <a:xfrm>
            <a:off x="6457950" y="1667510"/>
            <a:ext cx="5212080" cy="12801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B913C-D56D-F99A-BE5A-C35910E07AA5}"/>
              </a:ext>
            </a:extLst>
          </p:cNvPr>
          <p:cNvSpPr txBox="1"/>
          <p:nvPr/>
        </p:nvSpPr>
        <p:spPr>
          <a:xfrm>
            <a:off x="6732270" y="175895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AI 경력직 요구 비율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BB24C-7287-9E3E-03F4-5C1EE30819BE}"/>
              </a:ext>
            </a:extLst>
          </p:cNvPr>
          <p:cNvSpPr txBox="1"/>
          <p:nvPr/>
        </p:nvSpPr>
        <p:spPr>
          <a:xfrm>
            <a:off x="6732270" y="221615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54%  →  80.6%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E1C26EAC-C0D3-6E7A-4A31-4B472FE4FE0B}"/>
              </a:ext>
            </a:extLst>
          </p:cNvPr>
          <p:cNvSpPr/>
          <p:nvPr/>
        </p:nvSpPr>
        <p:spPr>
          <a:xfrm>
            <a:off x="6457950" y="3130550"/>
            <a:ext cx="5212080" cy="12801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C8FD19-0082-87B6-82F8-A595B5185A0B}"/>
              </a:ext>
            </a:extLst>
          </p:cNvPr>
          <p:cNvSpPr txBox="1"/>
          <p:nvPr/>
        </p:nvSpPr>
        <p:spPr>
          <a:xfrm>
            <a:off x="6732270" y="322199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2026년 신입 채용 비율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8C5451-403F-0370-7428-E02BCBD4ABA2}"/>
              </a:ext>
            </a:extLst>
          </p:cNvPr>
          <p:cNvSpPr txBox="1"/>
          <p:nvPr/>
        </p:nvSpPr>
        <p:spPr>
          <a:xfrm>
            <a:off x="6732270" y="367919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12.4%</a:t>
            </a:r>
          </a:p>
        </p:txBody>
      </p:sp>
      <p:sp>
        <p:nvSpPr>
          <p:cNvPr id="12" name="Rounded Rectangle 14">
            <a:extLst>
              <a:ext uri="{FF2B5EF4-FFF2-40B4-BE49-F238E27FC236}">
                <a16:creationId xmlns:a16="http://schemas.microsoft.com/office/drawing/2014/main" id="{CABDB800-53DB-862F-9757-566A033712B3}"/>
              </a:ext>
            </a:extLst>
          </p:cNvPr>
          <p:cNvSpPr/>
          <p:nvPr/>
        </p:nvSpPr>
        <p:spPr>
          <a:xfrm>
            <a:off x="6457950" y="4593590"/>
            <a:ext cx="5212080" cy="1280160"/>
          </a:xfrm>
          <a:prstGeom prst="round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43E47-2477-110E-886A-B4657EA53F2D}"/>
              </a:ext>
            </a:extLst>
          </p:cNvPr>
          <p:cNvSpPr txBox="1"/>
          <p:nvPr/>
        </p:nvSpPr>
        <p:spPr>
          <a:xfrm>
            <a:off x="6732270" y="468503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SW 신입 비중 2년 변화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E8D50D-22C3-6F83-722B-F5DCA4FAAD3B}"/>
              </a:ext>
            </a:extLst>
          </p:cNvPr>
          <p:cNvSpPr txBox="1"/>
          <p:nvPr/>
        </p:nvSpPr>
        <p:spPr>
          <a:xfrm>
            <a:off x="6732270" y="514223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53.5%  →  37.4%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EB1CBA-C361-11EA-5FB3-3BC7A65E0920}"/>
              </a:ext>
            </a:extLst>
          </p:cNvPr>
          <p:cNvSpPr txBox="1"/>
          <p:nvPr/>
        </p:nvSpPr>
        <p:spPr>
          <a:xfrm>
            <a:off x="6457950" y="605663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출처: ZDNet 2025.12 / 서울신문 2026.01</a:t>
            </a:r>
          </a:p>
        </p:txBody>
      </p:sp>
      <p:pic>
        <p:nvPicPr>
          <p:cNvPr id="27" name="그림 2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B2FFDF-6653-4586-D35F-22E5F8FD7A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1145"/>
          <a:stretch>
            <a:fillRect/>
          </a:stretch>
        </p:blipFill>
        <p:spPr>
          <a:xfrm>
            <a:off x="1198355" y="3211830"/>
            <a:ext cx="3438165" cy="1001877"/>
          </a:xfrm>
          <a:prstGeom prst="rect">
            <a:avLst/>
          </a:prstGeom>
        </p:spPr>
      </p:pic>
      <p:pic>
        <p:nvPicPr>
          <p:cNvPr id="32" name="그림 31" descr="텍스트, 폰트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6128CE-C678-3F6F-C060-07C8D12CB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614" y="2216150"/>
            <a:ext cx="5263061" cy="927535"/>
          </a:xfrm>
          <a:prstGeom prst="rect">
            <a:avLst/>
          </a:prstGeom>
        </p:spPr>
      </p:pic>
      <p:pic>
        <p:nvPicPr>
          <p:cNvPr id="36" name="그림 35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CA4C47-2477-E6AF-3740-26DD70A3B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" y="3958657"/>
            <a:ext cx="4075430" cy="1130604"/>
          </a:xfrm>
          <a:prstGeom prst="rect">
            <a:avLst/>
          </a:prstGeom>
        </p:spPr>
      </p:pic>
      <p:pic>
        <p:nvPicPr>
          <p:cNvPr id="38" name="그림 37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AFB230-52A8-52B0-8C8C-82D5337DA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50" y="1508357"/>
            <a:ext cx="5039700" cy="707793"/>
          </a:xfrm>
          <a:prstGeom prst="rect">
            <a:avLst/>
          </a:prstGeom>
        </p:spPr>
      </p:pic>
      <p:pic>
        <p:nvPicPr>
          <p:cNvPr id="34" name="그림 33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636669-425D-A32A-2804-88EF95CDE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649" y="4720468"/>
            <a:ext cx="4421026" cy="84352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9515CD5-7CF4-F2E8-0908-0C2182B6842B}"/>
              </a:ext>
            </a:extLst>
          </p:cNvPr>
          <p:cNvSpPr txBox="1"/>
          <p:nvPr/>
        </p:nvSpPr>
        <p:spPr>
          <a:xfrm>
            <a:off x="1712913" y="5701421"/>
            <a:ext cx="6118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신입사원</a:t>
            </a:r>
            <a:r>
              <a:rPr lang="en-US" altLang="ko-KR" b="1">
                <a:solidFill>
                  <a:srgbClr val="FF0000"/>
                </a:solidFill>
              </a:rPr>
              <a:t> </a:t>
            </a:r>
            <a:r>
              <a:rPr lang="ko-KR" altLang="en-US" b="1">
                <a:solidFill>
                  <a:srgbClr val="FF0000"/>
                </a:solidFill>
              </a:rPr>
              <a:t>취업난</a:t>
            </a:r>
          </a:p>
        </p:txBody>
      </p:sp>
    </p:spTree>
    <p:extLst>
      <p:ext uri="{BB962C8B-B14F-4D97-AF65-F5344CB8AC3E}">
        <p14:creationId xmlns:p14="http://schemas.microsoft.com/office/powerpoint/2010/main" val="240515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620F-4F37-194B-7899-13A410C2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396FB62-5929-492B-25D8-3BDA85638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539C853-8426-16C9-4A78-63D1F139C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왜 신입을 안 뽑는가</a:t>
            </a:r>
            <a:r>
              <a:rPr lang="en-US" altLang="ko-KR"/>
              <a:t>?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DDF18-134C-67A5-F0FF-48995F0A1CD4}"/>
              </a:ext>
            </a:extLst>
          </p:cNvPr>
          <p:cNvSpPr txBox="1"/>
          <p:nvPr/>
        </p:nvSpPr>
        <p:spPr>
          <a:xfrm>
            <a:off x="36576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Noto Sans KR"/>
              </a:defRPr>
            </a:pPr>
            <a:r>
              <a:t>HEART Lab | Sejong Univ.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4322C-780F-FC2C-78EB-58F9E0919360}"/>
              </a:ext>
            </a:extLst>
          </p:cNvPr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  <a:latin typeface="Noto Sans KR"/>
              </a:defRPr>
            </a:pPr>
            <a:r>
              <a:t>교육시켜놔도  1~2년 만에 이직해버림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FCBB0-3B94-EF31-6817-586793FBB7C1}"/>
              </a:ext>
            </a:extLst>
          </p:cNvPr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Noto Sans KR"/>
              </a:defRPr>
            </a:pPr>
            <a:r>
              <a:t>그래서 처음부터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63298573-F833-7585-C1AE-FEE215AF0BEE}"/>
              </a:ext>
            </a:extLst>
          </p:cNvPr>
          <p:cNvSpPr/>
          <p:nvPr/>
        </p:nvSpPr>
        <p:spPr>
          <a:xfrm>
            <a:off x="1828800" y="3657600"/>
            <a:ext cx="8503920" cy="13716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09650B-C186-0959-6D4B-2E574CE3F305}"/>
              </a:ext>
            </a:extLst>
          </p:cNvPr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Noto Sans KR"/>
              </a:defRPr>
            </a:pPr>
            <a:r>
              <a:t>바로 투입 가능한 사람을 원한다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E50EE4-D626-0CE0-091D-8C4A3BA5B007}"/>
              </a:ext>
            </a:extLst>
          </p:cNvPr>
          <p:cNvSpPr txBox="1"/>
          <p:nvPr/>
        </p:nvSpPr>
        <p:spPr>
          <a:xfrm>
            <a:off x="731520" y="548640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13B94"/>
                </a:solidFill>
                <a:latin typeface="Noto Sans KR"/>
              </a:defRPr>
            </a:pPr>
            <a:r>
              <a:rPr lang="ko-KR" altLang="en-US"/>
              <a:t>일반적인 </a:t>
            </a:r>
            <a:r>
              <a:t>스펙이 아니라,  </a:t>
            </a:r>
            <a:r>
              <a:rPr lang="ko-KR" altLang="en-US" b="1"/>
              <a:t>실제 </a:t>
            </a:r>
            <a:r>
              <a:rPr b="1"/>
              <a:t>문제를 풀어본 경험이 있는 사람</a:t>
            </a:r>
          </a:p>
        </p:txBody>
      </p:sp>
    </p:spTree>
    <p:extLst>
      <p:ext uri="{BB962C8B-B14F-4D97-AF65-F5344CB8AC3E}">
        <p14:creationId xmlns:p14="http://schemas.microsoft.com/office/powerpoint/2010/main" val="268938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50C88-0208-C86F-FEC6-0CCF290BE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650F67-D2C0-2C16-9818-6E59409C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80C5A47-D3D1-D387-BA1D-938A5DFA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바로 투입 </a:t>
            </a:r>
            <a:r>
              <a:rPr lang="en-US" altLang="ko-KR"/>
              <a:t>= </a:t>
            </a:r>
            <a:r>
              <a:rPr lang="ko-KR" altLang="en-US"/>
              <a:t>문제 해결 능력</a:t>
            </a:r>
            <a:endParaRPr lang="ko-KR" altLang="en-US" dirty="0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BECD2F93-8A4C-C557-F143-5A20F7C0443F}"/>
              </a:ext>
            </a:extLst>
          </p:cNvPr>
          <p:cNvSpPr/>
          <p:nvPr/>
        </p:nvSpPr>
        <p:spPr>
          <a:xfrm>
            <a:off x="470262" y="1477010"/>
            <a:ext cx="11064240" cy="182880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2012A-A534-984B-70E3-4DC2FB9260FD}"/>
              </a:ext>
            </a:extLst>
          </p:cNvPr>
          <p:cNvSpPr txBox="1"/>
          <p:nvPr/>
        </p:nvSpPr>
        <p:spPr>
          <a:xfrm>
            <a:off x="744582" y="1549400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13B94"/>
                </a:solidFill>
                <a:latin typeface="Noto Sans KR"/>
              </a:defRPr>
            </a:pPr>
            <a:r>
              <a:t>기업은 "YOLO 돌려</a:t>
            </a:r>
            <a:r>
              <a:rPr lang="ko-KR" altLang="en-US"/>
              <a:t>서 불량품 찾을 수 있는 모델 만들어</a:t>
            </a:r>
            <a:r>
              <a:t>주세요" 라고 안 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6EFDB-04FF-D292-2630-C3A1361A5B97}"/>
              </a:ext>
            </a:extLst>
          </p:cNvPr>
          <p:cNvSpPr txBox="1"/>
          <p:nvPr/>
        </p:nvSpPr>
        <p:spPr>
          <a:xfrm>
            <a:off x="744582" y="2189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Noto Sans KR"/>
              </a:defRPr>
            </a:pPr>
            <a:r>
              <a:t>"우리 공장에서 불량품 찾고 싶은데"  →  여기서부터 다 설계해야 함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3A391B4A-42F8-AED3-F028-550FAF4224E9}"/>
              </a:ext>
            </a:extLst>
          </p:cNvPr>
          <p:cNvSpPr/>
          <p:nvPr/>
        </p:nvSpPr>
        <p:spPr>
          <a:xfrm>
            <a:off x="443574" y="3652520"/>
            <a:ext cx="5029200" cy="22860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0C2F4-66D7-5CA4-1FE8-8EC417B2A502}"/>
              </a:ext>
            </a:extLst>
          </p:cNvPr>
          <p:cNvSpPr txBox="1"/>
          <p:nvPr/>
        </p:nvSpPr>
        <p:spPr>
          <a:xfrm>
            <a:off x="744582" y="371729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Noto Sans KR"/>
              </a:defRPr>
            </a:pPr>
            <a:r>
              <a:t>코딩은 당연히 해야 한다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52C1B-5DBA-11AB-36AC-B8FF4E8796B2}"/>
              </a:ext>
            </a:extLst>
          </p:cNvPr>
          <p:cNvSpPr txBox="1"/>
          <p:nvPr/>
        </p:nvSpPr>
        <p:spPr>
          <a:xfrm>
            <a:off x="744582" y="42926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666666"/>
                </a:solidFill>
                <a:latin typeface="Noto Sans KR"/>
              </a:defRPr>
            </a:pPr>
            <a:r>
              <a:t>코드를 짜고 핸들링하는 건 기본</a:t>
            </a:r>
          </a:p>
          <a:p>
            <a:pPr>
              <a:spcAft>
                <a:spcPts val="600"/>
              </a:spcAft>
              <a:defRPr sz="1600" b="0">
                <a:solidFill>
                  <a:srgbClr val="666666"/>
                </a:solidFill>
                <a:latin typeface="Noto Sans KR"/>
              </a:defRPr>
            </a:pPr>
            <a:endParaRPr/>
          </a:p>
          <a:p>
            <a:pPr>
              <a:spcAft>
                <a:spcPts val="600"/>
              </a:spcAft>
              <a:defRPr sz="1600" b="1">
                <a:solidFill>
                  <a:srgbClr val="666666"/>
                </a:solidFill>
                <a:latin typeface="Noto Sans KR"/>
              </a:defRPr>
            </a:pPr>
            <a:r>
              <a:t>근데 코딩만 할 줄 아는 건 부족</a:t>
            </a:r>
          </a:p>
          <a:p>
            <a:pPr>
              <a:spcAft>
                <a:spcPts val="600"/>
              </a:spcAft>
              <a:defRPr sz="1600" b="1">
                <a:solidFill>
                  <a:srgbClr val="666666"/>
                </a:solidFill>
                <a:latin typeface="Noto Sans KR"/>
              </a:defRPr>
            </a:pPr>
            <a:r>
              <a:t>뭘 만들지 아는 것까지 되어야 함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ED67D6C0-3D33-D282-13D1-C00A8C90E630}"/>
              </a:ext>
            </a:extLst>
          </p:cNvPr>
          <p:cNvSpPr/>
          <p:nvPr/>
        </p:nvSpPr>
        <p:spPr>
          <a:xfrm>
            <a:off x="5865222" y="3652520"/>
            <a:ext cx="5669280" cy="22860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87BE9E-0970-3F33-655F-8C06D2E8D3F6}"/>
              </a:ext>
            </a:extLst>
          </p:cNvPr>
          <p:cNvSpPr txBox="1"/>
          <p:nvPr/>
        </p:nvSpPr>
        <p:spPr>
          <a:xfrm>
            <a:off x="6139542" y="3743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Noto Sans KR"/>
              </a:defRPr>
            </a:pPr>
            <a:r>
              <a:t>지금 핫한 기술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EEF5F7-43A6-FAFF-C68C-9EEF165C1D56}"/>
              </a:ext>
            </a:extLst>
          </p:cNvPr>
          <p:cNvSpPr txBox="1"/>
          <p:nvPr/>
        </p:nvSpPr>
        <p:spPr>
          <a:xfrm>
            <a:off x="6139542" y="42926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LLM  (ChatGPT, Claude)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AI Agent  (자율적 의사결정)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멀티모달  (영상 + 음성 + 텍스트)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Physical AI  (로봇, 자율주행)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B0CD21-91C2-120B-9FD8-CCCD2C98B0C1}"/>
              </a:ext>
            </a:extLst>
          </p:cNvPr>
          <p:cNvSpPr txBox="1"/>
          <p:nvPr/>
        </p:nvSpPr>
        <p:spPr>
          <a:xfrm>
            <a:off x="470262" y="6212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t>이걸 조합해서 실제 서비스를 구현할 수 있는 능력  =  바로 투입</a:t>
            </a:r>
          </a:p>
        </p:txBody>
      </p:sp>
    </p:spTree>
    <p:extLst>
      <p:ext uri="{BB962C8B-B14F-4D97-AF65-F5344CB8AC3E}">
        <p14:creationId xmlns:p14="http://schemas.microsoft.com/office/powerpoint/2010/main" val="3539337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66FE3-203F-13F0-CF1C-DCA8BF32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F8DEA1-2FC1-986B-1E5D-632B28C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040D0DD-DE4A-0008-F2E1-A09932A7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세계는 지금 어디로 가고 있냐</a:t>
            </a:r>
            <a:endParaRPr lang="ko-KR" altLang="en-US" dirty="0"/>
          </a:p>
        </p:txBody>
      </p:sp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53250FEE-167C-6515-A387-146AFA8F3B0A}"/>
              </a:ext>
            </a:extLst>
          </p:cNvPr>
          <p:cNvSpPr/>
          <p:nvPr/>
        </p:nvSpPr>
        <p:spPr>
          <a:xfrm>
            <a:off x="548640" y="1828800"/>
            <a:ext cx="3566160" cy="25603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54C4C-B621-1A5C-BC98-08D10F61FEA4}"/>
              </a:ext>
            </a:extLst>
          </p:cNvPr>
          <p:cNvSpPr txBox="1"/>
          <p:nvPr/>
        </p:nvSpPr>
        <p:spPr>
          <a:xfrm>
            <a:off x="548640" y="2011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NVIDIA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562426-2F19-5C59-D566-363872E3CB8F}"/>
              </a:ext>
            </a:extLst>
          </p:cNvPr>
          <p:cNvSpPr txBox="1"/>
          <p:nvPr/>
        </p:nvSpPr>
        <p:spPr>
          <a:xfrm>
            <a:off x="548639" y="2623622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Audio2Face:</a:t>
            </a:r>
            <a:br/>
            <a:r>
              <a:t>감정 분석 → 표정 생성</a:t>
            </a:r>
            <a:br/>
            <a:br/>
            <a:r>
              <a:t>Auto Emotion</a:t>
            </a:r>
            <a:br/>
            <a:br/>
            <a:r>
              <a:t>GTC 2026</a:t>
            </a:r>
            <a:br/>
            <a:r>
              <a:t>Affective Care Drive</a:t>
            </a: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2A3FF90C-3B38-4987-443E-B0B1E3049F7B}"/>
              </a:ext>
            </a:extLst>
          </p:cNvPr>
          <p:cNvSpPr/>
          <p:nvPr/>
        </p:nvSpPr>
        <p:spPr>
          <a:xfrm>
            <a:off x="4389120" y="1828800"/>
            <a:ext cx="3566160" cy="2560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77921-2565-FBC7-16B9-174B91D9E051}"/>
              </a:ext>
            </a:extLst>
          </p:cNvPr>
          <p:cNvSpPr txBox="1"/>
          <p:nvPr/>
        </p:nvSpPr>
        <p:spPr>
          <a:xfrm>
            <a:off x="4389120" y="2011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Affectiva</a:t>
            </a:r>
            <a:br/>
            <a:r>
              <a:t>(Smart Eye)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520E27-D77E-5E8A-4C66-76E2D47C45B4}"/>
              </a:ext>
            </a:extLst>
          </p:cNvPr>
          <p:cNvSpPr txBox="1"/>
          <p:nvPr/>
        </p:nvSpPr>
        <p:spPr>
          <a:xfrm>
            <a:off x="4389119" y="288290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감정 AI 글로벌 1위</a:t>
            </a:r>
            <a:br/>
            <a:br/>
            <a:r>
              <a:t>차량 감정인식 상용화</a:t>
            </a:r>
            <a:br/>
            <a:br/>
            <a:r>
              <a:t>$73.5M 인수</a:t>
            </a:r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85083E7E-43EA-2EBC-5ED2-D2956D38E0B8}"/>
              </a:ext>
            </a:extLst>
          </p:cNvPr>
          <p:cNvSpPr/>
          <p:nvPr/>
        </p:nvSpPr>
        <p:spPr>
          <a:xfrm>
            <a:off x="8229600" y="1828800"/>
            <a:ext cx="3566160" cy="25603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E4DE0C-770A-135C-4A51-C75CA556C95B}"/>
              </a:ext>
            </a:extLst>
          </p:cNvPr>
          <p:cNvSpPr txBox="1"/>
          <p:nvPr/>
        </p:nvSpPr>
        <p:spPr>
          <a:xfrm>
            <a:off x="8229600" y="20116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Top Conference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4F555-3AB4-74A6-6CEE-B0498D4CE77F}"/>
              </a:ext>
            </a:extLst>
          </p:cNvPr>
          <p:cNvSpPr txBox="1"/>
          <p:nvPr/>
        </p:nvSpPr>
        <p:spPr>
          <a:xfrm>
            <a:off x="8229600" y="274320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Noto Sans KR"/>
              </a:defRPr>
            </a:pPr>
            <a:r>
              <a:t>CVPR, AAAI,</a:t>
            </a:r>
            <a:br/>
            <a:r>
              <a:t>INTERSPEECH</a:t>
            </a:r>
            <a:br/>
            <a:br/>
            <a:r>
              <a:t>감정 인식이</a:t>
            </a:r>
            <a:br/>
            <a:r>
              <a:t>가장 활발한 주제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E8EBC-C32B-2FA0-4331-164BB9A41A74}"/>
              </a:ext>
            </a:extLst>
          </p:cNvPr>
          <p:cNvSpPr txBox="1"/>
          <p:nvPr/>
        </p:nvSpPr>
        <p:spPr>
          <a:xfrm>
            <a:off x="548640" y="116378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Noto Sans KR"/>
              </a:defRPr>
            </a:pPr>
            <a:r>
              <a:t>감정 AI (Emotion AI) — 글로벌 트렌드</a:t>
            </a:r>
            <a:r>
              <a:rPr lang="en-US"/>
              <a:t> (ex: Human AI)</a:t>
            </a:r>
            <a:endParaRPr/>
          </a:p>
        </p:txBody>
      </p:sp>
      <p:pic>
        <p:nvPicPr>
          <p:cNvPr id="21" name="20260320-0724-05.2633044">
            <a:hlinkClick r:id="" action="ppaction://media"/>
            <a:extLst>
              <a:ext uri="{FF2B5EF4-FFF2-40B4-BE49-F238E27FC236}">
                <a16:creationId xmlns:a16="http://schemas.microsoft.com/office/drawing/2014/main" id="{E69F6D2F-D22B-BF8C-FF66-D194610B526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131" y="4410857"/>
            <a:ext cx="2837475" cy="21177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53ACE40-2B8C-CF93-64A2-477D60B4BC6B}"/>
              </a:ext>
            </a:extLst>
          </p:cNvPr>
          <p:cNvSpPr txBox="1"/>
          <p:nvPr/>
        </p:nvSpPr>
        <p:spPr>
          <a:xfrm>
            <a:off x="1319677" y="6538401"/>
            <a:ext cx="23950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NVIDIA- Audio2Face</a:t>
            </a:r>
            <a:endParaRPr lang="ko-KR" altLang="en-US"/>
          </a:p>
        </p:txBody>
      </p:sp>
      <p:pic>
        <p:nvPicPr>
          <p:cNvPr id="1026" name="Picture 2" descr="감정을 읽는 AI, Affectiva">
            <a:extLst>
              <a:ext uri="{FF2B5EF4-FFF2-40B4-BE49-F238E27FC236}">
                <a16:creationId xmlns:a16="http://schemas.microsoft.com/office/drawing/2014/main" id="{ECC4821A-A8FA-AE32-45E6-FFAA335D8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997" y="4401038"/>
            <a:ext cx="2874404" cy="212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VPR Poster D2SP: Dynamic Dual-Stage Purification Framework for Dual Noise  Mitigation in Vision-based Affective Recognition.">
            <a:extLst>
              <a:ext uri="{FF2B5EF4-FFF2-40B4-BE49-F238E27FC236}">
                <a16:creationId xmlns:a16="http://schemas.microsoft.com/office/drawing/2014/main" id="{857BD55C-D991-7E7B-DD56-92C9DDEDD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330" y="4389120"/>
            <a:ext cx="2806700" cy="2094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3165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66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9386-388A-44BB-8A43-D37EDDD28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B710FDD-6860-B402-CCEE-090523231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2F86D76-BF67-313B-7408-4EADA7D4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현재 진행중인 과제 </a:t>
            </a:r>
            <a:r>
              <a:rPr lang="en-US" altLang="ko-KR"/>
              <a:t>– </a:t>
            </a:r>
            <a:r>
              <a:rPr lang="ko-KR" altLang="en-US"/>
              <a:t>현대자동차</a:t>
            </a:r>
            <a:endParaRPr lang="ko-KR" altLang="en-US" dirty="0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8E57DBEE-6EDF-1FCC-CC7C-C469B540290B}"/>
              </a:ext>
            </a:extLst>
          </p:cNvPr>
          <p:cNvSpPr/>
          <p:nvPr/>
        </p:nvSpPr>
        <p:spPr>
          <a:xfrm>
            <a:off x="563880" y="1426210"/>
            <a:ext cx="11064240" cy="7315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B814AD-E18F-EF96-7404-57B376D503F8}"/>
              </a:ext>
            </a:extLst>
          </p:cNvPr>
          <p:cNvSpPr txBox="1"/>
          <p:nvPr/>
        </p:nvSpPr>
        <p:spPr>
          <a:xfrm>
            <a:off x="746760" y="151765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dirty="0"/>
              <a:t>HEART Lab  —  Human Emotion and Intelligent Agent Research for Future Transformation</a:t>
            </a:r>
            <a:endParaRPr lang="en-US" dirty="0"/>
          </a:p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ko-KR" altLang="en-US" dirty="0" err="1">
                <a:solidFill>
                  <a:srgbClr val="FF0000"/>
                </a:solidFill>
              </a:rPr>
              <a:t>하트랩</a:t>
            </a:r>
            <a:r>
              <a:rPr lang="ko-KR" altLang="en-US" dirty="0">
                <a:solidFill>
                  <a:srgbClr val="FF0000"/>
                </a:solidFill>
              </a:rPr>
              <a:t> 연구 분야 추가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01A35A8F-9058-1791-0A26-80861E3A1CF3}"/>
              </a:ext>
            </a:extLst>
          </p:cNvPr>
          <p:cNvSpPr/>
          <p:nvPr/>
        </p:nvSpPr>
        <p:spPr>
          <a:xfrm>
            <a:off x="563880" y="2432049"/>
            <a:ext cx="11064240" cy="3877945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9650AB-50BA-5A27-6F45-F659117DA897}"/>
              </a:ext>
            </a:extLst>
          </p:cNvPr>
          <p:cNvSpPr txBox="1"/>
          <p:nvPr/>
        </p:nvSpPr>
        <p:spPr>
          <a:xfrm>
            <a:off x="929640" y="261493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t>현대자동차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D807B-2269-06FC-E337-0A077D4A1FD8}"/>
              </a:ext>
            </a:extLst>
          </p:cNvPr>
          <p:cNvSpPr txBox="1"/>
          <p:nvPr/>
        </p:nvSpPr>
        <p:spPr>
          <a:xfrm>
            <a:off x="929640" y="316357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6B7FE"/>
                </a:solidFill>
                <a:latin typeface="Noto Sans KR"/>
              </a:defRPr>
            </a:pPr>
            <a:r>
              <a:t>미래기술 공모전  —  선정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356E6-B936-8FE6-2410-3FA030B7A962}"/>
              </a:ext>
            </a:extLst>
          </p:cNvPr>
          <p:cNvSpPr txBox="1"/>
          <p:nvPr/>
        </p:nvSpPr>
        <p:spPr>
          <a:xfrm>
            <a:off x="929640" y="3895089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t>기존에 하던 감정인식 연구를 발전시켜 제안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t>Affective Care Drive: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t>멀티모달 센싱  →  운전자 감정 인식  →  안전 운전 지원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하고 있던 기술을 조금 바꿔서 낸 건데 바로 된 것</a:t>
            </a:r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= 기술력이 이미 그 수준이었다는 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3B2A0A-9683-D88B-FE13-B9CD3825788F}"/>
              </a:ext>
            </a:extLst>
          </p:cNvPr>
          <p:cNvSpPr txBox="1"/>
          <p:nvPr/>
        </p:nvSpPr>
        <p:spPr>
          <a:xfrm>
            <a:off x="7787640" y="293497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Noto Sans KR"/>
              </a:defRPr>
            </a:pPr>
            <a:r>
              <a:t>[현대차 로고]</a:t>
            </a:r>
          </a:p>
        </p:txBody>
      </p:sp>
      <p:pic>
        <p:nvPicPr>
          <p:cNvPr id="5" name="그림 4" descr="로고, 상징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5F3BD8-9494-661F-C6EE-9CF31A388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951" y="2603863"/>
            <a:ext cx="1991360" cy="1199785"/>
          </a:xfrm>
          <a:prstGeom prst="rect">
            <a:avLst/>
          </a:prstGeom>
        </p:spPr>
      </p:pic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076CFF-22D0-265A-4CF8-126BA623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022" y="4108946"/>
            <a:ext cx="4369218" cy="199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F778-DCAD-7574-9DBB-AFFE435F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F2AE976-E293-ED8D-7D68-D7D456B8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9F99598-73D4-54D8-0A3C-7B9B6B21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현재 진행중인 과제 </a:t>
            </a:r>
            <a:r>
              <a:rPr lang="en-US" altLang="ko-KR"/>
              <a:t>- </a:t>
            </a:r>
            <a:r>
              <a:rPr lang="ko-KR" altLang="en-US"/>
              <a:t>두산</a:t>
            </a:r>
            <a:endParaRPr lang="ko-KR" altLang="en-US" dirty="0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AF428398-27B9-FD42-1A73-F58095F90FB9}"/>
              </a:ext>
            </a:extLst>
          </p:cNvPr>
          <p:cNvSpPr/>
          <p:nvPr/>
        </p:nvSpPr>
        <p:spPr>
          <a:xfrm>
            <a:off x="563880" y="1426210"/>
            <a:ext cx="11064240" cy="7315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0B288-F25D-FAA9-EC24-82ECCEDBB0C7}"/>
              </a:ext>
            </a:extLst>
          </p:cNvPr>
          <p:cNvSpPr txBox="1"/>
          <p:nvPr/>
        </p:nvSpPr>
        <p:spPr>
          <a:xfrm>
            <a:off x="746760" y="151765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en-US" altLang="ko-KR" dirty="0"/>
              <a:t>HEART Lab  —  Human Emotion and Intelligent Agent Research for Future Transformation</a:t>
            </a:r>
          </a:p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ko-KR" altLang="en-US" dirty="0" err="1">
                <a:solidFill>
                  <a:srgbClr val="FF0000"/>
                </a:solidFill>
              </a:rPr>
              <a:t>하트랩</a:t>
            </a:r>
            <a:r>
              <a:rPr lang="ko-KR" altLang="en-US" dirty="0">
                <a:solidFill>
                  <a:srgbClr val="FF0000"/>
                </a:solidFill>
              </a:rPr>
              <a:t> 연구 분야 추가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B3A7CEBA-1B52-203E-DBA2-11074A039615}"/>
              </a:ext>
            </a:extLst>
          </p:cNvPr>
          <p:cNvSpPr/>
          <p:nvPr/>
        </p:nvSpPr>
        <p:spPr>
          <a:xfrm>
            <a:off x="563880" y="2432049"/>
            <a:ext cx="11064240" cy="387794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AEB81-0227-366E-049A-7A8893B12564}"/>
              </a:ext>
            </a:extLst>
          </p:cNvPr>
          <p:cNvSpPr txBox="1"/>
          <p:nvPr/>
        </p:nvSpPr>
        <p:spPr>
          <a:xfrm>
            <a:off x="929640" y="261493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rPr lang="ko-KR" altLang="en-US"/>
              <a:t>두산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308C6-54E5-42C6-31AC-AF02C23B95F4}"/>
              </a:ext>
            </a:extLst>
          </p:cNvPr>
          <p:cNvSpPr txBox="1"/>
          <p:nvPr/>
        </p:nvSpPr>
        <p:spPr>
          <a:xfrm>
            <a:off x="929640" y="316357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BDDFF"/>
                </a:solidFill>
                <a:latin typeface="Noto Sans KR"/>
              </a:defRPr>
            </a:pPr>
            <a:r>
              <a:rPr lang="ko-KR" altLang="en-US" dirty="0"/>
              <a:t>역대 가장 큰 금액 규모의 </a:t>
            </a:r>
            <a:r>
              <a:rPr lang="en-US" altLang="ko-KR" dirty="0"/>
              <a:t>R&amp;D </a:t>
            </a:r>
            <a:r>
              <a:rPr lang="ko-KR" altLang="en-US" dirty="0"/>
              <a:t>과제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532426-782C-AE98-4A2E-71172D2844D5}"/>
              </a:ext>
            </a:extLst>
          </p:cNvPr>
          <p:cNvSpPr txBox="1"/>
          <p:nvPr/>
        </p:nvSpPr>
        <p:spPr>
          <a:xfrm>
            <a:off x="929640" y="3895089"/>
            <a:ext cx="96012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rPr lang="ko-KR" altLang="en-US"/>
              <a:t>협동로봇에 </a:t>
            </a:r>
            <a:r>
              <a:rPr lang="en-US" altLang="ko-KR"/>
              <a:t>AI</a:t>
            </a:r>
            <a:r>
              <a:rPr lang="ko-KR" altLang="en-US"/>
              <a:t>를 넣는 프로젝트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endParaRPr lang="ko-KR" altLang="en-US"/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rPr lang="en-US" altLang="ko-KR"/>
              <a:t>VLM / VLA  +  AI SoC  +  </a:t>
            </a:r>
            <a:r>
              <a:rPr lang="ko-KR" altLang="en-US"/>
              <a:t>강화학습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endParaRPr lang="ko-KR" altLang="en-US"/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rPr lang="en-US" altLang="ko-KR"/>
              <a:t>AI </a:t>
            </a:r>
            <a:r>
              <a:rPr lang="ko-KR" altLang="en-US"/>
              <a:t>모델 경량화</a:t>
            </a:r>
            <a:r>
              <a:rPr lang="en-US" altLang="ko-KR"/>
              <a:t>,  </a:t>
            </a:r>
            <a:r>
              <a:rPr lang="ko-KR" altLang="en-US"/>
              <a:t>멀티모달 데이터</a:t>
            </a:r>
            <a:r>
              <a:rPr lang="en-US" altLang="ko-KR"/>
              <a:t>,  </a:t>
            </a:r>
            <a:r>
              <a:rPr lang="ko-KR" altLang="en-US"/>
              <a:t>인간</a:t>
            </a:r>
            <a:r>
              <a:rPr lang="en-US" altLang="ko-KR"/>
              <a:t>-</a:t>
            </a:r>
            <a:r>
              <a:rPr lang="ko-KR" altLang="en-US"/>
              <a:t>로봇 협업</a:t>
            </a:r>
            <a:r>
              <a:rPr lang="en-US" altLang="ko-KR"/>
              <a:t>(HRI) </a:t>
            </a:r>
            <a:r>
              <a:rPr lang="ko-KR" altLang="en-US"/>
              <a:t>담당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endParaRPr lang="ko-KR" altLang="en-US"/>
          </a:p>
          <a:p>
            <a:pPr>
              <a:spcAft>
                <a:spcPts val="6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rPr lang="ko-KR" altLang="en-US"/>
              <a:t>두산이 먼저 찾아온 것</a:t>
            </a:r>
          </a:p>
        </p:txBody>
      </p:sp>
      <p:pic>
        <p:nvPicPr>
          <p:cNvPr id="2050" name="Picture 2" descr="로봇산업 뜬다는데 두산로보틱스 왜 적자행진? &lt; 재무 돋보기 &lt; 기사본문 - 비즈체크">
            <a:extLst>
              <a:ext uri="{FF2B5EF4-FFF2-40B4-BE49-F238E27FC236}">
                <a16:creationId xmlns:a16="http://schemas.microsoft.com/office/drawing/2014/main" id="{767D9819-DE1F-63D4-9C3D-167FF9751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098" y="4068050"/>
            <a:ext cx="3166262" cy="20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두산 - 나무위키">
            <a:extLst>
              <a:ext uri="{FF2B5EF4-FFF2-40B4-BE49-F238E27FC236}">
                <a16:creationId xmlns:a16="http://schemas.microsoft.com/office/drawing/2014/main" id="{548629D5-80FE-DBB0-9091-A2F40D5EC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510" y="2949828"/>
            <a:ext cx="3244850" cy="583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01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F778-DCAD-7574-9DBB-AFFE435F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F2AE976-E293-ED8D-7D68-D7D456B85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9F99598-73D4-54D8-0A3C-7B9B6B21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현재 진행중인 과제 </a:t>
            </a:r>
            <a:r>
              <a:rPr lang="en-US" altLang="ko-KR" dirty="0"/>
              <a:t>- </a:t>
            </a:r>
            <a:r>
              <a:rPr lang="ko-KR" altLang="en-US" dirty="0"/>
              <a:t>국제공동</a:t>
            </a:r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AF428398-27B9-FD42-1A73-F58095F90FB9}"/>
              </a:ext>
            </a:extLst>
          </p:cNvPr>
          <p:cNvSpPr/>
          <p:nvPr/>
        </p:nvSpPr>
        <p:spPr>
          <a:xfrm>
            <a:off x="563880" y="1426210"/>
            <a:ext cx="11064240" cy="7315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0B288-F25D-FAA9-EC24-82ECCEDBB0C7}"/>
              </a:ext>
            </a:extLst>
          </p:cNvPr>
          <p:cNvSpPr txBox="1"/>
          <p:nvPr/>
        </p:nvSpPr>
        <p:spPr>
          <a:xfrm>
            <a:off x="746760" y="151765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en-US" altLang="ko-KR" dirty="0"/>
              <a:t>HEART Lab  —  Human Emotion and Intelligent Agent Research for Future Transformation</a:t>
            </a:r>
          </a:p>
          <a:p>
            <a:pPr algn="ctr"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ko-KR" altLang="en-US" dirty="0" err="1">
                <a:solidFill>
                  <a:srgbClr val="FF0000"/>
                </a:solidFill>
              </a:rPr>
              <a:t>하트랩</a:t>
            </a:r>
            <a:r>
              <a:rPr lang="ko-KR" altLang="en-US" dirty="0">
                <a:solidFill>
                  <a:srgbClr val="FF0000"/>
                </a:solidFill>
              </a:rPr>
              <a:t> 연구 분야 추가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B3A7CEBA-1B52-203E-DBA2-11074A039615}"/>
              </a:ext>
            </a:extLst>
          </p:cNvPr>
          <p:cNvSpPr/>
          <p:nvPr/>
        </p:nvSpPr>
        <p:spPr>
          <a:xfrm>
            <a:off x="563880" y="2432049"/>
            <a:ext cx="11064240" cy="387794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AEB81-0227-366E-049A-7A8893B12564}"/>
              </a:ext>
            </a:extLst>
          </p:cNvPr>
          <p:cNvSpPr txBox="1"/>
          <p:nvPr/>
        </p:nvSpPr>
        <p:spPr>
          <a:xfrm>
            <a:off x="929640" y="261493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Noto Sans KR"/>
              </a:defRPr>
            </a:pPr>
            <a:r>
              <a:rPr lang="ko-KR" altLang="en-US"/>
              <a:t>국제공동 과제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308C6-54E5-42C6-31AC-AF02C23B95F4}"/>
              </a:ext>
            </a:extLst>
          </p:cNvPr>
          <p:cNvSpPr txBox="1"/>
          <p:nvPr/>
        </p:nvSpPr>
        <p:spPr>
          <a:xfrm>
            <a:off x="929640" y="316357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BDDFF"/>
                </a:solidFill>
                <a:latin typeface="Noto Sans KR"/>
              </a:defRPr>
            </a:pPr>
            <a:r>
              <a:rPr lang="ko-KR" altLang="en-US" dirty="0"/>
              <a:t>관련 내용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532426-782C-AE98-4A2E-71172D2844D5}"/>
              </a:ext>
            </a:extLst>
          </p:cNvPr>
          <p:cNvSpPr txBox="1"/>
          <p:nvPr/>
        </p:nvSpPr>
        <p:spPr>
          <a:xfrm>
            <a:off x="929640" y="3895089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rPr lang="ko-KR" altLang="en-US" dirty="0"/>
              <a:t>관련 내용</a:t>
            </a:r>
          </a:p>
        </p:txBody>
      </p:sp>
    </p:spTree>
    <p:extLst>
      <p:ext uri="{BB962C8B-B14F-4D97-AF65-F5344CB8AC3E}">
        <p14:creationId xmlns:p14="http://schemas.microsoft.com/office/powerpoint/2010/main" val="1050575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35AA-3461-C8BB-D7EA-76D70AE8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3D0E71E-6069-0631-16F0-C20FC2FF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69A6768-4576-D991-3060-80259E31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이런 과제들을 할수 있는 이유 </a:t>
            </a:r>
            <a:r>
              <a:rPr lang="en-US" altLang="ko-KR"/>
              <a:t>– Top-Down</a:t>
            </a:r>
            <a:endParaRPr lang="ko-KR" altLang="en-US" dirty="0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D03ED59B-9667-5D20-B506-DBC374F63909}"/>
              </a:ext>
            </a:extLst>
          </p:cNvPr>
          <p:cNvSpPr/>
          <p:nvPr/>
        </p:nvSpPr>
        <p:spPr>
          <a:xfrm>
            <a:off x="612140" y="1477010"/>
            <a:ext cx="5303520" cy="256032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DE1AA-9811-E72A-D611-1930440F149C}"/>
              </a:ext>
            </a:extLst>
          </p:cNvPr>
          <p:cNvSpPr txBox="1"/>
          <p:nvPr/>
        </p:nvSpPr>
        <p:spPr>
          <a:xfrm>
            <a:off x="3036570" y="167322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First Principles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FE153-60FB-B357-87F7-3A1C4F41F9AF}"/>
              </a:ext>
            </a:extLst>
          </p:cNvPr>
          <p:cNvSpPr txBox="1"/>
          <p:nvPr/>
        </p:nvSpPr>
        <p:spPr>
          <a:xfrm>
            <a:off x="3036570" y="203898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Thinking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38C2AC-E3D5-6A16-27B2-D8482C8A8E1E}"/>
              </a:ext>
            </a:extLst>
          </p:cNvPr>
          <p:cNvSpPr txBox="1"/>
          <p:nvPr/>
        </p:nvSpPr>
        <p:spPr>
          <a:xfrm>
            <a:off x="3036570" y="249618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Noto Sans KR"/>
              </a:defRPr>
            </a:pPr>
            <a:r>
              <a:t>— Elon Musk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8B77C-FD5C-FD3A-8E70-4B5D81762970}"/>
              </a:ext>
            </a:extLst>
          </p:cNvPr>
          <p:cNvSpPr txBox="1"/>
          <p:nvPr/>
        </p:nvSpPr>
        <p:spPr>
          <a:xfrm>
            <a:off x="842010" y="312293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"로켓이 왜 비싸지?"  →  원자재 = 2%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Noto Sans KR"/>
              </a:defRPr>
            </a:pPr>
            <a:r>
              <a:t>→  SpaceX 10배 절감</a:t>
            </a:r>
          </a:p>
        </p:txBody>
      </p:sp>
      <p:sp>
        <p:nvSpPr>
          <p:cNvPr id="12" name="Rounded Rectangle 13">
            <a:extLst>
              <a:ext uri="{FF2B5EF4-FFF2-40B4-BE49-F238E27FC236}">
                <a16:creationId xmlns:a16="http://schemas.microsoft.com/office/drawing/2014/main" id="{4661DF15-54A1-78F8-21CC-5BDAE1DA5AA1}"/>
              </a:ext>
            </a:extLst>
          </p:cNvPr>
          <p:cNvSpPr/>
          <p:nvPr/>
        </p:nvSpPr>
        <p:spPr>
          <a:xfrm>
            <a:off x="6281420" y="1477010"/>
            <a:ext cx="5394960" cy="2560320"/>
          </a:xfrm>
          <a:prstGeom prst="round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1B5FC6-F3CF-A2FB-FA3F-A473E863BE4F}"/>
              </a:ext>
            </a:extLst>
          </p:cNvPr>
          <p:cNvSpPr txBox="1"/>
          <p:nvPr/>
        </p:nvSpPr>
        <p:spPr>
          <a:xfrm>
            <a:off x="6555740" y="2457410"/>
            <a:ext cx="48463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기존 DMS = 졸음 감지, 주시 이탈</a:t>
            </a:r>
          </a:p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r>
              <a:t>→ 업계가 다 이렇게 함</a:t>
            </a:r>
          </a:p>
          <a:p>
            <a:pPr>
              <a:spcAft>
                <a:spcPts val="500"/>
              </a:spcAft>
              <a:defRPr sz="1600" b="0">
                <a:solidFill>
                  <a:srgbClr val="013B94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t>"잠깐, 왜 졸음만 보지?</a:t>
            </a:r>
            <a:r>
              <a:rPr lang="en-US"/>
              <a:t> </a:t>
            </a:r>
          </a:p>
          <a:p>
            <a:pPr>
              <a:spcAft>
                <a:spcPts val="500"/>
              </a:spcAft>
              <a:defRPr sz="1600" b="1">
                <a:solidFill>
                  <a:srgbClr val="013B94"/>
                </a:solidFill>
                <a:latin typeface="Noto Sans KR"/>
              </a:defRPr>
            </a:pPr>
            <a:r>
              <a:rPr lang="ko-KR" altLang="en-US"/>
              <a:t>근본적인 원인 해결 방안은</a:t>
            </a:r>
            <a:r>
              <a:rPr lang="en-US" altLang="ko-KR"/>
              <a:t>?”</a:t>
            </a:r>
            <a:endParaRPr lang="en-US"/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91B93C01-7BC8-5181-29FE-10F5446F3319}"/>
              </a:ext>
            </a:extLst>
          </p:cNvPr>
          <p:cNvSpPr/>
          <p:nvPr/>
        </p:nvSpPr>
        <p:spPr>
          <a:xfrm>
            <a:off x="612140" y="4311650"/>
            <a:ext cx="11064240" cy="201168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BEC6A4-221D-F010-7C6D-3AE35274DCA4}"/>
              </a:ext>
            </a:extLst>
          </p:cNvPr>
          <p:cNvSpPr txBox="1"/>
          <p:nvPr/>
        </p:nvSpPr>
        <p:spPr>
          <a:xfrm>
            <a:off x="886460" y="440309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근본으로 돌아감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BBEA4E-1455-BC9B-90B0-DF628CF36643}"/>
              </a:ext>
            </a:extLst>
          </p:cNvPr>
          <p:cNvSpPr txBox="1"/>
          <p:nvPr/>
        </p:nvSpPr>
        <p:spPr>
          <a:xfrm>
            <a:off x="886460" y="4951730"/>
            <a:ext cx="10058400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r>
              <a:t>운전 위험의 근본 원인  =  감정 변화가 누적되는 과정</a:t>
            </a:r>
          </a:p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Noto Sans KR"/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Frustration(좌절) 기반으로 문제를 재정의</a:t>
            </a:r>
          </a:p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KR"/>
              </a:defRPr>
            </a:pPr>
            <a:r>
              <a:t>→  기존에 아무도 안 하던 접근  →  현대차</a:t>
            </a:r>
            <a:r>
              <a:rPr lang="ko-KR" altLang="en-US"/>
              <a:t>와 협업 이유</a:t>
            </a:r>
            <a:endParaRPr/>
          </a:p>
        </p:txBody>
      </p:sp>
      <p:pic>
        <p:nvPicPr>
          <p:cNvPr id="3078" name="Picture 6" descr="일론 머스크, 트위터 인수 투자자 기망 혐의 패소…수십억 달러 배상 가능성">
            <a:extLst>
              <a:ext uri="{FF2B5EF4-FFF2-40B4-BE49-F238E27FC236}">
                <a16:creationId xmlns:a16="http://schemas.microsoft.com/office/drawing/2014/main" id="{1770B7AD-81DB-F08C-C44C-50E6F2CF2C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4"/>
          <a:stretch>
            <a:fillRect/>
          </a:stretch>
        </p:blipFill>
        <p:spPr bwMode="auto">
          <a:xfrm>
            <a:off x="789940" y="1568450"/>
            <a:ext cx="1943402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789DF206-D9E2-0C17-7988-0251B48FEE16}"/>
              </a:ext>
            </a:extLst>
          </p:cNvPr>
          <p:cNvGrpSpPr/>
          <p:nvPr/>
        </p:nvGrpSpPr>
        <p:grpSpPr>
          <a:xfrm>
            <a:off x="6473190" y="1560560"/>
            <a:ext cx="2682240" cy="837644"/>
            <a:chOff x="6625590" y="1549710"/>
            <a:chExt cx="3704220" cy="87022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57C58F8-8CE0-CF88-922A-0C48A799B40A}"/>
                </a:ext>
              </a:extLst>
            </p:cNvPr>
            <p:cNvGrpSpPr/>
            <p:nvPr/>
          </p:nvGrpSpPr>
          <p:grpSpPr>
            <a:xfrm>
              <a:off x="6625590" y="1549710"/>
              <a:ext cx="3704220" cy="870220"/>
              <a:chOff x="6555740" y="1563993"/>
              <a:chExt cx="3704220" cy="870220"/>
            </a:xfrm>
          </p:grpSpPr>
          <p:pic>
            <p:nvPicPr>
              <p:cNvPr id="6" name="그림 5" descr="텍스트, 폰트, 스크린샷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815DCC62-41C4-FA4E-3F27-1BBE95DBD9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55740" y="1568450"/>
                <a:ext cx="3058977" cy="865763"/>
              </a:xfrm>
              <a:prstGeom prst="rect">
                <a:avLst/>
              </a:prstGeom>
            </p:spPr>
          </p:pic>
          <p:pic>
            <p:nvPicPr>
              <p:cNvPr id="18" name="그림 17" descr="일렉트릭 블루, 코발트 블루, 블루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6E04E33E-BDDF-1E46-62B4-4C5CA2F806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41668" y="1563993"/>
                <a:ext cx="918292" cy="865763"/>
              </a:xfrm>
              <a:prstGeom prst="rect">
                <a:avLst/>
              </a:prstGeom>
            </p:spPr>
          </p:pic>
        </p:grpSp>
        <p:pic>
          <p:nvPicPr>
            <p:cNvPr id="21" name="그림 20" descr="화이트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23C3062-1599-0AC0-6C0D-26891983C1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8328780" y="1655792"/>
              <a:ext cx="236918" cy="263994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F61859F-A244-A029-EB1A-D7D97A2B3996}"/>
              </a:ext>
            </a:extLst>
          </p:cNvPr>
          <p:cNvSpPr txBox="1"/>
          <p:nvPr/>
        </p:nvSpPr>
        <p:spPr>
          <a:xfrm>
            <a:off x="9333908" y="156246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rPr lang="en-US"/>
              <a:t>Top Down</a:t>
            </a: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C60A2D-2A5F-F0B7-56AD-5C08F0BDE267}"/>
              </a:ext>
            </a:extLst>
          </p:cNvPr>
          <p:cNvSpPr txBox="1"/>
          <p:nvPr/>
        </p:nvSpPr>
        <p:spPr>
          <a:xfrm>
            <a:off x="9392920" y="192210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t>Thinking</a:t>
            </a:r>
          </a:p>
        </p:txBody>
      </p:sp>
    </p:spTree>
    <p:extLst>
      <p:ext uri="{BB962C8B-B14F-4D97-AF65-F5344CB8AC3E}">
        <p14:creationId xmlns:p14="http://schemas.microsoft.com/office/powerpoint/2010/main" val="837898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2A00-E6EB-F69B-707A-D5F49F88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9F63E91-DE6D-FC76-C1C4-BCAD5F2F5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DAB77A00-9A7F-A167-15F7-13D215D5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HEART Lab - </a:t>
            </a:r>
            <a:r>
              <a:rPr lang="ko-KR" altLang="en-US"/>
              <a:t>커리큘럼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E52743-DFEF-D95B-854C-9F2D18C037C9}"/>
              </a:ext>
            </a:extLst>
          </p:cNvPr>
          <p:cNvSpPr txBox="1"/>
          <p:nvPr/>
        </p:nvSpPr>
        <p:spPr>
          <a:xfrm>
            <a:off x="420950" y="123317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Noto Sans KR"/>
              </a:defRPr>
            </a:pPr>
            <a:r>
              <a:t>카카오 AI 부트캠프, 비트캠프 경험  +  교수님과 함께 교육 커리큘럼 개선</a:t>
            </a:r>
          </a:p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Noto Sans KR"/>
              </a:defRPr>
            </a:pPr>
            <a:r>
              <a:t>목표:  문제를 던지면 해결할 수 있는 AI 개발자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858354D0-7D63-069A-6451-221B320A6178}"/>
              </a:ext>
            </a:extLst>
          </p:cNvPr>
          <p:cNvSpPr/>
          <p:nvPr/>
        </p:nvSpPr>
        <p:spPr>
          <a:xfrm>
            <a:off x="420950" y="2239010"/>
            <a:ext cx="3566160" cy="347472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FA046C-C225-15F5-053A-5C641D634191}"/>
              </a:ext>
            </a:extLst>
          </p:cNvPr>
          <p:cNvSpPr txBox="1"/>
          <p:nvPr/>
        </p:nvSpPr>
        <p:spPr>
          <a:xfrm>
            <a:off x="420950" y="233045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1단계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94BBE-CEF2-13BF-CC46-27CA2FD90CBF}"/>
              </a:ext>
            </a:extLst>
          </p:cNvPr>
          <p:cNvSpPr txBox="1"/>
          <p:nvPr/>
        </p:nvSpPr>
        <p:spPr>
          <a:xfrm>
            <a:off x="420950" y="269621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문제 해결 사고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FC382-0518-B428-A0D3-005694EF93EF}"/>
              </a:ext>
            </a:extLst>
          </p:cNvPr>
          <p:cNvSpPr txBox="1"/>
          <p:nvPr/>
        </p:nvSpPr>
        <p:spPr>
          <a:xfrm>
            <a:off x="695270" y="333629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"이 문제 어떻게 풀래?"</a:t>
            </a:r>
            <a:br/>
            <a:br/>
            <a:r>
              <a:t>바로 떠오를 때까지</a:t>
            </a:r>
            <a:br/>
            <a:r>
              <a:t>반복 훈련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762909D5-9D0B-4954-445E-C69BB21154F8}"/>
              </a:ext>
            </a:extLst>
          </p:cNvPr>
          <p:cNvSpPr/>
          <p:nvPr/>
        </p:nvSpPr>
        <p:spPr>
          <a:xfrm>
            <a:off x="4261430" y="2239010"/>
            <a:ext cx="3566160" cy="3474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70E01C-9152-241D-5757-358BA489FE7E}"/>
              </a:ext>
            </a:extLst>
          </p:cNvPr>
          <p:cNvSpPr txBox="1"/>
          <p:nvPr/>
        </p:nvSpPr>
        <p:spPr>
          <a:xfrm>
            <a:off x="4261430" y="233045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2단계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8BCE4A-D9A5-214B-C602-30622A7E8175}"/>
              </a:ext>
            </a:extLst>
          </p:cNvPr>
          <p:cNvSpPr txBox="1"/>
          <p:nvPr/>
        </p:nvSpPr>
        <p:spPr>
          <a:xfrm>
            <a:off x="4261430" y="269621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모델을 도구로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259374-AF4D-BB1B-CE0E-81F5F9B8D50A}"/>
              </a:ext>
            </a:extLst>
          </p:cNvPr>
          <p:cNvSpPr txBox="1"/>
          <p:nvPr/>
        </p:nvSpPr>
        <p:spPr>
          <a:xfrm>
            <a:off x="4535750" y="333629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"YOLO 써봤습니다" X</a:t>
            </a:r>
            <a:br/>
            <a:br/>
            <a:r>
              <a:t>"이 문제에 왜 YOLO인지"</a:t>
            </a:r>
            <a:br/>
            <a:r>
              <a:t>설명할 수 있는 것</a:t>
            </a: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FF747F3A-BE18-08FB-74A7-EAB2E5E2E4C7}"/>
              </a:ext>
            </a:extLst>
          </p:cNvPr>
          <p:cNvSpPr/>
          <p:nvPr/>
        </p:nvSpPr>
        <p:spPr>
          <a:xfrm>
            <a:off x="8101910" y="2239010"/>
            <a:ext cx="3566160" cy="34747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E873D6-3391-E69A-6F41-749689B32DAA}"/>
              </a:ext>
            </a:extLst>
          </p:cNvPr>
          <p:cNvSpPr txBox="1"/>
          <p:nvPr/>
        </p:nvSpPr>
        <p:spPr>
          <a:xfrm>
            <a:off x="8101910" y="233045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DDFF"/>
                </a:solidFill>
                <a:latin typeface="Noto Sans KR"/>
              </a:defRPr>
            </a:pPr>
            <a:r>
              <a:t>3단계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850851-EDC8-9F6D-E777-028CCB44B6A0}"/>
              </a:ext>
            </a:extLst>
          </p:cNvPr>
          <p:cNvSpPr txBox="1"/>
          <p:nvPr/>
        </p:nvSpPr>
        <p:spPr>
          <a:xfrm>
            <a:off x="8101910" y="269621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KR"/>
              </a:defRPr>
            </a:pPr>
            <a:r>
              <a:t>서비스 구현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86778F-BB94-2B6F-7B51-F40440094911}"/>
              </a:ext>
            </a:extLst>
          </p:cNvPr>
          <p:cNvSpPr txBox="1"/>
          <p:nvPr/>
        </p:nvSpPr>
        <p:spPr>
          <a:xfrm>
            <a:off x="8376230" y="333629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t>챗봇 웹사이트</a:t>
            </a:r>
            <a:br/>
            <a:r>
              <a:t>실시간 객체 탐지</a:t>
            </a:r>
            <a:br/>
            <a:br/>
            <a:r>
              <a:t>12주면 혼자 가능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8A8611-B431-153C-9527-43A458328C3D}"/>
              </a:ext>
            </a:extLst>
          </p:cNvPr>
          <p:cNvSpPr txBox="1"/>
          <p:nvPr/>
        </p:nvSpPr>
        <p:spPr>
          <a:xfrm>
            <a:off x="420950" y="598805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Noto Sans KR"/>
              </a:defRPr>
            </a:pPr>
            <a:r>
              <a:t>부트캠프 6개월  →  12주 압축</a:t>
            </a:r>
          </a:p>
        </p:txBody>
      </p:sp>
    </p:spTree>
    <p:extLst>
      <p:ext uri="{BB962C8B-B14F-4D97-AF65-F5344CB8AC3E}">
        <p14:creationId xmlns:p14="http://schemas.microsoft.com/office/powerpoint/2010/main" val="2358852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C0E68-4EF2-AE89-E460-9BE02AB2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471292-5114-8823-BC87-31DCC8FA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C8D7CCD-0A02-F8B0-9DC6-CAA6D761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AI </a:t>
            </a:r>
            <a:r>
              <a:rPr lang="ko-KR" altLang="en-US"/>
              <a:t>취업시장 현실</a:t>
            </a:r>
            <a:endParaRPr lang="ko-KR" altLang="en-US" dirty="0"/>
          </a:p>
        </p:txBody>
      </p: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8FBEC416-A3AA-00EF-3F80-9747D1DE081E}"/>
              </a:ext>
            </a:extLst>
          </p:cNvPr>
          <p:cNvSpPr/>
          <p:nvPr/>
        </p:nvSpPr>
        <p:spPr>
          <a:xfrm>
            <a:off x="0" y="1508760"/>
            <a:ext cx="2926080" cy="4114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1CADF-2DEC-54D1-CF77-9E6FA633C86B}"/>
              </a:ext>
            </a:extLst>
          </p:cNvPr>
          <p:cNvSpPr txBox="1"/>
          <p:nvPr/>
        </p:nvSpPr>
        <p:spPr>
          <a:xfrm>
            <a:off x="-27432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  <a:latin typeface="Noto Sans KR"/>
              </a:defRPr>
            </a:pPr>
            <a:r>
              <a:rPr dirty="0" err="1"/>
              <a:t>인턴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1BB5A-477B-03B8-8A32-348A18855B5D}"/>
              </a:ext>
            </a:extLst>
          </p:cNvPr>
          <p:cNvSpPr txBox="1"/>
          <p:nvPr/>
        </p:nvSpPr>
        <p:spPr>
          <a:xfrm>
            <a:off x="274320" y="2331720"/>
            <a:ext cx="314579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endParaRPr dirty="0"/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rPr dirty="0"/>
              <a:t>3개월</a:t>
            </a:r>
            <a:r>
              <a:rPr lang="en-US" dirty="0"/>
              <a:t> </a:t>
            </a:r>
            <a:r>
              <a:rPr lang="ko-KR" altLang="en-US" dirty="0"/>
              <a:t>체험 후 선택 가능</a:t>
            </a:r>
            <a:endParaRPr lang="en-US" altLang="ko-KR" dirty="0"/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endParaRPr lang="en-US" dirty="0"/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rPr lang="ko-KR" altLang="en-US" dirty="0"/>
              <a:t>인턴 이후 정식 </a:t>
            </a:r>
            <a:r>
              <a:rPr lang="ko-KR" altLang="en-US" dirty="0" err="1"/>
              <a:t>학석사</a:t>
            </a:r>
            <a:r>
              <a:rPr lang="ko-KR" altLang="en-US" dirty="0"/>
              <a:t> 입학</a:t>
            </a:r>
            <a:endParaRPr dirty="0"/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3781D70A-F8EB-B891-BA9C-585A0C6FBF31}"/>
              </a:ext>
            </a:extLst>
          </p:cNvPr>
          <p:cNvSpPr/>
          <p:nvPr/>
        </p:nvSpPr>
        <p:spPr>
          <a:xfrm>
            <a:off x="3608926" y="1415534"/>
            <a:ext cx="2339990" cy="4114800"/>
          </a:xfrm>
          <a:prstGeom prst="roundRect">
            <a:avLst/>
          </a:prstGeom>
          <a:solidFill>
            <a:srgbClr val="013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23BDF-1762-5083-1D10-461731400145}"/>
              </a:ext>
            </a:extLst>
          </p:cNvPr>
          <p:cNvSpPr txBox="1"/>
          <p:nvPr/>
        </p:nvSpPr>
        <p:spPr>
          <a:xfrm>
            <a:off x="3883246" y="159841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학석사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D0C70-DCDB-1DC7-4B8F-A5832C9E56E8}"/>
              </a:ext>
            </a:extLst>
          </p:cNvPr>
          <p:cNvSpPr txBox="1"/>
          <p:nvPr/>
        </p:nvSpPr>
        <p:spPr>
          <a:xfrm>
            <a:off x="3883246" y="2238494"/>
            <a:ext cx="292608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endParaRPr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rPr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1년 </a:t>
            </a:r>
            <a:r>
              <a:rPr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빨리</a:t>
            </a:r>
            <a:r>
              <a:rPr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졸업</a:t>
            </a:r>
            <a:r>
              <a:rPr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가능</a:t>
            </a:r>
            <a:endParaRPr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rPr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잘하는</a:t>
            </a:r>
            <a:r>
              <a:rPr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학생에</a:t>
            </a:r>
            <a:r>
              <a:rPr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한해서</a:t>
            </a:r>
            <a:r>
              <a:rPr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endParaRPr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rPr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바로</a:t>
            </a:r>
            <a:r>
              <a:rPr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취업</a:t>
            </a:r>
            <a:r>
              <a:rPr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= </a:t>
            </a:r>
            <a:r>
              <a:rPr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신입</a:t>
            </a:r>
            <a:endParaRPr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>
              <a:spcAft>
                <a:spcPts val="400"/>
              </a:spcAft>
              <a:defRPr sz="1600" b="0">
                <a:solidFill>
                  <a:srgbClr val="FFFFFF"/>
                </a:solidFill>
                <a:latin typeface="Noto Sans KR"/>
              </a:defRPr>
            </a:pPr>
            <a:r>
              <a:rPr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학석사</a:t>
            </a:r>
            <a:r>
              <a:rPr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= </a:t>
            </a:r>
            <a:r>
              <a:rPr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주니어급</a:t>
            </a:r>
            <a:endParaRPr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F2DC42EF-9974-9B33-FD00-C57A8DD12B30}"/>
              </a:ext>
            </a:extLst>
          </p:cNvPr>
          <p:cNvSpPr/>
          <p:nvPr/>
        </p:nvSpPr>
        <p:spPr>
          <a:xfrm>
            <a:off x="6013066" y="1327666"/>
            <a:ext cx="2926080" cy="411480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4DD81-6B61-37AC-46C3-5DDC27FF19E4}"/>
              </a:ext>
            </a:extLst>
          </p:cNvPr>
          <p:cNvSpPr txBox="1"/>
          <p:nvPr/>
        </p:nvSpPr>
        <p:spPr>
          <a:xfrm>
            <a:off x="6287386" y="1510546"/>
            <a:ext cx="24759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KR"/>
              </a:defRPr>
            </a:pPr>
            <a:r>
              <a:t>석사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A1D3DA-4523-EDD8-BAB7-E2E02802165C}"/>
              </a:ext>
            </a:extLst>
          </p:cNvPr>
          <p:cNvSpPr txBox="1"/>
          <p:nvPr/>
        </p:nvSpPr>
        <p:spPr>
          <a:xfrm>
            <a:off x="6287386" y="2150626"/>
            <a:ext cx="247591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endParaRPr dirty="0"/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학부</a:t>
            </a:r>
            <a:r>
              <a:rPr dirty="0"/>
              <a:t> </a:t>
            </a:r>
            <a:r>
              <a:rPr dirty="0" err="1"/>
              <a:t>졸업</a:t>
            </a:r>
            <a:r>
              <a:rPr dirty="0"/>
              <a:t> 후 </a:t>
            </a:r>
            <a:r>
              <a:rPr dirty="0" err="1"/>
              <a:t>진학</a:t>
            </a:r>
            <a:endParaRPr dirty="0"/>
          </a:p>
          <a:p>
            <a:pPr>
              <a:spcAft>
                <a:spcPts val="400"/>
              </a:spcAft>
              <a:defRPr sz="1800" b="0">
                <a:solidFill>
                  <a:srgbClr val="FFFFFF"/>
                </a:solidFill>
                <a:latin typeface="Noto Sans KR"/>
              </a:defRPr>
            </a:pPr>
            <a:endParaRPr dirty="0"/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rPr dirty="0" err="1"/>
              <a:t>지원금</a:t>
            </a:r>
            <a:r>
              <a:rPr dirty="0"/>
              <a:t> </a:t>
            </a:r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지급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16348-2947-E9D6-2272-F47DD9BDEADA}"/>
              </a:ext>
            </a:extLst>
          </p:cNvPr>
          <p:cNvSpPr txBox="1"/>
          <p:nvPr/>
        </p:nvSpPr>
        <p:spPr>
          <a:xfrm>
            <a:off x="612139" y="5760720"/>
            <a:ext cx="5921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13B94"/>
                </a:solidFill>
                <a:latin typeface="Noto Sans KR"/>
              </a:defRPr>
            </a:pPr>
            <a:r>
              <a:rPr dirty="0" err="1"/>
              <a:t>궁금하면</a:t>
            </a:r>
            <a:r>
              <a:rPr dirty="0"/>
              <a:t>:  </a:t>
            </a:r>
            <a:r>
              <a:rPr dirty="0" err="1"/>
              <a:t>견학</a:t>
            </a:r>
            <a:r>
              <a:rPr dirty="0"/>
              <a:t> </a:t>
            </a:r>
            <a:r>
              <a:rPr dirty="0" err="1"/>
              <a:t>오세요</a:t>
            </a:r>
            <a:r>
              <a:rPr lang="en-US" dirty="0"/>
              <a:t> </a:t>
            </a:r>
            <a:r>
              <a:rPr lang="ko-KR" altLang="en-US" dirty="0"/>
              <a:t>대양</a:t>
            </a:r>
            <a:r>
              <a:rPr lang="en-US" altLang="ko-KR" dirty="0"/>
              <a:t>AI 517</a:t>
            </a:r>
            <a:r>
              <a:rPr dirty="0"/>
              <a:t>  |  </a:t>
            </a:r>
            <a:r>
              <a:rPr dirty="0" err="1"/>
              <a:t>인턴으로</a:t>
            </a:r>
            <a:r>
              <a:rPr dirty="0"/>
              <a:t> </a:t>
            </a:r>
            <a:r>
              <a:rPr dirty="0" err="1"/>
              <a:t>해보고</a:t>
            </a:r>
            <a:r>
              <a:rPr dirty="0"/>
              <a:t> </a:t>
            </a:r>
            <a:r>
              <a:rPr dirty="0" err="1"/>
              <a:t>결정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9E6CDA-7777-E95D-92E6-C81727755AE8}"/>
              </a:ext>
            </a:extLst>
          </p:cNvPr>
          <p:cNvSpPr txBox="1"/>
          <p:nvPr/>
        </p:nvSpPr>
        <p:spPr>
          <a:xfrm>
            <a:off x="690290" y="5161002"/>
            <a:ext cx="6119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rPr lang="ko-KR" altLang="en-US" sz="1800" dirty="0"/>
              <a:t>월 </a:t>
            </a:r>
            <a:r>
              <a:rPr lang="en-US" altLang="ko-KR" sz="1800" dirty="0"/>
              <a:t>20</a:t>
            </a:r>
            <a:r>
              <a:rPr lang="ko-KR" altLang="en-US" sz="1800" dirty="0"/>
              <a:t>만원 </a:t>
            </a:r>
            <a:r>
              <a:rPr lang="en-US" altLang="ko-KR" sz="1800" dirty="0"/>
              <a:t>+ a</a:t>
            </a:r>
            <a:endParaRPr lang="ko-KR" alt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F14671-CD48-D160-F7A0-06B4D5675E21}"/>
              </a:ext>
            </a:extLst>
          </p:cNvPr>
          <p:cNvSpPr txBox="1"/>
          <p:nvPr/>
        </p:nvSpPr>
        <p:spPr>
          <a:xfrm>
            <a:off x="3989866" y="4797861"/>
            <a:ext cx="6257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Noto Sans KR"/>
              </a:defRPr>
            </a:pPr>
            <a:r>
              <a:rPr lang="ko-KR" altLang="en-US" sz="1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월 </a:t>
            </a:r>
            <a:r>
              <a:rPr lang="en-US" altLang="ko-KR" sz="1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130</a:t>
            </a:r>
            <a:r>
              <a:rPr lang="ko-KR" altLang="en-US" sz="18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만원</a:t>
            </a:r>
            <a:r>
              <a:rPr lang="en-US" altLang="ko-KR" sz="1800" dirty="0"/>
              <a:t> + a</a:t>
            </a:r>
            <a:endParaRPr lang="ko-KR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4D0A0-2D8E-866E-6C41-EA225C77ED14}"/>
              </a:ext>
            </a:extLst>
          </p:cNvPr>
          <p:cNvSpPr txBox="1"/>
          <p:nvPr/>
        </p:nvSpPr>
        <p:spPr>
          <a:xfrm>
            <a:off x="6716586" y="4681738"/>
            <a:ext cx="5134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  <a:latin typeface="Noto Sans KR"/>
              </a:defRPr>
            </a:pPr>
            <a:r>
              <a:rPr lang="ko-KR" altLang="en-US" sz="1800" dirty="0"/>
              <a:t>월 </a:t>
            </a:r>
            <a:r>
              <a:rPr lang="en-US" altLang="ko-KR" sz="1800" dirty="0"/>
              <a:t>230</a:t>
            </a:r>
            <a:r>
              <a:rPr lang="ko-KR" altLang="en-US" sz="1800" dirty="0"/>
              <a:t>만원 </a:t>
            </a:r>
            <a:r>
              <a:rPr lang="en-US" altLang="ko-KR" sz="1800" dirty="0"/>
              <a:t>+ a</a:t>
            </a:r>
            <a:endParaRPr lang="ko-KR" altLang="en-US" sz="1800" dirty="0"/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C38DC9BC-5AAD-B861-9204-117A7B8BD393}"/>
              </a:ext>
            </a:extLst>
          </p:cNvPr>
          <p:cNvSpPr/>
          <p:nvPr/>
        </p:nvSpPr>
        <p:spPr>
          <a:xfrm>
            <a:off x="8878953" y="1461254"/>
            <a:ext cx="2926080" cy="41148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13A9A4-225C-5B8D-A406-B12C7B3E3AED}"/>
              </a:ext>
            </a:extLst>
          </p:cNvPr>
          <p:cNvSpPr txBox="1"/>
          <p:nvPr/>
        </p:nvSpPr>
        <p:spPr>
          <a:xfrm>
            <a:off x="9213466" y="1737360"/>
            <a:ext cx="2926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  <a:latin typeface="Noto Sans KR"/>
              </a:defRPr>
            </a:pPr>
            <a:r>
              <a:rPr lang="ko-KR" altLang="en-US" dirty="0"/>
              <a:t>박사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118804-54DA-C6A2-1F8C-DAC43BACCAB7}"/>
              </a:ext>
            </a:extLst>
          </p:cNvPr>
          <p:cNvSpPr txBox="1"/>
          <p:nvPr/>
        </p:nvSpPr>
        <p:spPr>
          <a:xfrm>
            <a:off x="9490976" y="2363391"/>
            <a:ext cx="314579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endParaRPr dirty="0"/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rPr dirty="0"/>
              <a:t>3개월</a:t>
            </a:r>
            <a:r>
              <a:rPr lang="en-US" dirty="0"/>
              <a:t> </a:t>
            </a:r>
            <a:r>
              <a:rPr lang="ko-KR" altLang="en-US" dirty="0"/>
              <a:t>체험 후 선택 가능</a:t>
            </a:r>
            <a:endParaRPr lang="en-US" altLang="ko-KR" dirty="0"/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endParaRPr lang="en-US" dirty="0"/>
          </a:p>
          <a:p>
            <a:pPr>
              <a:spcAft>
                <a:spcPts val="400"/>
              </a:spcAft>
              <a:defRPr sz="1800" b="0">
                <a:solidFill>
                  <a:srgbClr val="333333"/>
                </a:solidFill>
                <a:latin typeface="Noto Sans KR"/>
              </a:defRPr>
            </a:pPr>
            <a:r>
              <a:rPr lang="ko-KR" altLang="en-US" dirty="0"/>
              <a:t>인턴 이후 정식 </a:t>
            </a:r>
            <a:r>
              <a:rPr lang="ko-KR" altLang="en-US" dirty="0" err="1"/>
              <a:t>학석사</a:t>
            </a:r>
            <a:r>
              <a:rPr lang="ko-KR" altLang="en-US" dirty="0"/>
              <a:t> 입학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F01199-D241-C602-8C36-FC6F995D3E00}"/>
              </a:ext>
            </a:extLst>
          </p:cNvPr>
          <p:cNvSpPr txBox="1"/>
          <p:nvPr/>
        </p:nvSpPr>
        <p:spPr>
          <a:xfrm>
            <a:off x="9762106" y="4955482"/>
            <a:ext cx="6119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Noto Sans KR"/>
              </a:defRPr>
            </a:pPr>
            <a:r>
              <a:rPr lang="ko-KR" altLang="en-US" sz="1800" dirty="0"/>
              <a:t>월 </a:t>
            </a:r>
            <a:r>
              <a:rPr lang="en-US" altLang="ko-KR" sz="1800" dirty="0"/>
              <a:t>320</a:t>
            </a:r>
            <a:r>
              <a:rPr lang="ko-KR" altLang="en-US" sz="1800" dirty="0"/>
              <a:t>만원 </a:t>
            </a:r>
          </a:p>
        </p:txBody>
      </p:sp>
    </p:spTree>
    <p:extLst>
      <p:ext uri="{BB962C8B-B14F-4D97-AF65-F5344CB8AC3E}">
        <p14:creationId xmlns:p14="http://schemas.microsoft.com/office/powerpoint/2010/main" val="1205917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30576A7-81F2-7E56-5991-23771CC8C6C0}"/>
              </a:ext>
            </a:extLst>
          </p:cNvPr>
          <p:cNvSpPr>
            <a:spLocks/>
          </p:cNvSpPr>
          <p:nvPr/>
        </p:nvSpPr>
        <p:spPr>
          <a:xfrm>
            <a:off x="2" y="1"/>
            <a:ext cx="12191998" cy="6857999"/>
          </a:xfrm>
          <a:prstGeom prst="rect">
            <a:avLst/>
          </a:prstGeom>
          <a:solidFill>
            <a:srgbClr val="86B7F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AC4B49-27D9-94E8-C262-384D6529C871}"/>
              </a:ext>
            </a:extLst>
          </p:cNvPr>
          <p:cNvSpPr txBox="1"/>
          <p:nvPr/>
        </p:nvSpPr>
        <p:spPr>
          <a:xfrm>
            <a:off x="4232349" y="2921168"/>
            <a:ext cx="37273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</a:p>
        </p:txBody>
      </p:sp>
      <p:pic>
        <p:nvPicPr>
          <p:cNvPr id="9" name="그림 8" descr="클립아트, 아동 미술, 만화 영화, 창의성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3E1CD5-2157-DF70-19CA-ED03116DFF7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0">
            <a:off x="7590194" y="2216056"/>
            <a:ext cx="741684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39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7516</TotalTime>
  <Words>770</Words>
  <Application>Microsoft Office PowerPoint</Application>
  <PresentationFormat>와이드스크린</PresentationFormat>
  <Paragraphs>159</Paragraphs>
  <Slides>13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Microsoft JhengHei UI</vt:lpstr>
      <vt:lpstr>Noto Sans KR</vt:lpstr>
      <vt:lpstr>맑은 고딕</vt:lpstr>
      <vt:lpstr>Arial</vt:lpstr>
      <vt:lpstr>Office 테마</vt:lpstr>
      <vt:lpstr>PowerPoint 프레젠테이션</vt:lpstr>
      <vt:lpstr>인공지능 취업, 크게 두 가지</vt:lpstr>
      <vt:lpstr>AI 취업시장 현실</vt:lpstr>
      <vt:lpstr>왜 신입을 안 뽑는가?</vt:lpstr>
      <vt:lpstr>바로 투입 = 문제 해결 능력</vt:lpstr>
      <vt:lpstr>세계는 지금 어디로 가고 있냐</vt:lpstr>
      <vt:lpstr>현재 진행중인 과제 – 현대자동차</vt:lpstr>
      <vt:lpstr>현재 진행중인 과제 - 두산</vt:lpstr>
      <vt:lpstr>현재 진행중인 과제 - 국제공동</vt:lpstr>
      <vt:lpstr>이런 과제들을 할수 있는 이유 – Top-Down</vt:lpstr>
      <vt:lpstr>HEART Lab - 커리큘럼</vt:lpstr>
      <vt:lpstr>AI 취업시장 현실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Ahnjunyoung</cp:lastModifiedBy>
  <cp:revision>1021</cp:revision>
  <dcterms:created xsi:type="dcterms:W3CDTF">2025-07-29T08:28:03Z</dcterms:created>
  <dcterms:modified xsi:type="dcterms:W3CDTF">2026-03-22T08:26:33Z</dcterms:modified>
</cp:coreProperties>
</file>